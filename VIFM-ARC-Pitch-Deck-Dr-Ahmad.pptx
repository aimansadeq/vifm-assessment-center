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0"/>
            <a:ext cx="2011680" cy="1645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7432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640080"/>
            <a:ext cx="274320" cy="274320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PITCH BRIEFING . FOR DR. AHMAD ]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Compass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0040" y="32461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instrument that tells the agency where they actually stand on AI -- before they invest in tools.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4160520"/>
            <a:ext cx="320040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caliber.viftraining.com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INSTRUMENT ]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" y="256032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700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. GCC-calibrated . consultant-led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320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makes ARC different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49040" y="960120"/>
            <a:ext cx="54864" cy="4114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9144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Eight organisational pillars + sixteen UAE and Saudi regulatory frameworks pre-mapped.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54864" cy="4114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3632" y="17830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personal AI-readiness factors that measure individual behaviour, not opinion.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2697480"/>
            <a:ext cx="54864" cy="4114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3632" y="26517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EN and AR end-to-end with proper RTL shaping in every screen and report page.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3566160"/>
            <a:ext cx="54864" cy="4114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13632" y="35204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Four-tier engagement model -- the first two tiers complimentary by design.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47731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MODEL 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axes . one engagement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2004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4160520" cy="3063240"/>
          </a:xfrm>
          <a:prstGeom prst="roundRect">
            <a:avLst>
              <a:gd name="adj" fmla="val 2985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160520" cy="914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EIGHT ORGANISATIONAL PILLARS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the institution has built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146304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Strategy, Data, Technology, Talent, Culture, Governance, Operations, Model Management. Scored 1-5 by multiple stakeholders. Department covers 4 of 8; Division 6 of 8; Enterprise all 8.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160520" cy="3063240"/>
          </a:xfrm>
          <a:prstGeom prst="roundRect">
            <a:avLst>
              <a:gd name="adj" fmla="val 2985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34440"/>
            <a:ext cx="4160520" cy="914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435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PERSONAL FACTORS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its people behave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37760" y="2240280"/>
            <a:ext cx="146304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7744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Sense-Check, AI Working Practice, AI Collaboration, AI Adaptive Mindset. Mapped to VIFM AC behavioural competencies. Measures behaviour, not opinion.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44348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government agency's realised readiness is the intersection of both.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EIGHT ORGANISATIONAL PILLARS 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2560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the institution has built across the AI surface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2121408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69848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69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069848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527048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strategy with named owners and milestones.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87168" y="868680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868680"/>
            <a:ext cx="2121408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4328" y="1069848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1069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35808" y="1069848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24328" y="1527048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Accessible, classified, trustworthy data for AI.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0016" y="868680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868680"/>
            <a:ext cx="2121408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37176" y="1069848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1069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1069848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37176" y="1527048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Platforms and infrastructure to deploy at scale.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12864" y="868680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12864" y="868680"/>
            <a:ext cx="2121408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50024" y="1069848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0024" y="1069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61504" y="1069848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50024" y="1527048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skills present, growing, and retained.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2724912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724912"/>
            <a:ext cx="2121408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2926080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292608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Culture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3383280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Willingness to experiment, accept failure, learn.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487168" y="2724912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87168" y="2724912"/>
            <a:ext cx="2121408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4328" y="2926080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24328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035808" y="292608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24328" y="3383280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Ethics, risk, and policy structures in place.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0016" y="2724912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0016" y="2724912"/>
            <a:ext cx="2121408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37176" y="2926080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37176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48656" y="292608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37176" y="3383280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moves from pilot to production with value.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912864" y="2724912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12864" y="2724912"/>
            <a:ext cx="2121408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50024" y="2926080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0024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461504" y="292608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mgmt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050024" y="3383280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Monitored, retrained, decommissioned on lifecycle.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74320" y="43708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 covers 4 of 8 . Division 6 of 8 . Enterprise all 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FOUR PERSONAL FACTORS 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its people behave with AI day to day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2004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91440" cy="1600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Sense-Check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Treats AI output as a draft to be checked. Catches fabricated citations and confidently-wrong facts before they leave the room.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91440" cy="1600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80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15544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Working Practice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Builds AI into the work that already exists -- writes clear prompts, folds the tool into recurring tasks, measures by deliverables not by tool-opens.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91440" cy="1600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63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241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Collaboration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Helps the team move with AI rather than around it. Explains what tools can and can't do, shares prompts that worked, pushes back when output is taken at face value.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91440" cy="1600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063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33375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Adaptive Mindset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3480" y="37947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Stays open as AI changes how the work gets done. Relearns familiar workflows, asks where models can fail, keeps confidentiality and policy in view.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4348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Self-reported behaviour . 24 items snapshot / 48 items deep-dive . scored 1-5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DIFFERENTIATOR 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workforce-readiness layer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508760"/>
          </a:xfrm>
          <a:prstGeom prst="roundRect">
            <a:avLst>
              <a:gd name="adj" fmla="val 6061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91440" cy="1508760"/>
          </a:xfrm>
          <a:prstGeom prst="rect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600200" y="12801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Pillars measure what the organisation has built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7830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Strategy, Data, Technology, Governance -- the structural side. Most readiness diagnostics stop here.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8595360" cy="1508760"/>
          </a:xfrm>
          <a:prstGeom prst="roundRect">
            <a:avLst>
              <a:gd name="adj" fmla="val 6061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88920"/>
            <a:ext cx="91440" cy="1508760"/>
          </a:xfrm>
          <a:prstGeom prst="rect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600200" y="2971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Factors measure how its people behave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4747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FF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the workforce layer to any Department, Division, or Enterprise engagement -- the report measures adoption alongside capability, on facing pages.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45262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"Your strategy is solid. The gap is adoption."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ENGAGEMENT ROADMAP 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2560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tiers . the first two complimentary by design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43000" y="1984248"/>
            <a:ext cx="6035040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1719072"/>
            <a:ext cx="585216" cy="585216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Complimentary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individual self-assessment, 5-7 minutes, 1-page PDF. No account required.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8920" y="1645920"/>
            <a:ext cx="731520" cy="7315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62072" y="1719072"/>
            <a:ext cx="585216" cy="585216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3172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Complimentary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315468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team, 4 of 8 pillars, 1-2 leaders, 8-page consultant report. Proves value.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1645920"/>
            <a:ext cx="731520" cy="7315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3752" y="1719072"/>
            <a:ext cx="585216" cy="585216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4340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315468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Several departments, 6 of 8 pillars, 4-8 leaders, 27-page report with roadmap.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1645920"/>
            <a:ext cx="731520" cy="7315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85432" y="1719072"/>
            <a:ext cx="585216" cy="585216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Paid . board-grade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15468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Whole organisation, 8 of 8 pillars, 15+ leaders, 27-60 page bilingual report.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WHAT YOU GET 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 depth scales with the tier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0515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80360" y="1088136"/>
            <a:ext cx="36576" cy="5029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105156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1-page PDF . stage-keyed coaching . VIFM training recommendations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920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80360" y="1956816"/>
            <a:ext cx="36576" cy="5029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19202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8-page client PDF . pillar maturity heatmap . regulatory summary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7889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Division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880360" y="2825496"/>
            <a:ext cx="36576" cy="5029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278892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27-page report . investment matrix . gantt roadmap . use cases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356616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6616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373075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6576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880360" y="3694176"/>
            <a:ext cx="36576" cy="5029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35808" y="365760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27-60 page bilingual board-grade report . all eight pillar deep-dives . year-on-year delta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HOW IT IS DELIVERED 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2560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stages from kick-off to released report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86968" y="2167128"/>
            <a:ext cx="7086600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01952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95681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 creates engagement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1901952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66544" y="195681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 URLs to stakeholders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1901952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3864" y="195681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Gather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questionnaire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901952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1184" y="195681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2628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2 workshop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1901952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18504" y="195681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Maturity model + compliance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80960" y="1901952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35824" y="195681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6092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6092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Client-grade PDF delivered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0" y="4069080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4069080"/>
            <a:ext cx="73152" cy="5029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4069080"/>
            <a:ext cx="7086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Department: 4-6 weeks  .  Division: 6-8 weeks  .  Enterprise: 8-12 weeks  .  Re-assessable annually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COMPLIANCE BUILT-IN 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Sixteen regulatory frameworks pre-mapped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Seven UAE . nine Saudi . crosswalked to the eight pillars on every report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60520" cy="3017520"/>
          </a:xfrm>
          <a:prstGeom prst="roundRect">
            <a:avLst>
              <a:gd name="adj" fmla="val 303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4160520" cy="914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36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UAE . 7 FRAMEWORKS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54864" cy="21945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UAE National AI Strategy 2031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76856"/>
            <a:ext cx="54864" cy="21945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3113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Federal Decree-Law 45 / 2021 (PDP)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87752"/>
            <a:ext cx="54864" cy="21945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4203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Federal Data Office policy stack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98648"/>
            <a:ext cx="54864" cy="21945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5292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Dubai AI Ethics Guidelines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09544"/>
            <a:ext cx="54864" cy="21945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6382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TDRA AI Framework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520440"/>
            <a:ext cx="54864" cy="21945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7472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Cybersecurity Council standards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831336"/>
            <a:ext cx="54864" cy="21945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8561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Sector-specific regulator overlays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4160520" cy="3017520"/>
          </a:xfrm>
          <a:prstGeom prst="roundRect">
            <a:avLst>
              <a:gd name="adj" fmla="val 303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371600"/>
            <a:ext cx="4160520" cy="914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36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SAUDI ARABIA . 9 FRAMEWORKS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1965960"/>
            <a:ext cx="54864" cy="182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9202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National Strategy for Data and AI (NSDAI)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221992"/>
            <a:ext cx="54864" cy="182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1762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SDAIA AI Ethics Principles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2478024"/>
            <a:ext cx="54864" cy="182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43230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 Data Protection Law (PDPL)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2734056"/>
            <a:ext cx="54864" cy="182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68833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NCA Cloud Cybersecurity Controls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2990088"/>
            <a:ext cx="54864" cy="182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94436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MCIT digital regulation stack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37760" y="3246120"/>
            <a:ext cx="54864" cy="182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2004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CITC ICT regulatory framework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37760" y="3502152"/>
            <a:ext cx="54864" cy="182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34564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Sector overlays (SAMA, CMA, etc.)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37760" y="3758184"/>
            <a:ext cx="54864" cy="182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71246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Vision 2030 alignment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37760" y="4014216"/>
            <a:ext cx="54864" cy="182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9684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Data policy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WHY ARC 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256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ARC, not a generic readiness scan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278892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06984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0698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GCC-calibrated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912" y="1527048"/>
            <a:ext cx="2459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bank, frameworks, Arabic translations built around GCC government and banking. Not retrofitted.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86868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868680"/>
            <a:ext cx="278892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06984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10698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end-to-end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37560" y="1527048"/>
            <a:ext cx="2459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English, Arabic, side-by-side landscape. Native RTL on every screen and report page.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71616" y="86868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868680"/>
            <a:ext cx="278892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06984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93408" y="10698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Pillars + factors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36208" y="1527048"/>
            <a:ext cx="2459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only instrument that pairs organisational maturity with individual behaviour in one engagement.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51460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514600"/>
            <a:ext cx="278892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271576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715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27157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 evidence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38912" y="3172968"/>
            <a:ext cx="2459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Sixteen UAE and Saudi frameworks pre-mapped to the eight pillars. Not abstract scores -- evidence.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72968" y="251460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72968" y="2514600"/>
            <a:ext cx="278892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271576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715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94760" y="27157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built-in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337560" y="3172968"/>
            <a:ext cx="2459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gap surfaces VIFM training programmes that close it, ranked by fit. Connected to the path forward.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71616" y="251460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71616" y="2514600"/>
            <a:ext cx="278892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36208" y="271576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2715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93408" y="27157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reassessment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236208" y="3172968"/>
            <a:ext cx="2459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One-click clone preserves scope and roster. Year-on-year delta view rendered automatically.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DEMO FLOW 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Suggested demo flow . 15-20 minutes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8595360" cy="557784"/>
          </a:xfrm>
          <a:prstGeom prst="roundRect">
            <a:avLst>
              <a:gd name="adj" fmla="val 13115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73152" cy="55778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594360" cy="347472"/>
          </a:xfrm>
          <a:prstGeom prst="roundRect">
            <a:avLst>
              <a:gd name="adj" fmla="val 1052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17043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with the compass narrative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12280" y="11704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caliber.viftraining.com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709928"/>
            <a:ext cx="8595360" cy="557784"/>
          </a:xfrm>
          <a:prstGeom prst="roundRect">
            <a:avLst>
              <a:gd name="adj" fmla="val 13115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709928"/>
            <a:ext cx="73152" cy="55778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819656"/>
            <a:ext cx="594360" cy="347472"/>
          </a:xfrm>
          <a:prstGeom prst="roundRect">
            <a:avLst>
              <a:gd name="adj" fmla="val 1052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1965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 the four-tier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/ara/engage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322576"/>
            <a:ext cx="8595360" cy="557784"/>
          </a:xfrm>
          <a:prstGeom prst="roundRect">
            <a:avLst>
              <a:gd name="adj" fmla="val 13115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322576"/>
            <a:ext cx="73152" cy="55778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432304"/>
            <a:ext cx="594360" cy="347472"/>
          </a:xfrm>
          <a:prstGeom prst="roundRect">
            <a:avLst>
              <a:gd name="adj" fmla="val 1052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43230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239572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Personal Snapshot live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395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/ara/personal/start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935224"/>
            <a:ext cx="8595360" cy="557784"/>
          </a:xfrm>
          <a:prstGeom prst="roundRect">
            <a:avLst>
              <a:gd name="adj" fmla="val 13115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935224"/>
            <a:ext cx="73152" cy="55778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044952"/>
            <a:ext cx="594360" cy="347472"/>
          </a:xfrm>
          <a:prstGeom prst="roundRect">
            <a:avLst>
              <a:gd name="adj" fmla="val 1052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0449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300837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consultant new-engagement wizard . show the workforce-layer toggle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30083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/ara/consultant/assessments/new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3547872"/>
            <a:ext cx="8595360" cy="557784"/>
          </a:xfrm>
          <a:prstGeom prst="roundRect">
            <a:avLst>
              <a:gd name="adj" fmla="val 13115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547872"/>
            <a:ext cx="73152" cy="55778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657600"/>
            <a:ext cx="594360" cy="347472"/>
          </a:xfrm>
          <a:prstGeom prst="roundRect">
            <a:avLst>
              <a:gd name="adj" fmla="val 1052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6576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362102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a sample assessment report PDF . bilingual landscape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36210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/ara/consultant/assessments/[id]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4160520"/>
            <a:ext cx="8595360" cy="557784"/>
          </a:xfrm>
          <a:prstGeom prst="roundRect">
            <a:avLst>
              <a:gd name="adj" fmla="val 13115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4160520"/>
            <a:ext cx="73152" cy="55778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270248"/>
            <a:ext cx="594360" cy="347472"/>
          </a:xfrm>
          <a:prstGeom prst="roundRect">
            <a:avLst>
              <a:gd name="adj" fmla="val 1052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2702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97280" y="423367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Close on commercial framing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42336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 + Department complimentary . Division + Enterprise paid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ROOM PREP 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to expect from the agency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14984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 validated the methodology?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1344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32588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Four-factor framework anchored to TAM, Self-Determination Theory, and the Big-Five taxonomy. Methodology brief documents every anchor with citations.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0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883664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the data sovereign?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221284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19456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 instance is hosted; for government clients we deploy a dedicated regional instance (or on-premise) so data never leaves the jurisdiction.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788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752344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PDPL / GDPR compliant?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" y="3081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06324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Yes, designed-in. Consent required. 2-year retention cap. Right-to-erasure. Immutable audit trail. No outbound data flows.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56616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56616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576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621024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do you guard against bias?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1480" y="39502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93192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mechanisms: distortion detector on response patterns, perception-vs-reality validation in Phase 2, ICC reported when multiple raters score the same pillar.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5262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more anticipated Q&amp;A in the briefing DOCX, section 8.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217920" y="0"/>
            <a:ext cx="91440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START WHERE YOU STAND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Try it tonight.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minutes. No account required. Your own personal AI-readiness PDF in the inbox.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749040"/>
            <a:ext cx="320040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8862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91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caliber.viftraining.com / ara / personal / start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411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95160" y="822960"/>
            <a:ext cx="201168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822960"/>
            <a:ext cx="54864" cy="731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8229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82296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 today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1691640"/>
            <a:ext cx="201168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1691640"/>
            <a:ext cx="54864" cy="731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6916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0" y="169164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 Snapshot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2560320"/>
            <a:ext cx="201168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2560320"/>
            <a:ext cx="54864" cy="731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5603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98080" y="256032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Complimentary Dept.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95160" y="3429000"/>
            <a:ext cx="201168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3429000"/>
            <a:ext cx="54864" cy="731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4290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98080" y="342900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Paid Division+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 . Pitch briefing . (c) VIFM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Virginia Institute of Finance and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VIFM AI Readiness Compass - Pitch Deck for Dr. Ahmad</dc:title>
  <dc:subject>PptxGenJS Presentation</dc:subject>
  <dc:creator>VIFM</dc:creator>
  <cp:lastModifiedBy>VIFM</cp:lastModifiedBy>
  <cp:revision>1</cp:revision>
  <dcterms:created xsi:type="dcterms:W3CDTF">2026-06-13T18:49:45Z</dcterms:created>
  <dcterms:modified xsi:type="dcterms:W3CDTF">2026-06-13T18:49:45Z</dcterms:modified>
</cp:coreProperties>
</file>