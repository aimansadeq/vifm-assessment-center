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121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fm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40080"/>
            <a:ext cx="1920240" cy="61159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68680" y="2743200"/>
            <a:ext cx="868680" cy="54864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105156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FFFFF"/>
                </a:solidFill>
                <a:latin typeface="Open Sans"/>
              </a:rPr>
              <a:t>VIFM Fluent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400"/>
              </a:spcAft>
            </a:pPr>
            <a:r>
              <a:rPr sz="2400" b="1" i="0">
                <a:solidFill>
                  <a:srgbClr val="5391D5"/>
                </a:solidFill>
                <a:latin typeface="Open Sans"/>
              </a:rPr>
              <a:t>AI-Assisted English Placement for the GCC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800600"/>
            <a:ext cx="9875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C9D3E6"/>
                </a:solidFill>
                <a:latin typeface="Open Sans"/>
              </a:rPr>
              <a:t>Four CEFR-aligned skills. A defensible English level in minutes. English or Arabic, at any scale.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  <a:spcAft>
                <a:spcPts val="400"/>
              </a:spcAft>
            </a:pPr>
            <a:r>
              <a:rPr sz="1100" b="0" i="0">
                <a:solidFill>
                  <a:srgbClr val="8A92B0"/>
                </a:solidFill>
                <a:latin typeface="Open Sans"/>
              </a:rPr>
              <a:t>Virginia Institute of Finance and Management  ·  Confidential client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391D5"/>
                </a:solidFill>
                <a:latin typeface="Open Sans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10131"/>
                </a:solidFill>
                <a:latin typeface="Open Sans"/>
              </a:rPr>
              <a:t>Why English placement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" y="1459992"/>
            <a:ext cx="822960" cy="4572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65960"/>
            <a:ext cx="58521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 i="0">
                <a:solidFill>
                  <a:srgbClr val="111232"/>
                </a:solidFill>
                <a:latin typeface="Open Sans"/>
              </a:rPr>
              <a:t>In GCC banking and government, English proficiency drives client communication, compliance, cross-border work, and leadership readiness.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11232"/>
                </a:solidFill>
                <a:latin typeface="Open Sans"/>
              </a:rPr>
              <a:t>Yet traditional placement is: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B6577"/>
                </a:solidFill>
                <a:latin typeface="Open Sans"/>
              </a:rPr>
              <a:t>•   Slow - days or weeks to schedule, sit, and mark.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B6577"/>
                </a:solidFill>
                <a:latin typeface="Open Sans"/>
              </a:rPr>
              <a:t>•   Costly - human raters at every sitting.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B6577"/>
                </a:solidFill>
                <a:latin typeface="Open Sans"/>
              </a:rPr>
              <a:t>•   Inconsistent - scores drift between raters and sessions.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B6577"/>
                </a:solidFill>
                <a:latin typeface="Open Sans"/>
              </a:rPr>
              <a:t>•   Hard to scale - across large hiring and development cohorts.</a:t>
            </a:r>
          </a:p>
          <a:p>
            <a:pPr algn="l">
              <a:lnSpc>
                <a:spcPct val="130000"/>
              </a:lnSpc>
              <a:spcBef>
                <a:spcPts val="1200"/>
              </a:spcBef>
              <a:spcAft>
                <a:spcPts val="400"/>
              </a:spcAft>
            </a:pPr>
            <a:r>
              <a:rPr sz="1500" b="1" i="0">
                <a:solidFill>
                  <a:srgbClr val="010131"/>
                </a:solidFill>
                <a:latin typeface="Open Sans"/>
              </a:rPr>
              <a:t>Decisions need a fast, consistent, defensible read of each person's English - VIFM Fluent delivers it in minutes.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965960"/>
            <a:ext cx="4297680" cy="3657600"/>
          </a:xfrm>
          <a:prstGeom prst="roundRect">
            <a:avLst>
              <a:gd name="adj" fmla="val 6000"/>
            </a:avLst>
          </a:prstGeom>
          <a:solidFill>
            <a:srgbClr val="010131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286000"/>
            <a:ext cx="3657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050" b="1" i="0">
                <a:solidFill>
                  <a:srgbClr val="5391D5"/>
                </a:solidFill>
                <a:latin typeface="Open Sans"/>
              </a:rPr>
              <a:t>AT A GLANCE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Open Sans"/>
              </a:rPr>
              <a:t>4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C0CBE0"/>
                </a:solidFill>
                <a:latin typeface="Open Sans"/>
              </a:rPr>
              <a:t>CEFR-aligned skills measured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Open Sans"/>
              </a:rPr>
              <a:t>6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C0CBE0"/>
                </a:solidFill>
                <a:latin typeface="Open Sans"/>
              </a:rPr>
              <a:t>CEFR levels (A1 - C2)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Open Sans"/>
              </a:rPr>
              <a:t>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C0CBE0"/>
                </a:solidFill>
                <a:latin typeface="Open Sans"/>
              </a:rPr>
              <a:t>languages of delivery (EN / 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Open Sans"/>
              </a:rPr>
              <a:t>Minutes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C0CBE0"/>
                </a:solidFill>
                <a:latin typeface="Open Sans"/>
              </a:rPr>
              <a:t>to a scored result + 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4556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AFB8C6"/>
                </a:solidFill>
                <a:latin typeface="Open Sans"/>
              </a:rPr>
              <a:t>VIFM Fluent  ·  AI-Assisted English Placement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AFB8C6"/>
                </a:solidFill>
                <a:latin typeface="Open Sans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391D5"/>
                </a:solidFill>
                <a:latin typeface="Open Sans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10131"/>
                </a:solidFill>
                <a:latin typeface="Open Sans"/>
              </a:rPr>
              <a:t>What VIFM Fluent is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" y="1459992"/>
            <a:ext cx="822960" cy="4572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874519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11232"/>
                </a:solidFill>
                <a:latin typeface="Open Sans"/>
              </a:rPr>
              <a:t>A four-skill, CEFR-aligned English placement assessment - AI-authored, AI-scored, and human-calibrated.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606040"/>
            <a:ext cx="50749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2606040"/>
            <a:ext cx="507492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880360"/>
            <a:ext cx="45262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10131"/>
                </a:solidFill>
                <a:latin typeface="Open Sans"/>
              </a:rPr>
              <a:t>Four skills, one standard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577"/>
                </a:solidFill>
                <a:latin typeface="Open Sans"/>
              </a:rPr>
              <a:t>Reading, Listening, Writing and Speaking, each banded A1-C2, with an overall CEFR level.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2606040"/>
            <a:ext cx="50749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606040"/>
            <a:ext cx="507492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2880360"/>
            <a:ext cx="45262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10131"/>
                </a:solidFill>
                <a:latin typeface="Open Sans"/>
              </a:rPr>
              <a:t>AI-assisted, human-calibrated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577"/>
                </a:solidFill>
                <a:latin typeface="Open Sans"/>
              </a:rPr>
              <a:t>Claude authors items and scores writing/speaking against a CEFR rubric; humans calibrate the model.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4462272"/>
            <a:ext cx="50749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4462272"/>
            <a:ext cx="5074920" cy="82296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4736592"/>
            <a:ext cx="45262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10131"/>
                </a:solidFill>
                <a:latin typeface="Open Sans"/>
              </a:rPr>
              <a:t>Bilingual &amp; accessible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577"/>
                </a:solidFill>
                <a:latin typeface="Open Sans"/>
              </a:rPr>
              <a:t>English or Arabic interface with full RTL; runs in any browser, no install.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4462272"/>
            <a:ext cx="50749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0488" y="4462272"/>
            <a:ext cx="5074920" cy="82296"/>
          </a:xfrm>
          <a:prstGeom prst="rect">
            <a:avLst/>
          </a:prstGeom>
          <a:solidFill>
            <a:srgbClr val="C2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4736592"/>
            <a:ext cx="45262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10131"/>
                </a:solidFill>
                <a:latin typeface="Open Sans"/>
              </a:rPr>
              <a:t>Flexible deployment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577"/>
                </a:solidFill>
                <a:latin typeface="Open Sans"/>
              </a:rPr>
              <a:t>Self-served and anonymous, or administered for a named candidate - standalone or inside Pre-Hire.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598932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1">
                <a:solidFill>
                  <a:srgbClr val="010131"/>
                </a:solidFill>
                <a:latin typeface="Open Sans"/>
              </a:rPr>
              <a:t>Positioned honestly as an INDICATIVE placement to inform a human decision - fast and consistent, with a calibration pathway toward certification.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64556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AFB8C6"/>
                </a:solidFill>
                <a:latin typeface="Open Sans"/>
              </a:rPr>
              <a:t>VIFM Fluent  ·  AI-Assisted English Placement  ·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AFB8C6"/>
                </a:solidFill>
                <a:latin typeface="Open Sans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391D5"/>
                </a:solidFill>
                <a:latin typeface="Open Sans"/>
              </a:rPr>
              <a:t>WHAT WE MEASURE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10131"/>
                </a:solidFill>
                <a:latin typeface="Open Sans"/>
              </a:rPr>
              <a:t>Four skills - receptive and productive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" y="1459992"/>
            <a:ext cx="822960" cy="4572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8288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577"/>
                </a:solidFill>
                <a:latin typeface="Open Sans"/>
              </a:rPr>
              <a:t>Two receptive skills (auto-scored) and two productive skills (scored against a CEFR rubric). Each is banded A1-C2 and rolls up to an overall level.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514600"/>
            <a:ext cx="507492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2514600"/>
            <a:ext cx="118872" cy="15087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2752344"/>
            <a:ext cx="4434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2563EB"/>
                </a:solidFill>
                <a:latin typeface="Open Sans"/>
              </a:rPr>
              <a:t>READING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5B6577"/>
                </a:solidFill>
                <a:latin typeface="Open Sans"/>
              </a:rPr>
              <a:t>RECEPTIVE · AUTO-SCORED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11232"/>
                </a:solidFill>
                <a:latin typeface="Open Sans"/>
              </a:rPr>
              <a:t>Understanding written English: gist, detail, inference, and vocabulary in context.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2514600"/>
            <a:ext cx="507492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514600"/>
            <a:ext cx="118872" cy="1508760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2752344"/>
            <a:ext cx="4434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0E8C7F"/>
                </a:solidFill>
                <a:latin typeface="Open Sans"/>
              </a:rPr>
              <a:t>LISTENING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5B6577"/>
                </a:solidFill>
                <a:latin typeface="Open Sans"/>
              </a:rPr>
              <a:t>RECEPTIVE · AUTO-SCORED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11232"/>
                </a:solidFill>
                <a:latin typeface="Open Sans"/>
              </a:rPr>
              <a:t>Understanding spoken English from a single hearing: gist, detail, inference, discourse and 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4251960"/>
            <a:ext cx="507492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4251960"/>
            <a:ext cx="118872" cy="1508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7008" y="4489704"/>
            <a:ext cx="4434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7C3AED"/>
                </a:solidFill>
                <a:latin typeface="Open Sans"/>
              </a:rPr>
              <a:t>WRITING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5B6577"/>
                </a:solidFill>
                <a:latin typeface="Open Sans"/>
              </a:rPr>
              <a:t>PRODUCTIVE · RUBRIC-SCORED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11232"/>
                </a:solidFill>
                <a:latin typeface="Open Sans"/>
              </a:rPr>
              <a:t>Producing written English for a workplace task - judged on seven criteria (see methodology).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4251960"/>
            <a:ext cx="507492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0488" y="4251960"/>
            <a:ext cx="118872" cy="1508760"/>
          </a:xfrm>
          <a:prstGeom prst="rect">
            <a:avLst/>
          </a:prstGeom>
          <a:solidFill>
            <a:srgbClr val="C2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4489704"/>
            <a:ext cx="4434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C28A00"/>
                </a:solidFill>
                <a:latin typeface="Open Sans"/>
              </a:rPr>
              <a:t>SPEAKING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5B6577"/>
                </a:solidFill>
                <a:latin typeface="Open Sans"/>
              </a:rPr>
              <a:t>PRODUCTIVE · RUBRIC-SCORED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11232"/>
                </a:solidFill>
                <a:latin typeface="Open Sans"/>
              </a:rPr>
              <a:t>Producing spoken English in response to a prompt - judged on four criteria plus pronunciation.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64556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AFB8C6"/>
                </a:solidFill>
                <a:latin typeface="Open Sans"/>
              </a:rPr>
              <a:t>VIFM Fluent  ·  AI-Assisted English Placement  · 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AFB8C6"/>
                </a:solidFill>
                <a:latin typeface="Open Sans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391D5"/>
                </a:solidFill>
                <a:latin typeface="Open Sans"/>
              </a:rPr>
              <a:t>THE STANDARD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10131"/>
                </a:solidFill>
                <a:latin typeface="Open Sans"/>
              </a:rPr>
              <a:t>Reported on the CEFR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" y="1459992"/>
            <a:ext cx="822960" cy="4572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828800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577"/>
                </a:solidFill>
                <a:latin typeface="Open Sans"/>
              </a:rPr>
              <a:t>The Common European Framework of Reference for Languages is the global standard for describing language ability. VIFM Fluent reports every skill and the overall result on this scale - so results are portable and internationally understood.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8892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45309"/>
                </a:solidFill>
                <a:latin typeface="Open Sans"/>
              </a:rPr>
              <a:t>BASIC USER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3172968"/>
            <a:ext cx="3383280" cy="457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3355848"/>
            <a:ext cx="16002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3355848"/>
            <a:ext cx="1600200" cy="5029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429000"/>
            <a:ext cx="1600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Open Sans"/>
              </a:rPr>
              <a:t>A1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4023360"/>
            <a:ext cx="138074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10131"/>
                </a:solidFill>
                <a:latin typeface="Open Sans"/>
              </a:rPr>
              <a:t>Beginner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24328" y="3355848"/>
            <a:ext cx="16002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24328" y="3355848"/>
            <a:ext cx="1600200" cy="5029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24328" y="3429000"/>
            <a:ext cx="1600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Open Sans"/>
              </a:rPr>
              <a:t>A2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34056" y="4023360"/>
            <a:ext cx="138074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10131"/>
                </a:solidFill>
                <a:latin typeface="Open Sans"/>
              </a:rPr>
              <a:t>Elementary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278892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391D5"/>
                </a:solidFill>
                <a:latin typeface="Open Sans"/>
              </a:rPr>
              <a:t>INDEPENDENT USER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16552" y="3172968"/>
            <a:ext cx="3383280" cy="45720"/>
          </a:xfrm>
          <a:prstGeom prst="rect">
            <a:avLst/>
          </a:prstGeom>
          <a:solidFill>
            <a:srgbClr val="539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16552" y="3355848"/>
            <a:ext cx="16002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16552" y="3355848"/>
            <a:ext cx="1600200" cy="502920"/>
          </a:xfrm>
          <a:prstGeom prst="rect">
            <a:avLst/>
          </a:prstGeom>
          <a:solidFill>
            <a:srgbClr val="539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6552" y="3429000"/>
            <a:ext cx="1600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Open Sans"/>
              </a:rPr>
              <a:t>B1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023360"/>
            <a:ext cx="138074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10131"/>
                </a:solidFill>
                <a:latin typeface="Open Sans"/>
              </a:rPr>
              <a:t>Intermediate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3355848"/>
            <a:ext cx="16002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9632" y="3355848"/>
            <a:ext cx="1600200" cy="502920"/>
          </a:xfrm>
          <a:prstGeom prst="rect">
            <a:avLst/>
          </a:prstGeom>
          <a:solidFill>
            <a:srgbClr val="539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99632" y="3429000"/>
            <a:ext cx="1600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Open Sans"/>
              </a:rPr>
              <a:t>B2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023360"/>
            <a:ext cx="138074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10131"/>
                </a:solidFill>
                <a:latin typeface="Open Sans"/>
              </a:rPr>
              <a:t>Upper-intermediate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1856" y="278892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9D6B"/>
                </a:solidFill>
                <a:latin typeface="Open Sans"/>
              </a:rPr>
              <a:t>PROFICIENT USER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91856" y="3172968"/>
            <a:ext cx="3383280" cy="45720"/>
          </a:xfrm>
          <a:prstGeom prst="rect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991856" y="3355848"/>
            <a:ext cx="16002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91856" y="3355848"/>
            <a:ext cx="1600200" cy="502920"/>
          </a:xfrm>
          <a:prstGeom prst="rect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91856" y="3429000"/>
            <a:ext cx="1600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Open Sans"/>
              </a:rPr>
              <a:t>C1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01583" y="4023360"/>
            <a:ext cx="138074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10131"/>
                </a:solidFill>
                <a:latin typeface="Open Sans"/>
              </a:rPr>
              <a:t>Advanced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74936" y="3355848"/>
            <a:ext cx="16002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774936" y="3355848"/>
            <a:ext cx="1600200" cy="502920"/>
          </a:xfrm>
          <a:prstGeom prst="rect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74936" y="3429000"/>
            <a:ext cx="1600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Open Sans"/>
              </a:rPr>
              <a:t>C2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84663" y="4023360"/>
            <a:ext cx="138074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10131"/>
                </a:solidFill>
                <a:latin typeface="Open Sans"/>
              </a:rPr>
              <a:t>Proficient / Mastery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59436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5B6577"/>
                </a:solidFill>
                <a:latin typeface="Open Sans"/>
              </a:rPr>
              <a:t>Each criterion is rated 1-5; per-skill scores map to a CEFR band, and a borderline result is reported as a confidence range rather than a false-precise single level.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64556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AFB8C6"/>
                </a:solidFill>
                <a:latin typeface="Open Sans"/>
              </a:rPr>
              <a:t>VIFM Fluent  ·  AI-Assisted English Placement  ·  Confidential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AFB8C6"/>
                </a:solidFill>
                <a:latin typeface="Open Sans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391D5"/>
                </a:solidFill>
                <a:latin typeface="Open Sans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10131"/>
                </a:solidFill>
                <a:latin typeface="Open Sans"/>
              </a:rPr>
              <a:t>How the assessment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" y="1459992"/>
            <a:ext cx="822960" cy="4572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2011680"/>
            <a:ext cx="1046988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2011680"/>
            <a:ext cx="118872" cy="9326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295144"/>
            <a:ext cx="365760" cy="36576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2167128"/>
            <a:ext cx="9326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10131"/>
                </a:solidFill>
                <a:latin typeface="Open Sans"/>
              </a:rPr>
              <a:t>Receptive skills (Reading &amp; Listening)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577"/>
                </a:solidFill>
                <a:latin typeface="Open Sans"/>
              </a:rPr>
              <a:t>AI-authored multiple-choice items, auto-scored server-side. Listening items play neural text-to-speech audio.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108960"/>
            <a:ext cx="1046988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" y="3108960"/>
            <a:ext cx="118872" cy="9326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43000" y="3392424"/>
            <a:ext cx="365760" cy="36576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3264408"/>
            <a:ext cx="9326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10131"/>
                </a:solidFill>
                <a:latin typeface="Open Sans"/>
              </a:rPr>
              <a:t>Productive skills (Writing &amp; Speaking)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577"/>
                </a:solidFill>
                <a:latin typeface="Open Sans"/>
              </a:rPr>
              <a:t>The candidate produces real language; Claude scores it criterion-by-criterion against a CEFR-aligned rubric.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4206240"/>
            <a:ext cx="1046988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" y="4206240"/>
            <a:ext cx="118872" cy="932688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43000" y="4489704"/>
            <a:ext cx="365760" cy="365760"/>
          </a:xfrm>
          <a:prstGeom prst="roundRect">
            <a:avLst>
              <a:gd name="adj" fmla="val 6000"/>
            </a:avLst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7360" y="4361688"/>
            <a:ext cx="9326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10131"/>
                </a:solidFill>
                <a:latin typeface="Open Sans"/>
              </a:rPr>
              <a:t>Speaking capture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577"/>
                </a:solidFill>
                <a:latin typeface="Open Sans"/>
              </a:rPr>
              <a:t>The spoken response is transcribed in the browser (no install), with optional pronunciation analysis blended 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5303520"/>
            <a:ext cx="1046988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" y="5303520"/>
            <a:ext cx="118872" cy="932688"/>
          </a:xfrm>
          <a:prstGeom prst="rect">
            <a:avLst/>
          </a:prstGeom>
          <a:solidFill>
            <a:srgbClr val="C2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43000" y="5586984"/>
            <a:ext cx="365760" cy="365760"/>
          </a:xfrm>
          <a:prstGeom prst="roundRect">
            <a:avLst>
              <a:gd name="adj" fmla="val 6000"/>
            </a:avLst>
          </a:prstGeom>
          <a:solidFill>
            <a:srgbClr val="C2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37360" y="5458968"/>
            <a:ext cx="9326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10131"/>
                </a:solidFill>
                <a:latin typeface="Open Sans"/>
              </a:rPr>
              <a:t>Integrity by design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577"/>
                </a:solidFill>
                <a:latin typeface="Open Sans"/>
              </a:rPr>
              <a:t>The answer key never reaches the browser, grading happens server-side, and each test session is single-use.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64556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AFB8C6"/>
                </a:solidFill>
                <a:latin typeface="Open Sans"/>
              </a:rPr>
              <a:t>VIFM Fluent  ·  AI-Assisted English Placement  ·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AFB8C6"/>
                </a:solidFill>
                <a:latin typeface="Open Sans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391D5"/>
                </a:solidFill>
                <a:latin typeface="Open Sans"/>
              </a:rPr>
              <a:t>SCORING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10131"/>
                </a:solidFill>
                <a:latin typeface="Open Sans"/>
              </a:rPr>
              <a:t>What the productive skills are judged 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" y="1459992"/>
            <a:ext cx="822960" cy="4572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828800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577"/>
                </a:solidFill>
                <a:latin typeface="Open Sans"/>
              </a:rPr>
              <a:t>Each criterion is rated 1-5 and rolls up to a CEFR band for the skill.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423160"/>
            <a:ext cx="5074920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2423160"/>
            <a:ext cx="507492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697480"/>
            <a:ext cx="45262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7C3AED"/>
                </a:solidFill>
                <a:latin typeface="Open Sans"/>
              </a:rPr>
              <a:t>WRITING - 7 criteria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11232"/>
                </a:solidFill>
                <a:latin typeface="Open Sans"/>
              </a:rPr>
              <a:t>•   Task achievement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11232"/>
                </a:solidFill>
                <a:latin typeface="Open Sans"/>
              </a:rPr>
              <a:t>•   Coherence &amp; cohesion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11232"/>
                </a:solidFill>
                <a:latin typeface="Open Sans"/>
              </a:rPr>
              <a:t>•   Lexical resource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11232"/>
                </a:solidFill>
                <a:latin typeface="Open Sans"/>
              </a:rPr>
              <a:t>•   Grammar range &amp; accuracy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11232"/>
                </a:solidFill>
                <a:latin typeface="Open Sans"/>
              </a:rPr>
              <a:t>•   Register (business-like tone)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11232"/>
                </a:solidFill>
                <a:latin typeface="Open Sans"/>
              </a:rPr>
              <a:t>•   Etiquette &amp; courtesy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11232"/>
                </a:solidFill>
                <a:latin typeface="Open Sans"/>
              </a:rPr>
              <a:t>•   Mechanics (spelling &amp; punctuation)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2423160"/>
            <a:ext cx="5074920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6208" y="2423160"/>
            <a:ext cx="5074920" cy="82296"/>
          </a:xfrm>
          <a:prstGeom prst="rect">
            <a:avLst/>
          </a:prstGeom>
          <a:solidFill>
            <a:srgbClr val="C2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697480"/>
            <a:ext cx="45262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C28A00"/>
                </a:solidFill>
                <a:latin typeface="Open Sans"/>
              </a:rPr>
              <a:t>SPEAKING - 4 criteria + pronunciation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11232"/>
                </a:solidFill>
                <a:latin typeface="Open Sans"/>
              </a:rPr>
              <a:t>•   Fluency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11232"/>
                </a:solidFill>
                <a:latin typeface="Open Sans"/>
              </a:rPr>
              <a:t>•   Coherence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11232"/>
                </a:solidFill>
                <a:latin typeface="Open Sans"/>
              </a:rPr>
              <a:t>•   Lexical resource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11232"/>
                </a:solidFill>
                <a:latin typeface="Open Sans"/>
              </a:rPr>
              <a:t>•   Grammar range &amp; accuracy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11232"/>
                </a:solidFill>
                <a:latin typeface="Open Sans"/>
              </a:rPr>
              <a:t>•   Pronunciation (clarity, stress, intonation)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  <a:spcAft>
                <a:spcPts val="400"/>
              </a:spcAft>
            </a:pPr>
            <a:r>
              <a:rPr sz="1150" b="0" i="1">
                <a:solidFill>
                  <a:srgbClr val="5B6577"/>
                </a:solidFill>
                <a:latin typeface="Open Sans"/>
              </a:rPr>
              <a:t>Reading &amp; Listening are scored objectively from the auto-marked items (gist, detail, inference, vocabulary / discourse).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64556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AFB8C6"/>
                </a:solidFill>
                <a:latin typeface="Open Sans"/>
              </a:rPr>
              <a:t>VIFM Fluent  ·  AI-Assisted English Placement  · 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AFB8C6"/>
                </a:solidFill>
                <a:latin typeface="Open Sans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391D5"/>
                </a:solidFill>
                <a:latin typeface="Open Sans"/>
              </a:rPr>
              <a:t>RIGOR &amp; DEFENSIBILITY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10131"/>
                </a:solidFill>
                <a:latin typeface="Open Sans"/>
              </a:rPr>
              <a:t>Built to stand up to scrutiny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" y="1459992"/>
            <a:ext cx="822960" cy="4572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2011680"/>
            <a:ext cx="507492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2011680"/>
            <a:ext cx="507492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2304288"/>
            <a:ext cx="4526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10131"/>
                </a:solidFill>
                <a:latin typeface="Open Sans"/>
              </a:rPr>
              <a:t>Human-calibrated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577"/>
                </a:solidFill>
                <a:latin typeface="Open Sans"/>
              </a:rPr>
              <a:t>Writing and speaking scores are re-rated by trained humans; model-vs-human agreement is tracked by Quadratic Weighted Kappa (target &gt;= 0.70).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2011680"/>
            <a:ext cx="507492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0488" y="2011680"/>
            <a:ext cx="5074920" cy="82296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3096" y="2304288"/>
            <a:ext cx="4526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10131"/>
                </a:solidFill>
                <a:latin typeface="Open Sans"/>
              </a:rPr>
              <a:t>Advisory integrity signal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577"/>
                </a:solidFill>
                <a:latin typeface="Open Sans"/>
              </a:rPr>
              <a:t>Tab-switches, paste activity and mid-test location changes are flagged for review - surfaced to staff, never an automatic fail.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959352"/>
            <a:ext cx="507492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" y="3959352"/>
            <a:ext cx="507492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4251960"/>
            <a:ext cx="4526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10131"/>
                </a:solidFill>
                <a:latin typeface="Open Sans"/>
              </a:rPr>
              <a:t>Honest positioning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577"/>
                </a:solidFill>
                <a:latin typeface="Open Sans"/>
              </a:rPr>
              <a:t>An indicative placement that informs a human decision - transparently labelled, never an automated gate.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3959352"/>
            <a:ext cx="507492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3959352"/>
            <a:ext cx="5074920" cy="82296"/>
          </a:xfrm>
          <a:prstGeom prst="rect">
            <a:avLst/>
          </a:prstGeom>
          <a:solidFill>
            <a:srgbClr val="C2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3096" y="4251960"/>
            <a:ext cx="4526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10131"/>
                </a:solidFill>
                <a:latin typeface="Open Sans"/>
              </a:rPr>
              <a:t>Calibration pathway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577"/>
                </a:solidFill>
                <a:latin typeface="Open Sans"/>
              </a:rPr>
              <a:t>A growing item bank with IRT groundwork moves Fluent toward adaptive testing and a certification track.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64556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AFB8C6"/>
                </a:solidFill>
                <a:latin typeface="Open Sans"/>
              </a:rPr>
              <a:t>VIFM Fluent  ·  AI-Assisted English Placement  ·  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AFB8C6"/>
                </a:solidFill>
                <a:latin typeface="Open Sans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391D5"/>
                </a:solidFill>
                <a:latin typeface="Open Sans"/>
              </a:rPr>
              <a:t>EXPERIENCE &amp;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10131"/>
                </a:solidFill>
                <a:latin typeface="Open Sans"/>
              </a:rPr>
              <a:t>What candidates and clients 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" y="1459992"/>
            <a:ext cx="822960" cy="4572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2011680"/>
            <a:ext cx="5074920" cy="3931920"/>
          </a:xfrm>
          <a:prstGeom prst="roundRect">
            <a:avLst>
              <a:gd name="adj" fmla="val 6000"/>
            </a:avLst>
          </a:prstGeom>
          <a:solidFill>
            <a:srgbClr val="010131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331720"/>
            <a:ext cx="45262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100" b="1" i="0">
                <a:solidFill>
                  <a:srgbClr val="5391D5"/>
                </a:solidFill>
                <a:latin typeface="Open Sans"/>
              </a:rPr>
              <a:t>CANDIDATE EXPERIENCE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FFFFFF"/>
                </a:solidFill>
                <a:latin typeface="Open Sans"/>
              </a:rPr>
              <a:t>•   Browser-based - nothing to install, any device.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FFFFFF"/>
                </a:solidFill>
                <a:latin typeface="Open Sans"/>
              </a:rPr>
              <a:t>•   English or Arabic, full right-to-left support.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FFFFFF"/>
                </a:solidFill>
                <a:latin typeface="Open Sans"/>
              </a:rPr>
              <a:t>•   A single focused sitting; scored in minutes.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FFFFFF"/>
                </a:solidFill>
                <a:latin typeface="Open Sans"/>
              </a:rPr>
              <a:t>•   Self-served anonymously, or run for a named candidate.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2011680"/>
            <a:ext cx="507492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331720"/>
            <a:ext cx="45262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100" b="1" i="0">
                <a:solidFill>
                  <a:srgbClr val="5391D5"/>
                </a:solidFill>
                <a:latin typeface="Open Sans"/>
              </a:rPr>
              <a:t>DELIVERABLES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10131"/>
                </a:solidFill>
                <a:latin typeface="Open Sans"/>
              </a:rPr>
              <a:t>Per-skill report (PDF)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5B6577"/>
                </a:solidFill>
                <a:latin typeface="Open Sans"/>
              </a:rPr>
              <a:t>CEFR level + per-skill narratives, criterion-by-criterion detail, specific writing issues, and the advisory integrity signal.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10131"/>
                </a:solidFill>
                <a:latin typeface="Open Sans"/>
              </a:rPr>
              <a:t>CEFR certificate (PDF)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5B6577"/>
                </a:solidFill>
                <a:latin typeface="Open Sans"/>
              </a:rPr>
              <a:t>A clean, shareable statement of the placement level.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10131"/>
                </a:solidFill>
                <a:latin typeface="Open Sans"/>
              </a:rPr>
              <a:t>Pipeline integration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577"/>
                </a:solidFill>
                <a:latin typeface="Open Sans"/>
              </a:rPr>
              <a:t>Plugs in as a stage of VIFM Pre-Hire screening, or runs standalone for placement and development.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64556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AFB8C6"/>
                </a:solidFill>
                <a:latin typeface="Open Sans"/>
              </a:rPr>
              <a:t>VIFM Fluent  ·  AI-Assisted English Placement  ·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AFB8C6"/>
                </a:solidFill>
                <a:latin typeface="Open Sans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121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ifm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40080"/>
            <a:ext cx="1737360" cy="55334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68680" y="2148840"/>
            <a:ext cx="868680" cy="54864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Open Sans"/>
              </a:rPr>
              <a:t>Why VIFM Fluent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42900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5391D5"/>
                </a:solidFill>
                <a:latin typeface="Open Sans"/>
              </a:rPr>
              <a:t>•   Fast</a:t>
            </a:r>
            <a:r>
              <a:rPr sz="1500">
                <a:solidFill>
                  <a:srgbClr val="D0D9EA"/>
                </a:solidFill>
                <a:latin typeface="Open Sans"/>
              </a:rPr>
              <a:t> - a defensible English read in minutes, at any scale.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5391D5"/>
                </a:solidFill>
                <a:latin typeface="Open Sans"/>
              </a:rPr>
              <a:t>•   Consistent</a:t>
            </a:r>
            <a:r>
              <a:rPr sz="1500">
                <a:solidFill>
                  <a:srgbClr val="D0D9EA"/>
                </a:solidFill>
                <a:latin typeface="Open Sans"/>
              </a:rPr>
              <a:t> - the same rubric every time; no rater drift.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5391D5"/>
                </a:solidFill>
                <a:latin typeface="Open Sans"/>
              </a:rPr>
              <a:t>•   Bilingual &amp; GCC-built</a:t>
            </a:r>
            <a:r>
              <a:rPr sz="1500">
                <a:solidFill>
                  <a:srgbClr val="D0D9EA"/>
                </a:solidFill>
                <a:latin typeface="Open Sans"/>
              </a:rPr>
              <a:t> - English / Arabic, tuned for banking and government.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5391D5"/>
                </a:solidFill>
                <a:latin typeface="Open Sans"/>
              </a:rPr>
              <a:t>•   Honest &amp; defensible</a:t>
            </a:r>
            <a:r>
              <a:rPr sz="1500">
                <a:solidFill>
                  <a:srgbClr val="D0D9EA"/>
                </a:solidFill>
                <a:latin typeface="Open Sans"/>
              </a:rPr>
              <a:t> - indicative, human-calibrated, transparently positioned.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6235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99700"/>
                </a:solidFill>
                <a:latin typeface="Open Sans"/>
              </a:rPr>
              <a:t>Next step: run a pilot cohort, or integrate Fluent into your hiring funnel.</a:t>
            </a:r>
          </a:p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400"/>
              </a:spcAft>
            </a:pPr>
            <a:r>
              <a:rPr sz="1050" b="0" i="0">
                <a:solidFill>
                  <a:srgbClr val="8A92B0"/>
                </a:solidFill>
                <a:latin typeface="Open Sans"/>
              </a:rPr>
              <a:t>Virginia Institute of Finance and Management  ·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