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0"/>
            <a:ext cx="2103120" cy="1828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320040"/>
            <a:ext cx="502920" cy="5029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731520"/>
            <a:ext cx="292608" cy="292608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Talent Intelligence Platform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MANUAL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DFF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fast, four-skill English placement — indicative level and feedback in minutes.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320040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Virginia Institute of Finance and Management  ·  Talent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0"/>
            <a:ext cx="128016" cy="3017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0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3803904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English Placement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43000" y="1554480"/>
            <a:ext cx="7498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self-served English placement test that measures four CEFR-aligned skills — reading, listening, writing and speaking. Reading and listening are auto-scored multiple choice; writing and speaking are scored by AI against a CEFR rubric. It returns an indicative level (A1–C2) and feedback in minutes. Positioned honestly as indicative placement, not a certified high-stakes score.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03320"/>
            <a:ext cx="7498080" cy="5029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skills  ·  CEFR A1–C2  ·  indicative placement, not certification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The four skills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Fluent measures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247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Auto-scored multiple-choice comprehension.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933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828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Listening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95681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82880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 prompts (text-to-speech) with multiple-choice questions.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69748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8620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6974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82549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69748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short written response, AI-scored against a CEFR rubric.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356616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56616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373075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56616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Speaking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03320" y="369417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56616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spoken response — recorded, transcribed, then AI-scored.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The test flow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start to certificate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33856" y="2075688"/>
            <a:ext cx="6876288" cy="548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25603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292608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Optionally enter a name.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15184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57400" y="25603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&amp; Listen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57400" y="292608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Auto-scored MCQs.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6110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425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76472" y="25603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76472" y="292608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short response.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0176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95544" y="25603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95544" y="292608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 by microphone.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99248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14616" y="25603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14616" y="292608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Indicative CEFR level.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Key concepts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vocabulary you will 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6126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5613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561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CEFR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3566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A1–C2 scale Fluent reports against, per skill and overall.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691640"/>
            <a:ext cx="8595360" cy="612648"/>
          </a:xfrm>
          <a:prstGeom prst="roundRect">
            <a:avLst>
              <a:gd name="adj" fmla="val 11940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691640"/>
            <a:ext cx="73152" cy="6126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78765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7876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691640"/>
            <a:ext cx="26517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819656"/>
            <a:ext cx="36576" cy="3566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691640"/>
            <a:ext cx="4892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development-grade signal — not a certified, high-stakes score.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423160"/>
            <a:ext cx="8595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423160"/>
            <a:ext cx="73152" cy="6126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519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519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423160"/>
            <a:ext cx="26517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Server-side key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551176"/>
            <a:ext cx="36576" cy="3566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423160"/>
            <a:ext cx="4892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answer key never reaches the browser; grading happens on the server.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3154680"/>
            <a:ext cx="8595360" cy="612648"/>
          </a:xfrm>
          <a:prstGeom prst="roundRect">
            <a:avLst>
              <a:gd name="adj" fmla="val 11940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154680"/>
            <a:ext cx="73152" cy="6126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32506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2506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154680"/>
            <a:ext cx="26517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03320" y="3282696"/>
            <a:ext cx="36576" cy="3566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154680"/>
            <a:ext cx="4892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Humans re-rate writing/speaking to keep the AI scoring aligned (QWK).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56032" y="3886200"/>
            <a:ext cx="8595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886200"/>
            <a:ext cx="73152" cy="6126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39822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9822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" y="3886200"/>
            <a:ext cx="26517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Credential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03320" y="4014216"/>
            <a:ext cx="36576" cy="3566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3886200"/>
            <a:ext cx="4892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verifiable fluent_cefr certificate is issued on completion.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1 ]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Test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 test-taker does.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Taker · the steps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to take Fluent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84809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84809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9875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· Open the 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9875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Anonymous by default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1280160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Fluent; optionally enter your name and email.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63040" y="1553566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658722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658722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747418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74741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175016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· Reading &amp; listening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175016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Auto-scored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2042770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 the multiple-choice questions; audio plays for listening.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63040" y="2316175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421331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421331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510028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100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512771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· Writing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512771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AI-scored to a CEFR rubric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7280" y="2805379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 a short response to the prompt.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63040" y="3078785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183941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183941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272638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7263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3275381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· Speaking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3275381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Transcribed, then scored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7280" y="3567989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Allow the microphone and record your spoken answer.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463040" y="3841394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3946550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3946550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035247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3524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7280" y="403799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· Get your result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715000" y="403799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fluent_cefr credential issued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4330598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your indicative CEFR level and download the certificate.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0"/>
            <a:ext cx="128016" cy="3017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0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3803904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READING THE RESULT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CEFR scale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43000" y="1554480"/>
            <a:ext cx="7498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reports each skill and an overall level on the Common European Framework: A1 and A2 (basic user), B1 and B2 (independent user), and C1 and C2 (proficient user). The result is indicative — a fast, defensible starting point for placement and development planning, not a certificate of record.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03320"/>
            <a:ext cx="7498080" cy="5029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A1 · A2  →  B1 · B2  →  C1 · C2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2 ]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Run, review and calibrate.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D0DFF4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Admin · run &amp; review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it for a cohort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201168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→ Fluent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539496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50292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Self-served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the link; anyone can take it anonymously.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399032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1362456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for a candidate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 it for a named candidate so it lands on their record.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258568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221992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Cohort report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level distributions and per-skill breakdowns across a group.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3118104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3081528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Certificate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completed test yields a downloadable CEFR certificate.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Admin · quality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Calibration &amp; integrity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247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Calibration console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human re-rates writing and speaking; agreement with the AI (QWK) is tracked per skill.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933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828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Server-side grading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95681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82880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full test and answer key are held server-side — never sent to the browser.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69748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8620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6974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Integrity flags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82549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69748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Tab-blur and paste counts are surfaced to admins as advisory signals — never auto-fail.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Best practice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Tips for good placements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96112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097280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Quiet room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Speaking needs a clear microphone.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36008" y="896112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896112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097280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94376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 for records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for a candidate to keep results.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249424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49424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450592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Calibrate regularly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Re-rate samples to keep QWK ≥ 0.70.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36008" y="2249424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6008" y="2249424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450592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94376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flags in context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18888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Integrity flags inform, never decide.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02736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02736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3803904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8408" y="3803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Don't rush writing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2611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fuller response scores more accurately.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36008" y="3602736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36008" y="3602736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803904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TK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94376" y="3803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Speak naturally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18888" y="42611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Aim for clear, connected speech.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126480" y="0"/>
            <a:ext cx="91440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572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Getting started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Place your first taker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 starts from the Fluent workspace.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06324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63240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→ Fluent  —  open the runner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630168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630168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01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→ Cohort report  —  see distributions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4197096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197096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970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→ Calibration  —  re-rate &amp; track QWK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Fluent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VIFM Fluent — User Manual</dc:title>
  <dc:subject>PptxGenJS Presentation</dc:subject>
  <dc:creator>Virginia Institute of Finance and Management</dc:creator>
  <cp:lastModifiedBy>Virginia Institute of Finance and Management</cp:lastModifiedBy>
  <cp:revision>1</cp:revision>
  <dcterms:created xsi:type="dcterms:W3CDTF">2026-05-30T19:14:02Z</dcterms:created>
  <dcterms:modified xsi:type="dcterms:W3CDTF">2026-05-30T19:14:02Z</dcterms:modified>
</cp:coreProperties>
</file>