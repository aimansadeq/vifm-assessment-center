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0"/>
            <a:ext cx="2103120" cy="1828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320040"/>
            <a:ext cx="502920" cy="50292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731520"/>
            <a:ext cx="292608" cy="292608"/>
          </a:xfrm>
          <a:prstGeom prst="ellipse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Talent Intelligence Platform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MANUAL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DFF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eight-pillar AI-readiness diagnostic, calibrated to UAE and Saudi frameworks.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297680"/>
            <a:ext cx="320040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Virginia Institute of Finance and Management  ·  AR Compass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0"/>
            <a:ext cx="128016" cy="3017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0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3803904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4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640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(AR Compass)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143000" y="1554480"/>
            <a:ext cx="749808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consultant-led diagnostic of an organisation's readiness to adopt AI, scored across eight pillars and calibrated to UAE and Saudi regulatory frameworks. Respondents answer pillar questions; the engine returns a 1–5 maturity level per pillar with distortion checks, peer benchmarks and year-on-year comparison. Deliverables are board-ready, bilingual English/Arabic PDF reports.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3703320"/>
            <a:ext cx="7498080" cy="5029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7673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pillars  ·  UAE &amp; Saudi frameworks  ·  bilingual board-ready reports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The eight pillars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AR Compass measures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338328"/>
          </a:xfrm>
          <a:prstGeom prst="roundRect">
            <a:avLst>
              <a:gd name="adj" fmla="val 2162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3383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9189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89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822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Vision, sponsorship and a funded AI roadmap.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417320"/>
            <a:ext cx="8595360" cy="338328"/>
          </a:xfrm>
          <a:prstGeom prst="roundRect">
            <a:avLst>
              <a:gd name="adj" fmla="val 2162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417320"/>
            <a:ext cx="73152" cy="3383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3761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3761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41732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545336"/>
            <a:ext cx="36576" cy="822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417320"/>
            <a:ext cx="4892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quality, access and management for AI.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1874520"/>
            <a:ext cx="8595360" cy="338328"/>
          </a:xfrm>
          <a:prstGeom prst="roundRect">
            <a:avLst>
              <a:gd name="adj" fmla="val 2162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1874520"/>
            <a:ext cx="73152" cy="3383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18333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18333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187452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002536"/>
            <a:ext cx="36576" cy="822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1874520"/>
            <a:ext cx="4892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Platforms, tooling and infrastructure.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6032" y="2331720"/>
            <a:ext cx="8595360" cy="338328"/>
          </a:xfrm>
          <a:prstGeom prst="roundRect">
            <a:avLst>
              <a:gd name="adj" fmla="val 2162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331720"/>
            <a:ext cx="73152" cy="3383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22905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2905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233172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Talent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03320" y="2459736"/>
            <a:ext cx="36576" cy="822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2331720"/>
            <a:ext cx="4892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Skills, roles and capability to deliver.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56032" y="2788920"/>
            <a:ext cx="8595360" cy="338328"/>
          </a:xfrm>
          <a:prstGeom prst="roundRect">
            <a:avLst>
              <a:gd name="adj" fmla="val 2162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2788920"/>
            <a:ext cx="73152" cy="3383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27477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27477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7552" y="278892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Culture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03320" y="2916936"/>
            <a:ext cx="36576" cy="822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58768" y="2788920"/>
            <a:ext cx="4892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Adoption, change-readiness and trust.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56032" y="3246120"/>
            <a:ext cx="8595360" cy="338328"/>
          </a:xfrm>
          <a:prstGeom prst="roundRect">
            <a:avLst>
              <a:gd name="adj" fmla="val 2162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6032" y="3246120"/>
            <a:ext cx="73152" cy="3383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8912" y="32049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32049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87552" y="324612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703320" y="3374136"/>
            <a:ext cx="36576" cy="822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58768" y="3246120"/>
            <a:ext cx="4892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Policies, risk and responsible-AI controls.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56032" y="3703320"/>
            <a:ext cx="8595360" cy="338328"/>
          </a:xfrm>
          <a:prstGeom prst="roundRect">
            <a:avLst>
              <a:gd name="adj" fmla="val 2162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56032" y="3703320"/>
            <a:ext cx="73152" cy="3383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8912" y="36621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36621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87552" y="370332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703320" y="3831336"/>
            <a:ext cx="36576" cy="822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58768" y="3703320"/>
            <a:ext cx="4892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Embedding AI into day-to-day processes.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256032" y="4160520"/>
            <a:ext cx="8595360" cy="338328"/>
          </a:xfrm>
          <a:prstGeom prst="roundRect">
            <a:avLst>
              <a:gd name="adj" fmla="val 2162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56032" y="4160520"/>
            <a:ext cx="73152" cy="3383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8912" y="41193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" y="41193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87552" y="4160520"/>
            <a:ext cx="2651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mgmt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3703320" y="4288536"/>
            <a:ext cx="36576" cy="822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58768" y="4160520"/>
            <a:ext cx="4892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Lifecycle, monitoring and model control.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Engagement stages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tiers of scope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2471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pillars — data, talent, culture, operations. Doubles as a sales sample.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8288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82880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99339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8288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95681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82880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Six pillars — adds strategy and governance.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69748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69748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8620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6974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82549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69748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eight pillars across the organisation.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The assessment flow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scope to report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33856" y="2075688"/>
            <a:ext cx="6876288" cy="5486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256032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292608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 stage &amp; pillars.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42032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15184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57400" y="256032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Invite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57400" y="292608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respondents.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6110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425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76472" y="256032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76472" y="292608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answer online.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0176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3328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0176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95544" y="256032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95544" y="292608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1–5 per pillar.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99248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9248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14616" y="256032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14616" y="2926080"/>
            <a:ext cx="15910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Bilingual PDF.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Key concepts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vocabulary you will use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612648"/>
          </a:xfrm>
          <a:prstGeom prst="roundRect">
            <a:avLst>
              <a:gd name="adj" fmla="val 11940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61264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05613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561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Maturity level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3566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1–5 score per pillar, from the respondents' answers.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691640"/>
            <a:ext cx="8595360" cy="612648"/>
          </a:xfrm>
          <a:prstGeom prst="roundRect">
            <a:avLst>
              <a:gd name="adj" fmla="val 11940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691640"/>
            <a:ext cx="73152" cy="61264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78765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7876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691640"/>
            <a:ext cx="26517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Distortion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819656"/>
            <a:ext cx="36576" cy="3566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691640"/>
            <a:ext cx="4892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Checks that flag inconsistent or over-positive responding.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423160"/>
            <a:ext cx="8595360" cy="612648"/>
          </a:xfrm>
          <a:prstGeom prst="roundRect">
            <a:avLst>
              <a:gd name="adj" fmla="val 11940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423160"/>
            <a:ext cx="73152" cy="61264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5191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5191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423160"/>
            <a:ext cx="26517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Peer benchmark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551176"/>
            <a:ext cx="36576" cy="3566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423160"/>
            <a:ext cx="4892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the organisation compares to similar respondents.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6032" y="3154680"/>
            <a:ext cx="8595360" cy="612648"/>
          </a:xfrm>
          <a:prstGeom prst="roundRect">
            <a:avLst>
              <a:gd name="adj" fmla="val 11940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154680"/>
            <a:ext cx="73152" cy="61264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325069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2506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3154680"/>
            <a:ext cx="26517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Year-on-year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03320" y="3282696"/>
            <a:ext cx="36576" cy="3566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154680"/>
            <a:ext cx="4892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reassessment shows progress against the prior run.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56032" y="3886200"/>
            <a:ext cx="8595360" cy="612648"/>
          </a:xfrm>
          <a:prstGeom prst="roundRect">
            <a:avLst>
              <a:gd name="adj" fmla="val 11940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886200"/>
            <a:ext cx="73152" cy="61264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398221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9822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7552" y="3886200"/>
            <a:ext cx="265176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Pillars in scope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03320" y="4014216"/>
            <a:ext cx="36576" cy="3566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58768" y="3886200"/>
            <a:ext cx="489204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stage sets which pillars are scored — a consultant can override.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200400" y="0"/>
            <a:ext cx="612648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3383280" y="0"/>
            <a:ext cx="5943600" cy="5143500"/>
          </a:xfrm>
          <a:prstGeom prst="rtTriangl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Part 1 ]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and deliver an assessment.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Consultant · create an assessment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up an organisational diagnostic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80135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80135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9875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· Organisation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9875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→ Consultant → New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1280160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 the organisation, region and sector.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63040" y="1744218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849374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1849374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033397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33397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194081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· Stage &amp; pillars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194081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 · Division · Enterprise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" y="2233422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the tier and the pillars in scope.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63040" y="2697480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802636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802636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86659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86659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289407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· Weights &amp; layers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289407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Agentic &amp; individual layers optional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97280" y="3186684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Optionally tune pillar weights and opt-in extra layers.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63040" y="3650742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755898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755898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39921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3992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384733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· Respondents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15000" y="384733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Invitations emailed automatically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97280" y="4139946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respondents; each gets a private access link.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D0DFF4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Consultant · deliverables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bilingual report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201168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→ Assessments → [id]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539496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502920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Board-ready PDF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English, Arabic or side-by-side bilingual.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399032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1362456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Eight deep-dives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maturity read and gaps per pillar in scope.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258568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2221992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Benchmarks &amp; YoY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peer comparison and progress over time.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3118104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3081528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Consultant-controlled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are never auto-sent — you decide delivery.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200400" y="0"/>
            <a:ext cx="612648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3383280" y="0"/>
            <a:ext cx="5943600" cy="5143500"/>
          </a:xfrm>
          <a:prstGeom prst="rtTriangl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Part 2 ]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Readiness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 AI readiness, four factors.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The four factors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 AI readiness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2471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Sense-Check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Critically evaluating AI output and spotting hallucinations.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8288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82880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99339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8288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Working Practice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95681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82880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Productive hands-on use, prompt-craft and workflow integration.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69748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69748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8620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6974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Collaboration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82549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69748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Leading and supporting team adoption and shared norms.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6032" y="356616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56616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373075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730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356616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Adaptive Mindset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03320" y="369417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56616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Curiosity, openness to relearning and a responsible posture.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Three modes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individuals take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2471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Free snapshot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24-item self-served snapshot — anonymous, no account.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8288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82880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99339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8288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Paid deep-dive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95681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82880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48-item consultant-issued deep-dive.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69748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69748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8620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6974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 layer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82549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69748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individual layer alongside an organisational engagement.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200400" y="0"/>
            <a:ext cx="612648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3383280" y="0"/>
            <a:ext cx="5943600" cy="5143500"/>
          </a:xfrm>
          <a:prstGeom prst="rtTriangl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Part 3 ]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Administrators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Curate the bank and regulatory content.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D0DFF4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Admin · governance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bank &amp; content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201168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→ Admin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539496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502920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bank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versioned, bilingual — one active version at a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399032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1362456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Regulatory engine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UAE &amp; Saudi frameworks, isolated per region.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258568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2221992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 upload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extracts requirements from regulatory PDFs.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3118104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3081528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Retention &amp; sandbox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scheduled purge plus a manual sandbox clean-up.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Best practice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Tips for a credible diagnostic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96112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097280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1097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Right-size the 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Match the stage to the client's ambition.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36008" y="896112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896112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097280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94376" y="1097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Invite enough voices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8888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More respondents, more reliable levels.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249424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249424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2450592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distortion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2907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Over-positive patterns warrant a follow-up.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36008" y="2249424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36008" y="2249424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450592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94376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 delivery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18888" y="2907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Reports go out when you say so.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02736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02736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" y="3803904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8408" y="38039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Keep regions isolated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2611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UAE and Saudi frameworks never mix.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36008" y="3602736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36008" y="3602736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803904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94376" y="38039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Pin one bank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18888" y="42611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Keep a single active question version.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6126480" y="0"/>
            <a:ext cx="91440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572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Getting started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your first diagnostic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 starts from the Consultant workspace.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306324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063240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→ Consultant → New  —  create an assessment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630168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630168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301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Assessments → [id]  —  rollups &amp; the bilingual report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4197096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4197096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970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→ Personal  —  the individual snapshot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Readiness  ·  User Manual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VIFM AI Readiness — User Manual</dc:title>
  <dc:subject>PptxGenJS Presentation</dc:subject>
  <dc:creator>Virginia Institute of Finance and Management</dc:creator>
  <cp:lastModifiedBy>Virginia Institute of Finance and Management</cp:lastModifiedBy>
  <cp:revision>1</cp:revision>
  <dcterms:created xsi:type="dcterms:W3CDTF">2026-05-30T19:14:02Z</dcterms:created>
  <dcterms:modified xsi:type="dcterms:W3CDTF">2026-05-30T19:14:02Z</dcterms:modified>
</cp:coreProperties>
</file>