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0"/>
            <a:ext cx="2103120" cy="1828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52360" y="320040"/>
            <a:ext cx="502920" cy="50292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731520"/>
            <a:ext cx="292608" cy="292608"/>
          </a:xfrm>
          <a:prstGeom prst="ellipse">
            <a:avLst/>
          </a:prstGeom>
          <a:solidFill>
            <a:srgbClr val="A8C4E5"/>
          </a:solidFill>
          <a:ln w="12700">
            <a:solidFill>
              <a:srgbClr val="A8C4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57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1208" y="868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Talent Intelligence Platform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MANUAL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Technical Assessment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02920" y="36118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0DFF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Measure technical proficiency per finance domain — honestly, from indicative to certified.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4297680"/>
            <a:ext cx="3200400" cy="457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Virginia Institute of Finance and Management  ·  Talent Intelligence Platform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914400"/>
            <a:ext cx="128016" cy="30175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914400"/>
            <a:ext cx="731520" cy="12801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3803904"/>
            <a:ext cx="731520" cy="12801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74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IT 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" y="6400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Technical Assessment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1143000" y="1554480"/>
            <a:ext cx="7498080" cy="457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737360"/>
            <a:ext cx="7498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per-domain test of technical proficiency across ten finance domains — finance, investment, treasury, accounting, banking, analytics, business intelligence, artificial intelligence, business reporting and real estate. It is the third capability pillar alongside the behavioural 38 and Fluent's language skills. The result is a 1–5 proficiency band; where the domain's item bank is mature, it can issue a verifiable credential.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43000" y="3703320"/>
            <a:ext cx="7498080" cy="5029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3767328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finance domains  ·  an indicative 1–5 band, certified where the bank allows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Technical Assessment  ·  User Manual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Two honest modes ]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Indicative vs Certified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6012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12471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1247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96012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Indicative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03320" y="1088136"/>
            <a:ext cx="36576" cy="4937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58768" y="96012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 AI-authored items, no human review. Renders a 1–5 band but issues no credential — the honest fallback.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6032" y="182880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182880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199339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9933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7552" y="182880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Certified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03320" y="1956816"/>
            <a:ext cx="36576" cy="4937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58768" y="182880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Assembled only from SME-approved bank items; clearing the cut-score issues a verifiable technical_proficiency credential.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Technical Assessment  ·  User Manual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The certification pipeline ]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2926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item bank to credential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90600" y="2075688"/>
            <a:ext cx="7162800" cy="5486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9704" y="1792224"/>
            <a:ext cx="621792" cy="621792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2856" y="186537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9704" y="17922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" y="2560320"/>
            <a:ext cx="1304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Item bank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" y="2926080"/>
            <a:ext cx="13045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Draft candidate items.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12264" y="1792224"/>
            <a:ext cx="621792" cy="621792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85416" y="186537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12264" y="17922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70888" y="2560320"/>
            <a:ext cx="1304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SME review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70888" y="2926080"/>
            <a:ext cx="13045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Approve the good ones.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44824" y="1792224"/>
            <a:ext cx="621792" cy="621792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17976" y="186537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4824" y="17922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03448" y="2560320"/>
            <a:ext cx="1304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Cut-scores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3448" y="2926080"/>
            <a:ext cx="13045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 the pass standard.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77384" y="1792224"/>
            <a:ext cx="621792" cy="621792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50536" y="186537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77384" y="17922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36008" y="2560320"/>
            <a:ext cx="1304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Certifiable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36008" y="2926080"/>
            <a:ext cx="13045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Enough approved items.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9944" y="1792224"/>
            <a:ext cx="621792" cy="621792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83096" y="186537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9944" y="17922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068568" y="2560320"/>
            <a:ext cx="1304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68568" y="2926080"/>
            <a:ext cx="13045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Candidates sit the test.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842504" y="1792224"/>
            <a:ext cx="621792" cy="621792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15656" y="186537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42504" y="17922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501128" y="2560320"/>
            <a:ext cx="1304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Credentials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501128" y="2926080"/>
            <a:ext cx="13045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Issued on a pass.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Technical Assessment  ·  User Manual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Key concepts ]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vocabulary you will use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595360" cy="490728"/>
          </a:xfrm>
          <a:prstGeom prst="roundRect">
            <a:avLst>
              <a:gd name="adj" fmla="val 14907"/>
            </a:avLst>
          </a:prstGeom>
          <a:solidFill>
            <a:srgbClr val="FFFFFF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60120"/>
            <a:ext cx="73152" cy="49072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9951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951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960120"/>
            <a:ext cx="265176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Domain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03320" y="1088136"/>
            <a:ext cx="36576" cy="23469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58768" y="960120"/>
            <a:ext cx="489204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 of the ten finance areas, each with five skills.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6032" y="1569720"/>
            <a:ext cx="8595360" cy="490728"/>
          </a:xfrm>
          <a:prstGeom prst="roundRect">
            <a:avLst>
              <a:gd name="adj" fmla="val 14907"/>
            </a:avLst>
          </a:prstGeom>
          <a:solidFill>
            <a:srgbClr val="D0DFF4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1569720"/>
            <a:ext cx="73152" cy="49072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16047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6047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7552" y="1569720"/>
            <a:ext cx="265176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Indicative band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03320" y="1697736"/>
            <a:ext cx="36576" cy="23469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58768" y="1569720"/>
            <a:ext cx="489204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1–5 proficiency level: Awareness → Foundational → Working → Proficient → Expert.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6032" y="2179320"/>
            <a:ext cx="8595360" cy="490728"/>
          </a:xfrm>
          <a:prstGeom prst="roundRect">
            <a:avLst>
              <a:gd name="adj" fmla="val 14907"/>
            </a:avLst>
          </a:prstGeom>
          <a:solidFill>
            <a:srgbClr val="FFFFFF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179320"/>
            <a:ext cx="73152" cy="49072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22143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2143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" y="2179320"/>
            <a:ext cx="265176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Item bank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703320" y="2307336"/>
            <a:ext cx="36576" cy="23469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58768" y="2179320"/>
            <a:ext cx="489204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SME-reviewed questions; only 'approved' items can certify.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56032" y="2788920"/>
            <a:ext cx="8595360" cy="490728"/>
          </a:xfrm>
          <a:prstGeom prst="roundRect">
            <a:avLst>
              <a:gd name="adj" fmla="val 14907"/>
            </a:avLst>
          </a:prstGeom>
          <a:solidFill>
            <a:srgbClr val="D0DFF4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2788920"/>
            <a:ext cx="73152" cy="49072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" y="28239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28239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87552" y="2788920"/>
            <a:ext cx="265176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Cut-score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703320" y="2916936"/>
            <a:ext cx="36576" cy="23469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58768" y="2788920"/>
            <a:ext cx="489204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documented pass mark and minimum item count per domain.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56032" y="3398520"/>
            <a:ext cx="8595360" cy="490728"/>
          </a:xfrm>
          <a:prstGeom prst="roundRect">
            <a:avLst>
              <a:gd name="adj" fmla="val 14907"/>
            </a:avLst>
          </a:prstGeom>
          <a:solidFill>
            <a:srgbClr val="FFFFFF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" y="3398520"/>
            <a:ext cx="73152" cy="49072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" y="34335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34335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87552" y="3398520"/>
            <a:ext cx="265176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Credential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703320" y="3526536"/>
            <a:ext cx="36576" cy="23469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58768" y="3398520"/>
            <a:ext cx="489204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verifiable technical_proficiency certificate, issued on a certified pass.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256032" y="4008120"/>
            <a:ext cx="8595360" cy="490728"/>
          </a:xfrm>
          <a:prstGeom prst="roundRect">
            <a:avLst>
              <a:gd name="adj" fmla="val 14907"/>
            </a:avLst>
          </a:prstGeom>
          <a:solidFill>
            <a:srgbClr val="D0DFF4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56032" y="4008120"/>
            <a:ext cx="73152" cy="49072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8912" y="40431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" y="40431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87552" y="4008120"/>
            <a:ext cx="265176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Behavioural bridge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703320" y="4136136"/>
            <a:ext cx="36576" cy="23469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58768" y="4008120"/>
            <a:ext cx="489204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domain 'enables' specific behavioural competencies of the AC 38.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Technical Assessment  ·  User Manual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3200400" y="0"/>
            <a:ext cx="6126480" cy="5143500"/>
          </a:xfrm>
          <a:prstGeom prst="rtTriangl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3383280" y="0"/>
            <a:ext cx="5943600" cy="5143500"/>
          </a:xfrm>
          <a:prstGeom prst="rtTriangl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Part 1 ]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Taking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Test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" y="32004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a taker does.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0" y="246888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9200" dirty="0"/>
          </a:p>
        </p:txBody>
      </p:sp>
      <p:sp>
        <p:nvSpPr>
          <p:cNvPr id="10" name="Text 8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Technical Assessment  ·  User Manual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Taker · the steps ]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2926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to take the assessment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8595360" cy="843534"/>
          </a:xfrm>
          <a:prstGeom prst="roundRect">
            <a:avLst>
              <a:gd name="adj" fmla="val 8672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896112"/>
            <a:ext cx="73152" cy="84353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80135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80135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9875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· Choose a domain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15000" y="98755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 → Technical → Take assessment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97280" y="1280160"/>
            <a:ext cx="7589520" cy="3863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Pick the finance domain you want to be assessed in.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463040" y="1744218"/>
            <a:ext cx="365760" cy="100584"/>
          </a:xfrm>
          <a:prstGeom prst="downArrow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1849374"/>
            <a:ext cx="8595360" cy="843534"/>
          </a:xfrm>
          <a:prstGeom prst="roundRect">
            <a:avLst>
              <a:gd name="adj" fmla="val 8672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1849374"/>
            <a:ext cx="73152" cy="84353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033397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033397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194081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· Answer the items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15000" y="1940814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Answer key stays server-side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97280" y="2233422"/>
            <a:ext cx="7589520" cy="3863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 through the multiple-choice questions for that domain.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463040" y="2697480"/>
            <a:ext cx="365760" cy="100584"/>
          </a:xfrm>
          <a:prstGeom prst="downArrow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2802636"/>
            <a:ext cx="8595360" cy="843534"/>
          </a:xfrm>
          <a:prstGeom prst="roundRect">
            <a:avLst>
              <a:gd name="adj" fmla="val 8672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2802636"/>
            <a:ext cx="73152" cy="84353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986659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986659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289407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· See your band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15000" y="2894076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Awareness → Expert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97280" y="3186684"/>
            <a:ext cx="7589520" cy="3863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Get an indicative 1–5 proficiency level with a per-skill breakdown.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463040" y="3650742"/>
            <a:ext cx="365760" cy="100584"/>
          </a:xfrm>
          <a:prstGeom prst="downArrow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755898"/>
            <a:ext cx="8595360" cy="843534"/>
          </a:xfrm>
          <a:prstGeom prst="roundRect">
            <a:avLst>
              <a:gd name="adj" fmla="val 8672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755898"/>
            <a:ext cx="73152" cy="84353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939921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939921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97280" y="384733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· Earn a credential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715000" y="384733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Otherwise: indicative only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97280" y="4139946"/>
            <a:ext cx="7589520" cy="3863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 a certified domain, clearing the cut-score issues a verifiable credential.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Technical Assessment  ·  User Manual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914400"/>
            <a:ext cx="128016" cy="30175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914400"/>
            <a:ext cx="731520" cy="12801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3803904"/>
            <a:ext cx="731520" cy="12801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74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HONEST LINE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" y="6400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Indicative or Certified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1143000" y="1554480"/>
            <a:ext cx="7498080" cy="457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737360"/>
            <a:ext cx="7498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certified result is only issued when the test was assembled entirely from SME-approved items and the score cleared the domain's documented cut-score. Below either bar, the assessment still runs and shows the 1–5 band, but stays indicative with no credential. This keeps the credential credible and sellable — the credibility, not the test, is the product.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43000" y="3703320"/>
            <a:ext cx="7498080" cy="5029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3767328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Approved items  +  cleared cut-score  =  a credential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Technical Assessment  ·  User Manual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3200400" y="0"/>
            <a:ext cx="6126480" cy="5143500"/>
          </a:xfrm>
          <a:prstGeom prst="rtTriangl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3383280" y="0"/>
            <a:ext cx="5943600" cy="5143500"/>
          </a:xfrm>
          <a:prstGeom prst="rtTriangl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Part 2 ]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SMEs &amp;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Administrators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" y="32004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a certifiable bank.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0" y="246888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9200" dirty="0"/>
          </a:p>
        </p:txBody>
      </p:sp>
      <p:sp>
        <p:nvSpPr>
          <p:cNvPr id="10" name="Text 8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Technical Assessment  ·  User Manual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SME · build the bank ]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2926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Make a domain certifiable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8595360" cy="843534"/>
          </a:xfrm>
          <a:prstGeom prst="roundRect">
            <a:avLst>
              <a:gd name="adj" fmla="val 8672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896112"/>
            <a:ext cx="73152" cy="84353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80135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80135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9875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· Draft items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15000" y="98755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 → Technical → Item review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97280" y="1280160"/>
            <a:ext cx="7589520" cy="3863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 candidate items with AI into the bank as drafts.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463040" y="1744218"/>
            <a:ext cx="365760" cy="100584"/>
          </a:xfrm>
          <a:prstGeom prst="downArrow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1849374"/>
            <a:ext cx="8595360" cy="843534"/>
          </a:xfrm>
          <a:prstGeom prst="roundRect">
            <a:avLst>
              <a:gd name="adj" fmla="val 8672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1849374"/>
            <a:ext cx="73152" cy="84353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033397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033397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194081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· Review &amp; approve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15000" y="1940814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Human approval is required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97280" y="2233422"/>
            <a:ext cx="7589520" cy="3863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Edit and approve each item; reject or retire the rest.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463040" y="2697480"/>
            <a:ext cx="365760" cy="100584"/>
          </a:xfrm>
          <a:prstGeom prst="downArrow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2802636"/>
            <a:ext cx="8595360" cy="843534"/>
          </a:xfrm>
          <a:prstGeom prst="roundRect">
            <a:avLst>
              <a:gd name="adj" fmla="val 8672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2802636"/>
            <a:ext cx="73152" cy="84353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986659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986659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289407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· Set the cut-score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15000" y="2894076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defensibility record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97280" y="3186684"/>
            <a:ext cx="7589520" cy="3863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 the pass mark, minimum items, method and rationale.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463040" y="3650742"/>
            <a:ext cx="365760" cy="100584"/>
          </a:xfrm>
          <a:prstGeom prst="downArrow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755898"/>
            <a:ext cx="8595360" cy="843534"/>
          </a:xfrm>
          <a:prstGeom prst="roundRect">
            <a:avLst>
              <a:gd name="adj" fmla="val 8672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755898"/>
            <a:ext cx="73152" cy="84353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939921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939921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97280" y="384733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· Tune the bridge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715000" y="384733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Optional, per domain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97280" y="4139946"/>
            <a:ext cx="7589520" cy="3863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 which behavioural competencies the domain enables.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Technical Assessment  ·  User Manual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669280" cy="5143500"/>
          </a:xfrm>
          <a:prstGeom prst="rect">
            <a:avLst/>
          </a:prstGeom>
          <a:solidFill>
            <a:srgbClr val="D0DFF4"/>
          </a:solidFill>
          <a:ln w="12700">
            <a:solidFill>
              <a:srgbClr val="D0DF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Admin · the command view ]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Track the pipeline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320040" y="2514600"/>
            <a:ext cx="2011680" cy="365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6517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 → Technical → Overview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539496"/>
            <a:ext cx="54864" cy="69494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13632" y="502920"/>
            <a:ext cx="4937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Command dashboard  </a:t>
            </a:r>
            <a:pPr indent="0" marL="0">
              <a:buNone/>
            </a:pPr>
            <a:r>
              <a:rPr lang="en-US" sz="12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certification pipeline as a cycle, with a readiness hub %.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49040" y="1399032"/>
            <a:ext cx="54864" cy="69494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13632" y="1362456"/>
            <a:ext cx="4937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Per-domain table  </a:t>
            </a:r>
            <a:pPr indent="0" marL="0">
              <a:buNone/>
            </a:pPr>
            <a:r>
              <a:rPr lang="en-US" sz="12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approved items, certifiable status, assessments and credentials.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49040" y="2258568"/>
            <a:ext cx="54864" cy="69494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13632" y="2221992"/>
            <a:ext cx="4937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Item-review console  </a:t>
            </a:r>
            <a:pPr indent="0" marL="0">
              <a:buNone/>
            </a:pPr>
            <a:r>
              <a:rPr lang="en-US" sz="12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draft, approve, set cut-scores and edit the bridge.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49040" y="3118104"/>
            <a:ext cx="54864" cy="69494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13632" y="3081528"/>
            <a:ext cx="4937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Bank readiness  </a:t>
            </a:r>
            <a:pPr indent="0" marL="0">
              <a:buNone/>
            </a:pPr>
            <a:r>
              <a:rPr lang="en-US" sz="12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see at a glance which domains can certify.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Technical Assessment  ·  User Manual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914400"/>
            <a:ext cx="128016" cy="30175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914400"/>
            <a:ext cx="731520" cy="12801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3803904"/>
            <a:ext cx="731520" cy="12801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74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GOLDEN THREAD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" y="6400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behavioural bridge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1143000" y="1554480"/>
            <a:ext cx="7498080" cy="457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737360"/>
            <a:ext cx="7498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measured technical result does not stay siloed. Each domain declares which of the behavioural 38 competencies it enables — Finance, for example, enables Financial Acumen, Analytical Reasoning and Decision Quality. A measured domain then surfaces as an 'enables' chip on those competencies in the learner's skills profile, exactly like Fluent's language enablers.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43000" y="3703320"/>
            <a:ext cx="7498080" cy="5029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3767328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Technical proficiency → enables → behavioural competencies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Technical Assessment  ·  User Manual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Best practice ]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2926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Tips for credible certification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896112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96112"/>
            <a:ext cx="4114800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1097280"/>
            <a:ext cx="384048" cy="38404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78408" y="10972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Approve, don't rubber-stamp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item earns its place in the bank.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36008" y="896112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36008" y="896112"/>
            <a:ext cx="4114800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097280"/>
            <a:ext cx="384048" cy="38404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94376" y="10972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 the cut-score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18888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Method + rationale = defensible.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249424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249424"/>
            <a:ext cx="4114800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" y="2450592"/>
            <a:ext cx="384048" cy="38404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2450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8408" y="24505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Hit the floor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29077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Meet the minimum item count first.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36008" y="2249424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36008" y="2249424"/>
            <a:ext cx="4114800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2450592"/>
            <a:ext cx="384048" cy="38404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450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94376" y="24505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Watch the hub %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18888" y="29077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Readiness shows what can certify.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3602736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602736"/>
            <a:ext cx="4114800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" y="3803904"/>
            <a:ext cx="384048" cy="38404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" y="3803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78408" y="38039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 the bridge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426110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Link domains to the behavioural 38.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36008" y="3602736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36008" y="3602736"/>
            <a:ext cx="4114800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0600" y="3803904"/>
            <a:ext cx="384048" cy="38404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803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TK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94376" y="38039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Indicative still helps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818888" y="426110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band guides development, sans credential.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Technical Assessment  ·  User Manual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0"/>
            <a:ext cx="237744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6126480" y="0"/>
            <a:ext cx="914400" cy="5143500"/>
          </a:xfrm>
          <a:prstGeom prst="rtTriangl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572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Getting started 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your first certifiable domain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0040" y="21945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Everything starts from the Technical workspace.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306324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1A3A6B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3063240"/>
            <a:ext cx="64008" cy="4572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63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 → Technical → Overview  —  the command dashboard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3630168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1A3A6B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3630168"/>
            <a:ext cx="64008" cy="4572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3016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Technical → Item review  —  draft, approve, cut-scores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4197096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1A3A6B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4197096"/>
            <a:ext cx="64008" cy="4572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19709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 → Technical → Take assessment  —  sit the test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Technical Assessment  ·  User Manual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VIFM Technical Assessment — User Manual</dc:title>
  <dc:subject>PptxGenJS Presentation</dc:subject>
  <dc:creator>Virginia Institute of Finance and Management</dc:creator>
  <cp:lastModifiedBy>Virginia Institute of Finance and Management</cp:lastModifiedBy>
  <cp:revision>1</cp:revision>
  <dcterms:created xsi:type="dcterms:W3CDTF">2026-05-30T19:14:02Z</dcterms:created>
  <dcterms:modified xsi:type="dcterms:W3CDTF">2026-05-30T19:14:02Z</dcterms:modified>
</cp:coreProperties>
</file>