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10131"/>
          </a:solidFill>
          <a:ln w="12700">
            <a:solidFill>
              <a:srgbClr val="010131"/>
            </a:solidFill>
            <a:prstDash val="solid"/>
          </a:ln>
        </p:spPr>
      </p:sp>
      <p:sp>
        <p:nvSpPr>
          <p:cNvPr id="3" name="Shape 1"/>
          <p:cNvSpPr/>
          <p:nvPr/>
        </p:nvSpPr>
        <p:spPr>
          <a:xfrm>
            <a:off x="0" y="0"/>
            <a:ext cx="201168" cy="5143500"/>
          </a:xfrm>
          <a:prstGeom prst="rect">
            <a:avLst/>
          </a:prstGeom>
          <a:solidFill>
            <a:srgbClr val="5391D5"/>
          </a:solidFill>
          <a:ln w="12700">
            <a:solidFill>
              <a:srgbClr val="5391D5"/>
            </a:solidFill>
            <a:prstDash val="solid"/>
          </a:ln>
        </p:spPr>
      </p:sp>
      <p:sp>
        <p:nvSpPr>
          <p:cNvPr id="4" name="Shape 2"/>
          <p:cNvSpPr/>
          <p:nvPr/>
        </p:nvSpPr>
        <p:spPr>
          <a:xfrm>
            <a:off x="7040880" y="0"/>
            <a:ext cx="2103120" cy="1828800"/>
          </a:xfrm>
          <a:prstGeom prst="rect">
            <a:avLst/>
          </a:prstGeom>
          <a:solidFill>
            <a:srgbClr val="1A3A6B"/>
          </a:solidFill>
          <a:ln w="12700">
            <a:solidFill>
              <a:srgbClr val="1A3A6B"/>
            </a:solidFill>
            <a:prstDash val="solid"/>
          </a:ln>
        </p:spPr>
      </p:sp>
      <p:sp>
        <p:nvSpPr>
          <p:cNvPr id="5" name="Shape 3"/>
          <p:cNvSpPr/>
          <p:nvPr/>
        </p:nvSpPr>
        <p:spPr>
          <a:xfrm>
            <a:off x="7452360" y="320040"/>
            <a:ext cx="502920" cy="502920"/>
          </a:xfrm>
          <a:prstGeom prst="ellipse">
            <a:avLst/>
          </a:prstGeom>
          <a:solidFill>
            <a:srgbClr val="5391D5"/>
          </a:solidFill>
          <a:ln w="12700">
            <a:solidFill>
              <a:srgbClr val="5391D5"/>
            </a:solidFill>
            <a:prstDash val="solid"/>
          </a:ln>
        </p:spPr>
      </p:sp>
      <p:sp>
        <p:nvSpPr>
          <p:cNvPr id="6" name="Shape 4"/>
          <p:cNvSpPr/>
          <p:nvPr/>
        </p:nvSpPr>
        <p:spPr>
          <a:xfrm>
            <a:off x="8183880" y="731520"/>
            <a:ext cx="292608" cy="292608"/>
          </a:xfrm>
          <a:prstGeom prst="ellipse">
            <a:avLst/>
          </a:prstGeom>
          <a:solidFill>
            <a:srgbClr val="A8C4E5"/>
          </a:solidFill>
          <a:ln w="12700">
            <a:solidFill>
              <a:srgbClr val="A8C4E5"/>
            </a:solidFill>
            <a:prstDash val="solid"/>
          </a:ln>
        </p:spPr>
      </p:sp>
      <p:sp>
        <p:nvSpPr>
          <p:cNvPr id="7" name="Text 5"/>
          <p:cNvSpPr/>
          <p:nvPr/>
        </p:nvSpPr>
        <p:spPr>
          <a:xfrm>
            <a:off x="502920" y="457200"/>
            <a:ext cx="3657600" cy="457200"/>
          </a:xfrm>
          <a:prstGeom prst="rect">
            <a:avLst/>
          </a:prstGeom>
          <a:noFill/>
          <a:ln/>
        </p:spPr>
        <p:txBody>
          <a:bodyPr wrap="square" rtlCol="0" anchor="ctr"/>
          <a:lstStyle/>
          <a:p>
            <a:pPr indent="0" marL="0">
              <a:buNone/>
            </a:pPr>
            <a:r>
              <a:rPr lang="en-US" sz="2200" b="1" spc="200" kern="0" dirty="0">
                <a:solidFill>
                  <a:srgbClr val="FFFFFF"/>
                </a:solidFill>
                <a:latin typeface="Open Sans" pitchFamily="34" charset="0"/>
                <a:ea typeface="Open Sans" pitchFamily="34" charset="-122"/>
                <a:cs typeface="Open Sans" pitchFamily="34" charset="-120"/>
              </a:rPr>
              <a:t>VIFM</a:t>
            </a:r>
            <a:endParaRPr lang="en-US" sz="2200" dirty="0"/>
          </a:p>
        </p:txBody>
      </p:sp>
      <p:sp>
        <p:nvSpPr>
          <p:cNvPr id="8" name="Text 6"/>
          <p:cNvSpPr/>
          <p:nvPr/>
        </p:nvSpPr>
        <p:spPr>
          <a:xfrm>
            <a:off x="521208" y="868680"/>
            <a:ext cx="4572000" cy="274320"/>
          </a:xfrm>
          <a:prstGeom prst="rect">
            <a:avLst/>
          </a:prstGeom>
          <a:noFill/>
          <a:ln/>
        </p:spPr>
        <p:txBody>
          <a:bodyPr wrap="square" rtlCol="0" anchor="ctr"/>
          <a:lstStyle/>
          <a:p>
            <a:pPr indent="0" marL="0">
              <a:buNone/>
            </a:pPr>
            <a:r>
              <a:rPr lang="en-US" sz="1000" dirty="0">
                <a:solidFill>
                  <a:srgbClr val="A8C4E5"/>
                </a:solidFill>
                <a:latin typeface="Open Sans" pitchFamily="34" charset="0"/>
                <a:ea typeface="Open Sans" pitchFamily="34" charset="-122"/>
                <a:cs typeface="Open Sans" pitchFamily="34" charset="-120"/>
              </a:rPr>
              <a:t>Talent Intelligence Platform</a:t>
            </a:r>
            <a:endParaRPr lang="en-US" sz="1000" dirty="0"/>
          </a:p>
        </p:txBody>
      </p:sp>
      <p:sp>
        <p:nvSpPr>
          <p:cNvPr id="9" name="Text 7"/>
          <p:cNvSpPr/>
          <p:nvPr/>
        </p:nvSpPr>
        <p:spPr>
          <a:xfrm>
            <a:off x="502920" y="1920240"/>
            <a:ext cx="7315200" cy="274320"/>
          </a:xfrm>
          <a:prstGeom prst="rect">
            <a:avLst/>
          </a:prstGeom>
          <a:noFill/>
          <a:ln/>
        </p:spPr>
        <p:txBody>
          <a:bodyPr wrap="square" rtlCol="0" anchor="ctr"/>
          <a:lstStyle/>
          <a:p>
            <a:pPr indent="0" marL="0">
              <a:buNone/>
            </a:pPr>
            <a:r>
              <a:rPr lang="en-US" sz="1100" spc="400" kern="0" dirty="0">
                <a:solidFill>
                  <a:srgbClr val="5391D5"/>
                </a:solidFill>
                <a:latin typeface="Open Sans" pitchFamily="34" charset="0"/>
                <a:ea typeface="Open Sans" pitchFamily="34" charset="-122"/>
                <a:cs typeface="Open Sans" pitchFamily="34" charset="-120"/>
              </a:rPr>
              <a:t>USER MANUAL</a:t>
            </a:r>
            <a:endParaRPr lang="en-US" sz="1100" dirty="0"/>
          </a:p>
        </p:txBody>
      </p:sp>
      <p:sp>
        <p:nvSpPr>
          <p:cNvPr id="10" name="Text 8"/>
          <p:cNvSpPr/>
          <p:nvPr/>
        </p:nvSpPr>
        <p:spPr>
          <a:xfrm>
            <a:off x="457200" y="2286000"/>
            <a:ext cx="7772400" cy="1463040"/>
          </a:xfrm>
          <a:prstGeom prst="rect">
            <a:avLst/>
          </a:prstGeom>
          <a:noFill/>
          <a:ln/>
        </p:spPr>
        <p:txBody>
          <a:bodyPr wrap="square" rtlCol="0" anchor="t"/>
          <a:lstStyle/>
          <a:p>
            <a:pPr indent="0" marL="0">
              <a:buNone/>
            </a:pPr>
            <a:r>
              <a:rPr lang="en-US" sz="4000" b="1" dirty="0">
                <a:solidFill>
                  <a:srgbClr val="FFFFFF"/>
                </a:solidFill>
                <a:latin typeface="Open Sans" pitchFamily="34" charset="0"/>
                <a:ea typeface="Open Sans" pitchFamily="34" charset="-122"/>
                <a:cs typeface="Open Sans" pitchFamily="34" charset="-120"/>
              </a:rPr>
              <a:t>Reflect 360</a:t>
            </a:r>
            <a:endParaRPr lang="en-US" sz="4000" dirty="0"/>
          </a:p>
        </p:txBody>
      </p:sp>
      <p:sp>
        <p:nvSpPr>
          <p:cNvPr id="11" name="Text 9"/>
          <p:cNvSpPr/>
          <p:nvPr/>
        </p:nvSpPr>
        <p:spPr>
          <a:xfrm>
            <a:off x="502920" y="3611880"/>
            <a:ext cx="7498080" cy="548640"/>
          </a:xfrm>
          <a:prstGeom prst="rect">
            <a:avLst/>
          </a:prstGeom>
          <a:noFill/>
          <a:ln/>
        </p:spPr>
        <p:txBody>
          <a:bodyPr wrap="square" rtlCol="0" anchor="ctr"/>
          <a:lstStyle/>
          <a:p>
            <a:pPr indent="0" marL="0">
              <a:buNone/>
            </a:pPr>
            <a:r>
              <a:rPr lang="en-US" sz="1400" i="1" dirty="0">
                <a:solidFill>
                  <a:srgbClr val="D0DFF4"/>
                </a:solidFill>
                <a:latin typeface="Open Sans" pitchFamily="34" charset="0"/>
                <a:ea typeface="Open Sans" pitchFamily="34" charset="-122"/>
                <a:cs typeface="Open Sans" pitchFamily="34" charset="-120"/>
              </a:rPr>
              <a:t>360-degree leadership feedback, built from your own values and competencies.</a:t>
            </a:r>
            <a:endParaRPr lang="en-US" sz="1400" dirty="0"/>
          </a:p>
        </p:txBody>
      </p:sp>
      <p:sp>
        <p:nvSpPr>
          <p:cNvPr id="12" name="Shape 10"/>
          <p:cNvSpPr/>
          <p:nvPr/>
        </p:nvSpPr>
        <p:spPr>
          <a:xfrm>
            <a:off x="502920" y="4297680"/>
            <a:ext cx="3200400" cy="45720"/>
          </a:xfrm>
          <a:prstGeom prst="rect">
            <a:avLst/>
          </a:prstGeom>
          <a:solidFill>
            <a:srgbClr val="5391D5"/>
          </a:solidFill>
          <a:ln w="12700">
            <a:solidFill>
              <a:srgbClr val="5391D5"/>
            </a:solidFill>
            <a:prstDash val="solid"/>
          </a:ln>
        </p:spPr>
      </p:sp>
      <p:sp>
        <p:nvSpPr>
          <p:cNvPr id="13" name="Text 11"/>
          <p:cNvSpPr/>
          <p:nvPr/>
        </p:nvSpPr>
        <p:spPr>
          <a:xfrm>
            <a:off x="502920" y="4572000"/>
            <a:ext cx="7315200" cy="274320"/>
          </a:xfrm>
          <a:prstGeom prst="rect">
            <a:avLst/>
          </a:prstGeom>
          <a:noFill/>
          <a:ln/>
        </p:spPr>
        <p:txBody>
          <a:bodyPr wrap="square" rtlCol="0" anchor="ctr"/>
          <a:lstStyle/>
          <a:p>
            <a:pPr indent="0" marL="0">
              <a:buNone/>
            </a:pPr>
            <a:r>
              <a:rPr lang="en-US" sz="900" dirty="0">
                <a:solidFill>
                  <a:srgbClr val="A8C4E5"/>
                </a:solidFill>
                <a:latin typeface="Open Sans" pitchFamily="34" charset="0"/>
                <a:ea typeface="Open Sans" pitchFamily="34" charset="-122"/>
                <a:cs typeface="Open Sans" pitchFamily="34" charset="-120"/>
              </a:rPr>
              <a:t>Virginia Institute of Finance and Management  ·  Talent Intelligence Platform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6B"/>
          </a:solidFill>
          <a:ln w="12700">
            <a:solidFill>
              <a:srgbClr val="1A3A6B"/>
            </a:solidFill>
            <a:prstDash val="solid"/>
          </a:ln>
        </p:spPr>
      </p:sp>
      <p:sp>
        <p:nvSpPr>
          <p:cNvPr id="3" name="Shape 1"/>
          <p:cNvSpPr/>
          <p:nvPr/>
        </p:nvSpPr>
        <p:spPr>
          <a:xfrm>
            <a:off x="256032" y="914400"/>
            <a:ext cx="128016" cy="3017520"/>
          </a:xfrm>
          <a:prstGeom prst="rect">
            <a:avLst/>
          </a:prstGeom>
          <a:solidFill>
            <a:srgbClr val="5391D5"/>
          </a:solidFill>
          <a:ln w="12700">
            <a:solidFill>
              <a:srgbClr val="5391D5"/>
            </a:solidFill>
            <a:prstDash val="solid"/>
          </a:ln>
        </p:spPr>
      </p:sp>
      <p:sp>
        <p:nvSpPr>
          <p:cNvPr id="4" name="Shape 2"/>
          <p:cNvSpPr/>
          <p:nvPr/>
        </p:nvSpPr>
        <p:spPr>
          <a:xfrm>
            <a:off x="256032" y="914400"/>
            <a:ext cx="731520" cy="128016"/>
          </a:xfrm>
          <a:prstGeom prst="rect">
            <a:avLst/>
          </a:prstGeom>
          <a:solidFill>
            <a:srgbClr val="5391D5"/>
          </a:solidFill>
          <a:ln w="12700">
            <a:solidFill>
              <a:srgbClr val="5391D5"/>
            </a:solidFill>
            <a:prstDash val="solid"/>
          </a:ln>
        </p:spPr>
      </p:sp>
      <p:sp>
        <p:nvSpPr>
          <p:cNvPr id="5" name="Shape 3"/>
          <p:cNvSpPr/>
          <p:nvPr/>
        </p:nvSpPr>
        <p:spPr>
          <a:xfrm>
            <a:off x="256032" y="3803904"/>
            <a:ext cx="731520" cy="128016"/>
          </a:xfrm>
          <a:prstGeom prst="rect">
            <a:avLst/>
          </a:prstGeom>
          <a:solidFill>
            <a:srgbClr val="5391D5"/>
          </a:solidFill>
          <a:ln w="12700">
            <a:solidFill>
              <a:srgbClr val="5391D5"/>
            </a:solidFill>
            <a:prstDash val="solid"/>
          </a:ln>
        </p:spPr>
      </p:sp>
      <p:sp>
        <p:nvSpPr>
          <p:cNvPr id="6" name="Text 4"/>
          <p:cNvSpPr/>
          <p:nvPr/>
        </p:nvSpPr>
        <p:spPr>
          <a:xfrm>
            <a:off x="1143000" y="274320"/>
            <a:ext cx="5486400" cy="292608"/>
          </a:xfrm>
          <a:prstGeom prst="rect">
            <a:avLst/>
          </a:prstGeom>
          <a:noFill/>
          <a:ln/>
        </p:spPr>
        <p:txBody>
          <a:bodyPr wrap="square" rtlCol="0" anchor="ctr"/>
          <a:lstStyle/>
          <a:p>
            <a:pPr indent="0" marL="0">
              <a:buNone/>
            </a:pPr>
            <a:r>
              <a:rPr lang="en-US" sz="900" b="1" spc="400" kern="0" dirty="0">
                <a:solidFill>
                  <a:srgbClr val="5391D5"/>
                </a:solidFill>
                <a:latin typeface="Open Sans" pitchFamily="34" charset="0"/>
                <a:ea typeface="Open Sans" pitchFamily="34" charset="-122"/>
                <a:cs typeface="Open Sans" pitchFamily="34" charset="-120"/>
              </a:rPr>
              <a:t>WHAT IT IS</a:t>
            </a:r>
            <a:endParaRPr lang="en-US" sz="900" dirty="0"/>
          </a:p>
        </p:txBody>
      </p:sp>
      <p:sp>
        <p:nvSpPr>
          <p:cNvPr id="7" name="Text 5"/>
          <p:cNvSpPr/>
          <p:nvPr/>
        </p:nvSpPr>
        <p:spPr>
          <a:xfrm>
            <a:off x="1143000" y="640080"/>
            <a:ext cx="7680960" cy="822960"/>
          </a:xfrm>
          <a:prstGeom prst="rect">
            <a:avLst/>
          </a:prstGeom>
          <a:noFill/>
          <a:ln/>
        </p:spPr>
        <p:txBody>
          <a:bodyPr wrap="square" rtlCol="0" anchor="ctr"/>
          <a:lstStyle/>
          <a:p>
            <a:pPr indent="0" marL="0">
              <a:buNone/>
            </a:pPr>
            <a:r>
              <a:rPr lang="en-US" sz="3400" b="1" dirty="0">
                <a:solidFill>
                  <a:srgbClr val="FFFFFF"/>
                </a:solidFill>
                <a:latin typeface="Open Sans" pitchFamily="34" charset="0"/>
                <a:ea typeface="Open Sans" pitchFamily="34" charset="-122"/>
                <a:cs typeface="Open Sans" pitchFamily="34" charset="-120"/>
              </a:rPr>
              <a:t>Reflect 360</a:t>
            </a:r>
            <a:endParaRPr lang="en-US" sz="3400" dirty="0"/>
          </a:p>
        </p:txBody>
      </p:sp>
      <p:sp>
        <p:nvSpPr>
          <p:cNvPr id="8" name="Shape 6"/>
          <p:cNvSpPr/>
          <p:nvPr/>
        </p:nvSpPr>
        <p:spPr>
          <a:xfrm>
            <a:off x="1143000" y="1554480"/>
            <a:ext cx="7498080" cy="45720"/>
          </a:xfrm>
          <a:prstGeom prst="rect">
            <a:avLst/>
          </a:prstGeom>
          <a:solidFill>
            <a:srgbClr val="5391D5"/>
          </a:solidFill>
          <a:ln w="12700">
            <a:solidFill>
              <a:srgbClr val="5391D5"/>
            </a:solidFill>
            <a:prstDash val="solid"/>
          </a:ln>
        </p:spPr>
      </p:sp>
      <p:sp>
        <p:nvSpPr>
          <p:cNvPr id="9" name="Text 7"/>
          <p:cNvSpPr/>
          <p:nvPr/>
        </p:nvSpPr>
        <p:spPr>
          <a:xfrm>
            <a:off x="1143000" y="1737360"/>
            <a:ext cx="7498080" cy="1828800"/>
          </a:xfrm>
          <a:prstGeom prst="rect">
            <a:avLst/>
          </a:prstGeom>
          <a:noFill/>
          <a:ln/>
        </p:spPr>
        <p:txBody>
          <a:bodyPr wrap="square" rtlCol="0" anchor="t"/>
          <a:lstStyle/>
          <a:p>
            <a:pPr indent="0" marL="0">
              <a:buNone/>
            </a:pPr>
            <a:r>
              <a:rPr lang="en-US" sz="1500" dirty="0">
                <a:solidFill>
                  <a:srgbClr val="FFFFFF"/>
                </a:solidFill>
                <a:latin typeface="Open Sans" pitchFamily="34" charset="0"/>
                <a:ea typeface="Open Sans" pitchFamily="34" charset="-122"/>
                <a:cs typeface="Open Sans" pitchFamily="34" charset="-120"/>
              </a:rPr>
              <a:t>A multi-rater leadership-feedback module. A consultant brings the client's own values and leadership competencies; AI decomposes them into observable behaviours; Self, Manager, Peer and Direct-Report raters score those behaviours on a five-point frequency scale. The result is a development-grade participant report with an Individual Development Plan, plus an organisation-wide cohort view.</a:t>
            </a:r>
            <a:endParaRPr lang="en-US" sz="1500" dirty="0"/>
          </a:p>
        </p:txBody>
      </p:sp>
      <p:sp>
        <p:nvSpPr>
          <p:cNvPr id="10" name="Shape 8"/>
          <p:cNvSpPr/>
          <p:nvPr/>
        </p:nvSpPr>
        <p:spPr>
          <a:xfrm>
            <a:off x="1143000" y="3703320"/>
            <a:ext cx="7498080" cy="502920"/>
          </a:xfrm>
          <a:prstGeom prst="rect">
            <a:avLst/>
          </a:prstGeom>
          <a:solidFill>
            <a:srgbClr val="010131"/>
          </a:solidFill>
          <a:ln w="12700">
            <a:solidFill>
              <a:srgbClr val="010131"/>
            </a:solidFill>
            <a:prstDash val="solid"/>
          </a:ln>
        </p:spPr>
      </p:sp>
      <p:sp>
        <p:nvSpPr>
          <p:cNvPr id="11" name="Text 9"/>
          <p:cNvSpPr/>
          <p:nvPr/>
        </p:nvSpPr>
        <p:spPr>
          <a:xfrm>
            <a:off x="1280160" y="3767328"/>
            <a:ext cx="7223760" cy="365760"/>
          </a:xfrm>
          <a:prstGeom prst="rect">
            <a:avLst/>
          </a:prstGeom>
          <a:noFill/>
          <a:ln/>
        </p:spPr>
        <p:txBody>
          <a:bodyPr wrap="square" rtlCol="0" anchor="ctr"/>
          <a:lstStyle/>
          <a:p>
            <a:pPr indent="0" marL="0">
              <a:buNone/>
            </a:pPr>
            <a:r>
              <a:rPr lang="en-US" sz="1100" i="1" dirty="0">
                <a:solidFill>
                  <a:srgbClr val="A8C4E5"/>
                </a:solidFill>
                <a:latin typeface="Open Sans" pitchFamily="34" charset="0"/>
                <a:ea typeface="Open Sans" pitchFamily="34" charset="-122"/>
                <a:cs typeface="Open Sans" pitchFamily="34" charset="-120"/>
              </a:rPr>
              <a:t>Self · Manager · Peer · Direct Report  ·  bilingual EN / Arabic</a:t>
            </a:r>
            <a:endParaRPr lang="en-US" sz="1100" dirty="0"/>
          </a:p>
        </p:txBody>
      </p:sp>
      <p:sp>
        <p:nvSpPr>
          <p:cNvPr id="12" name="Text 10"/>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A8C4E5"/>
                </a:solidFill>
                <a:latin typeface="Open Sans" pitchFamily="34" charset="0"/>
                <a:ea typeface="Open Sans" pitchFamily="34" charset="-122"/>
                <a:cs typeface="Open Sans" pitchFamily="34" charset="-120"/>
              </a:rPr>
              <a:t>Reflect 360  ·  User Manual</a:t>
            </a:r>
            <a:endParaRPr lang="en-US" sz="800" dirty="0"/>
          </a:p>
        </p:txBody>
      </p:sp>
      <p:sp>
        <p:nvSpPr>
          <p:cNvPr id="13" name="Text 11"/>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A8C4E5"/>
                </a:solidFill>
                <a:latin typeface="Open Sans" pitchFamily="34" charset="0"/>
                <a:ea typeface="Open Sans" pitchFamily="34" charset="-122"/>
                <a:cs typeface="Open Sans"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6B"/>
          </a:solidFill>
          <a:ln w="12700">
            <a:solidFill>
              <a:srgbClr val="1A3A6B"/>
            </a:solidFill>
            <a:prstDash val="solid"/>
          </a:ln>
        </p:spPr>
      </p:sp>
      <p:sp>
        <p:nvSpPr>
          <p:cNvPr id="3" name="Shape 1"/>
          <p:cNvSpPr/>
          <p:nvPr/>
        </p:nvSpPr>
        <p:spPr>
          <a:xfrm>
            <a:off x="0" y="0"/>
            <a:ext cx="164592" cy="5143500"/>
          </a:xfrm>
          <a:prstGeom prst="rect">
            <a:avLst/>
          </a:prstGeom>
          <a:solidFill>
            <a:srgbClr val="5391D5"/>
          </a:solidFill>
          <a:ln w="12700">
            <a:solidFill>
              <a:srgbClr val="5391D5"/>
            </a:solidFill>
            <a:prstDash val="solid"/>
          </a:ln>
        </p:spPr>
      </p:sp>
      <p:sp>
        <p:nvSpPr>
          <p:cNvPr id="4" name="Text 2"/>
          <p:cNvSpPr/>
          <p:nvPr/>
        </p:nvSpPr>
        <p:spPr>
          <a:xfrm>
            <a:off x="320040" y="164592"/>
            <a:ext cx="5486400" cy="256032"/>
          </a:xfrm>
          <a:prstGeom prst="rect">
            <a:avLst/>
          </a:prstGeom>
          <a:noFill/>
          <a:ln/>
        </p:spPr>
        <p:txBody>
          <a:bodyPr wrap="square" rtlCol="0" anchor="ctr"/>
          <a:lstStyle/>
          <a:p>
            <a:pPr indent="0" marL="0">
              <a:buNone/>
            </a:pPr>
            <a:r>
              <a:rPr lang="en-US" sz="850" spc="300" kern="0" dirty="0">
                <a:solidFill>
                  <a:srgbClr val="A8C4E5"/>
                </a:solidFill>
                <a:latin typeface="Open Sans" pitchFamily="34" charset="0"/>
                <a:ea typeface="Open Sans" pitchFamily="34" charset="-122"/>
                <a:cs typeface="Open Sans" pitchFamily="34" charset="-120"/>
              </a:rPr>
              <a:t>[ Who uses it ]</a:t>
            </a:r>
            <a:endParaRPr lang="en-US" sz="850" dirty="0"/>
          </a:p>
        </p:txBody>
      </p:sp>
      <p:sp>
        <p:nvSpPr>
          <p:cNvPr id="5" name="Text 3"/>
          <p:cNvSpPr/>
          <p:nvPr/>
        </p:nvSpPr>
        <p:spPr>
          <a:xfrm>
            <a:off x="320040" y="384048"/>
            <a:ext cx="8595360" cy="457200"/>
          </a:xfrm>
          <a:prstGeom prst="rect">
            <a:avLst/>
          </a:prstGeom>
          <a:noFill/>
          <a:ln/>
        </p:spPr>
        <p:txBody>
          <a:bodyPr wrap="square" rtlCol="0" anchor="ctr"/>
          <a:lstStyle/>
          <a:p>
            <a:pPr indent="0" marL="0">
              <a:buNone/>
            </a:pPr>
            <a:r>
              <a:rPr lang="en-US" sz="2000" b="1" dirty="0">
                <a:solidFill>
                  <a:srgbClr val="FFFFFF"/>
                </a:solidFill>
                <a:latin typeface="Open Sans" pitchFamily="34" charset="0"/>
                <a:ea typeface="Open Sans" pitchFamily="34" charset="-122"/>
                <a:cs typeface="Open Sans" pitchFamily="34" charset="-120"/>
              </a:rPr>
              <a:t>Three roles</a:t>
            </a:r>
            <a:endParaRPr lang="en-US" sz="2000" dirty="0"/>
          </a:p>
        </p:txBody>
      </p:sp>
      <p:sp>
        <p:nvSpPr>
          <p:cNvPr id="6" name="Shape 4"/>
          <p:cNvSpPr/>
          <p:nvPr/>
        </p:nvSpPr>
        <p:spPr>
          <a:xfrm>
            <a:off x="256032" y="960120"/>
            <a:ext cx="8595360" cy="749808"/>
          </a:xfrm>
          <a:prstGeom prst="roundRect">
            <a:avLst>
              <a:gd name="adj" fmla="val 9756"/>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256032" y="960120"/>
            <a:ext cx="73152" cy="749808"/>
          </a:xfrm>
          <a:prstGeom prst="rect">
            <a:avLst/>
          </a:prstGeom>
          <a:solidFill>
            <a:srgbClr val="5391D5"/>
          </a:solidFill>
          <a:ln w="12700">
            <a:solidFill>
              <a:srgbClr val="5391D5"/>
            </a:solidFill>
            <a:prstDash val="solid"/>
          </a:ln>
        </p:spPr>
      </p:sp>
      <p:sp>
        <p:nvSpPr>
          <p:cNvPr id="8" name="Shape 6"/>
          <p:cNvSpPr/>
          <p:nvPr/>
        </p:nvSpPr>
        <p:spPr>
          <a:xfrm>
            <a:off x="438912" y="1124712"/>
            <a:ext cx="420624" cy="420624"/>
          </a:xfrm>
          <a:prstGeom prst="ellipse">
            <a:avLst/>
          </a:prstGeom>
          <a:solidFill>
            <a:srgbClr val="5391D5"/>
          </a:solidFill>
          <a:ln w="12700">
            <a:solidFill>
              <a:srgbClr val="5391D5"/>
            </a:solidFill>
            <a:prstDash val="solid"/>
          </a:ln>
        </p:spPr>
      </p:sp>
      <p:sp>
        <p:nvSpPr>
          <p:cNvPr id="9" name="Text 7"/>
          <p:cNvSpPr/>
          <p:nvPr/>
        </p:nvSpPr>
        <p:spPr>
          <a:xfrm>
            <a:off x="438912" y="112471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AD</a:t>
            </a:r>
            <a:endParaRPr lang="en-US" sz="1100" dirty="0"/>
          </a:p>
        </p:txBody>
      </p:sp>
      <p:sp>
        <p:nvSpPr>
          <p:cNvPr id="10" name="Text 8"/>
          <p:cNvSpPr/>
          <p:nvPr/>
        </p:nvSpPr>
        <p:spPr>
          <a:xfrm>
            <a:off x="987552" y="960120"/>
            <a:ext cx="2651760" cy="74980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Admin</a:t>
            </a:r>
            <a:endParaRPr lang="en-US" sz="1300" dirty="0"/>
          </a:p>
        </p:txBody>
      </p:sp>
      <p:sp>
        <p:nvSpPr>
          <p:cNvPr id="11" name="Shape 9"/>
          <p:cNvSpPr/>
          <p:nvPr/>
        </p:nvSpPr>
        <p:spPr>
          <a:xfrm>
            <a:off x="3703320" y="1088136"/>
            <a:ext cx="36576" cy="493776"/>
          </a:xfrm>
          <a:prstGeom prst="rect">
            <a:avLst/>
          </a:prstGeom>
          <a:solidFill>
            <a:srgbClr val="5391D5"/>
          </a:solidFill>
          <a:ln w="12700">
            <a:solidFill>
              <a:srgbClr val="5391D5"/>
            </a:solidFill>
            <a:prstDash val="solid"/>
          </a:ln>
        </p:spPr>
      </p:sp>
      <p:sp>
        <p:nvSpPr>
          <p:cNvPr id="12" name="Text 10"/>
          <p:cNvSpPr/>
          <p:nvPr/>
        </p:nvSpPr>
        <p:spPr>
          <a:xfrm>
            <a:off x="3858768" y="960120"/>
            <a:ext cx="4892040" cy="749808"/>
          </a:xfrm>
          <a:prstGeom prst="rect">
            <a:avLst/>
          </a:prstGeom>
          <a:noFill/>
          <a:ln/>
        </p:spPr>
        <p:txBody>
          <a:bodyPr wrap="square" rtlCol="0" anchor="ctr"/>
          <a:lstStyle/>
          <a:p>
            <a:pPr indent="0" marL="0">
              <a:buNone/>
            </a:pPr>
            <a:r>
              <a:rPr lang="en-US" sz="1150" dirty="0">
                <a:solidFill>
                  <a:srgbClr val="A8C4E5"/>
                </a:solidFill>
                <a:latin typeface="Open Sans" pitchFamily="34" charset="0"/>
                <a:ea typeface="Open Sans" pitchFamily="34" charset="-122"/>
                <a:cs typeface="Open Sans" pitchFamily="34" charset="-120"/>
              </a:rPr>
              <a:t>Curates library templates and runs retention; monitors active engagements.</a:t>
            </a:r>
            <a:endParaRPr lang="en-US" sz="1150" dirty="0"/>
          </a:p>
        </p:txBody>
      </p:sp>
      <p:sp>
        <p:nvSpPr>
          <p:cNvPr id="13" name="Shape 11"/>
          <p:cNvSpPr/>
          <p:nvPr/>
        </p:nvSpPr>
        <p:spPr>
          <a:xfrm>
            <a:off x="256032" y="1828800"/>
            <a:ext cx="8595360" cy="749808"/>
          </a:xfrm>
          <a:prstGeom prst="roundRect">
            <a:avLst>
              <a:gd name="adj" fmla="val 9756"/>
            </a:avLst>
          </a:prstGeom>
          <a:solidFill>
            <a:srgbClr val="1A3A6B"/>
          </a:solidFill>
          <a:ln w="12700">
            <a:solidFill>
              <a:srgbClr val="1A3A6B"/>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256032" y="1828800"/>
            <a:ext cx="73152" cy="749808"/>
          </a:xfrm>
          <a:prstGeom prst="rect">
            <a:avLst/>
          </a:prstGeom>
          <a:solidFill>
            <a:srgbClr val="5391D5"/>
          </a:solidFill>
          <a:ln w="12700">
            <a:solidFill>
              <a:srgbClr val="5391D5"/>
            </a:solidFill>
            <a:prstDash val="solid"/>
          </a:ln>
        </p:spPr>
      </p:sp>
      <p:sp>
        <p:nvSpPr>
          <p:cNvPr id="15" name="Shape 13"/>
          <p:cNvSpPr/>
          <p:nvPr/>
        </p:nvSpPr>
        <p:spPr>
          <a:xfrm>
            <a:off x="438912" y="1993392"/>
            <a:ext cx="420624" cy="420624"/>
          </a:xfrm>
          <a:prstGeom prst="ellipse">
            <a:avLst/>
          </a:prstGeom>
          <a:solidFill>
            <a:srgbClr val="5391D5"/>
          </a:solidFill>
          <a:ln w="12700">
            <a:solidFill>
              <a:srgbClr val="5391D5"/>
            </a:solidFill>
            <a:prstDash val="solid"/>
          </a:ln>
        </p:spPr>
      </p:sp>
      <p:sp>
        <p:nvSpPr>
          <p:cNvPr id="16" name="Text 14"/>
          <p:cNvSpPr/>
          <p:nvPr/>
        </p:nvSpPr>
        <p:spPr>
          <a:xfrm>
            <a:off x="438912" y="199339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CO</a:t>
            </a:r>
            <a:endParaRPr lang="en-US" sz="1100" dirty="0"/>
          </a:p>
        </p:txBody>
      </p:sp>
      <p:sp>
        <p:nvSpPr>
          <p:cNvPr id="17" name="Text 15"/>
          <p:cNvSpPr/>
          <p:nvPr/>
        </p:nvSpPr>
        <p:spPr>
          <a:xfrm>
            <a:off x="987552" y="1828800"/>
            <a:ext cx="2651760" cy="74980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Consultant</a:t>
            </a:r>
            <a:endParaRPr lang="en-US" sz="1300" dirty="0"/>
          </a:p>
        </p:txBody>
      </p:sp>
      <p:sp>
        <p:nvSpPr>
          <p:cNvPr id="18" name="Shape 16"/>
          <p:cNvSpPr/>
          <p:nvPr/>
        </p:nvSpPr>
        <p:spPr>
          <a:xfrm>
            <a:off x="3703320" y="1956816"/>
            <a:ext cx="36576" cy="493776"/>
          </a:xfrm>
          <a:prstGeom prst="rect">
            <a:avLst/>
          </a:prstGeom>
          <a:solidFill>
            <a:srgbClr val="5391D5"/>
          </a:solidFill>
          <a:ln w="12700">
            <a:solidFill>
              <a:srgbClr val="5391D5"/>
            </a:solidFill>
            <a:prstDash val="solid"/>
          </a:ln>
        </p:spPr>
      </p:sp>
      <p:sp>
        <p:nvSpPr>
          <p:cNvPr id="19" name="Text 17"/>
          <p:cNvSpPr/>
          <p:nvPr/>
        </p:nvSpPr>
        <p:spPr>
          <a:xfrm>
            <a:off x="3858768" y="1828800"/>
            <a:ext cx="4892040" cy="749808"/>
          </a:xfrm>
          <a:prstGeom prst="rect">
            <a:avLst/>
          </a:prstGeom>
          <a:noFill/>
          <a:ln/>
        </p:spPr>
        <p:txBody>
          <a:bodyPr wrap="square" rtlCol="0" anchor="ctr"/>
          <a:lstStyle/>
          <a:p>
            <a:pPr indent="0" marL="0">
              <a:buNone/>
            </a:pPr>
            <a:r>
              <a:rPr lang="en-US" sz="1150" dirty="0">
                <a:solidFill>
                  <a:srgbClr val="A8C4E5"/>
                </a:solidFill>
                <a:latin typeface="Open Sans" pitchFamily="34" charset="0"/>
                <a:ea typeface="Open Sans" pitchFamily="34" charset="-122"/>
                <a:cs typeface="Open Sans" pitchFamily="34" charset="-120"/>
              </a:rPr>
              <a:t>Owns engagements — builds the framework, invites raters, debriefs participants.</a:t>
            </a:r>
            <a:endParaRPr lang="en-US" sz="1150" dirty="0"/>
          </a:p>
        </p:txBody>
      </p:sp>
      <p:sp>
        <p:nvSpPr>
          <p:cNvPr id="20" name="Shape 18"/>
          <p:cNvSpPr/>
          <p:nvPr/>
        </p:nvSpPr>
        <p:spPr>
          <a:xfrm>
            <a:off x="256032" y="2697480"/>
            <a:ext cx="8595360" cy="749808"/>
          </a:xfrm>
          <a:prstGeom prst="roundRect">
            <a:avLst>
              <a:gd name="adj" fmla="val 9756"/>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21" name="Shape 19"/>
          <p:cNvSpPr/>
          <p:nvPr/>
        </p:nvSpPr>
        <p:spPr>
          <a:xfrm>
            <a:off x="256032" y="2697480"/>
            <a:ext cx="73152" cy="749808"/>
          </a:xfrm>
          <a:prstGeom prst="rect">
            <a:avLst/>
          </a:prstGeom>
          <a:solidFill>
            <a:srgbClr val="5391D5"/>
          </a:solidFill>
          <a:ln w="12700">
            <a:solidFill>
              <a:srgbClr val="5391D5"/>
            </a:solidFill>
            <a:prstDash val="solid"/>
          </a:ln>
        </p:spPr>
      </p:sp>
      <p:sp>
        <p:nvSpPr>
          <p:cNvPr id="22" name="Shape 20"/>
          <p:cNvSpPr/>
          <p:nvPr/>
        </p:nvSpPr>
        <p:spPr>
          <a:xfrm>
            <a:off x="438912" y="2862072"/>
            <a:ext cx="420624" cy="420624"/>
          </a:xfrm>
          <a:prstGeom prst="ellipse">
            <a:avLst/>
          </a:prstGeom>
          <a:solidFill>
            <a:srgbClr val="5391D5"/>
          </a:solidFill>
          <a:ln w="12700">
            <a:solidFill>
              <a:srgbClr val="5391D5"/>
            </a:solidFill>
            <a:prstDash val="solid"/>
          </a:ln>
        </p:spPr>
      </p:sp>
      <p:sp>
        <p:nvSpPr>
          <p:cNvPr id="23" name="Text 21"/>
          <p:cNvSpPr/>
          <p:nvPr/>
        </p:nvSpPr>
        <p:spPr>
          <a:xfrm>
            <a:off x="438912" y="286207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RA</a:t>
            </a:r>
            <a:endParaRPr lang="en-US" sz="1100" dirty="0"/>
          </a:p>
        </p:txBody>
      </p:sp>
      <p:sp>
        <p:nvSpPr>
          <p:cNvPr id="24" name="Text 22"/>
          <p:cNvSpPr/>
          <p:nvPr/>
        </p:nvSpPr>
        <p:spPr>
          <a:xfrm>
            <a:off x="987552" y="2697480"/>
            <a:ext cx="2651760" cy="74980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Rater</a:t>
            </a:r>
            <a:endParaRPr lang="en-US" sz="1300" dirty="0"/>
          </a:p>
        </p:txBody>
      </p:sp>
      <p:sp>
        <p:nvSpPr>
          <p:cNvPr id="25" name="Shape 23"/>
          <p:cNvSpPr/>
          <p:nvPr/>
        </p:nvSpPr>
        <p:spPr>
          <a:xfrm>
            <a:off x="3703320" y="2825496"/>
            <a:ext cx="36576" cy="493776"/>
          </a:xfrm>
          <a:prstGeom prst="rect">
            <a:avLst/>
          </a:prstGeom>
          <a:solidFill>
            <a:srgbClr val="5391D5"/>
          </a:solidFill>
          <a:ln w="12700">
            <a:solidFill>
              <a:srgbClr val="5391D5"/>
            </a:solidFill>
            <a:prstDash val="solid"/>
          </a:ln>
        </p:spPr>
      </p:sp>
      <p:sp>
        <p:nvSpPr>
          <p:cNvPr id="26" name="Text 24"/>
          <p:cNvSpPr/>
          <p:nvPr/>
        </p:nvSpPr>
        <p:spPr>
          <a:xfrm>
            <a:off x="3858768" y="2697480"/>
            <a:ext cx="4892040" cy="749808"/>
          </a:xfrm>
          <a:prstGeom prst="rect">
            <a:avLst/>
          </a:prstGeom>
          <a:noFill/>
          <a:ln/>
        </p:spPr>
        <p:txBody>
          <a:bodyPr wrap="square" rtlCol="0" anchor="ctr"/>
          <a:lstStyle/>
          <a:p>
            <a:pPr indent="0" marL="0">
              <a:buNone/>
            </a:pPr>
            <a:r>
              <a:rPr lang="en-US" sz="1150" dirty="0">
                <a:solidFill>
                  <a:srgbClr val="A8C4E5"/>
                </a:solidFill>
                <a:latin typeface="Open Sans" pitchFamily="34" charset="0"/>
                <a:ea typeface="Open Sans" pitchFamily="34" charset="-122"/>
                <a:cs typeface="Open Sans" pitchFamily="34" charset="-120"/>
              </a:rPr>
              <a:t>No account. Scores behaviours through a private token-gated link.</a:t>
            </a:r>
            <a:endParaRPr lang="en-US" sz="1150" dirty="0"/>
          </a:p>
        </p:txBody>
      </p:sp>
      <p:sp>
        <p:nvSpPr>
          <p:cNvPr id="27" name="Text 25"/>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A8C4E5"/>
                </a:solidFill>
                <a:latin typeface="Open Sans" pitchFamily="34" charset="0"/>
                <a:ea typeface="Open Sans" pitchFamily="34" charset="-122"/>
                <a:cs typeface="Open Sans" pitchFamily="34" charset="-120"/>
              </a:rPr>
              <a:t>Reflect 360  ·  User Manual</a:t>
            </a:r>
            <a:endParaRPr lang="en-US" sz="800" dirty="0"/>
          </a:p>
        </p:txBody>
      </p:sp>
      <p:sp>
        <p:nvSpPr>
          <p:cNvPr id="28" name="Text 26"/>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A8C4E5"/>
                </a:solidFill>
                <a:latin typeface="Open Sans" pitchFamily="34" charset="0"/>
                <a:ea typeface="Open Sans" pitchFamily="34" charset="-122"/>
                <a:cs typeface="Open Sans"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w="12700">
            <a:solidFill>
              <a:srgbClr val="F5F7FA"/>
            </a:solidFill>
            <a:prstDash val="solid"/>
          </a:ln>
        </p:spPr>
      </p:sp>
      <p:sp>
        <p:nvSpPr>
          <p:cNvPr id="3" name="Shape 1"/>
          <p:cNvSpPr/>
          <p:nvPr/>
        </p:nvSpPr>
        <p:spPr>
          <a:xfrm>
            <a:off x="0" y="0"/>
            <a:ext cx="164592" cy="5143500"/>
          </a:xfrm>
          <a:prstGeom prst="rect">
            <a:avLst/>
          </a:prstGeom>
          <a:solidFill>
            <a:srgbClr val="5391D5"/>
          </a:solidFill>
          <a:ln w="12700">
            <a:solidFill>
              <a:srgbClr val="5391D5"/>
            </a:solidFill>
            <a:prstDash val="solid"/>
          </a:ln>
        </p:spPr>
      </p:sp>
      <p:sp>
        <p:nvSpPr>
          <p:cNvPr id="4" name="Shape 2"/>
          <p:cNvSpPr/>
          <p:nvPr/>
        </p:nvSpPr>
        <p:spPr>
          <a:xfrm>
            <a:off x="0" y="0"/>
            <a:ext cx="9144000" cy="731520"/>
          </a:xfrm>
          <a:prstGeom prst="rect">
            <a:avLst/>
          </a:prstGeom>
          <a:solidFill>
            <a:srgbClr val="010131"/>
          </a:solidFill>
          <a:ln w="12700">
            <a:solidFill>
              <a:srgbClr val="010131"/>
            </a:solidFill>
            <a:prstDash val="solid"/>
          </a:ln>
        </p:spPr>
      </p:sp>
      <p:sp>
        <p:nvSpPr>
          <p:cNvPr id="5" name="Text 3"/>
          <p:cNvSpPr/>
          <p:nvPr/>
        </p:nvSpPr>
        <p:spPr>
          <a:xfrm>
            <a:off x="320040" y="73152"/>
            <a:ext cx="4572000" cy="256032"/>
          </a:xfrm>
          <a:prstGeom prst="rect">
            <a:avLst/>
          </a:prstGeom>
          <a:noFill/>
          <a:ln/>
        </p:spPr>
        <p:txBody>
          <a:bodyPr wrap="square" rtlCol="0" anchor="ctr"/>
          <a:lstStyle/>
          <a:p>
            <a:pPr indent="0" marL="0">
              <a:buNone/>
            </a:pPr>
            <a:r>
              <a:rPr lang="en-US" sz="850" spc="300" kern="0" dirty="0">
                <a:solidFill>
                  <a:srgbClr val="5391D5"/>
                </a:solidFill>
                <a:latin typeface="Open Sans" pitchFamily="34" charset="0"/>
                <a:ea typeface="Open Sans" pitchFamily="34" charset="-122"/>
                <a:cs typeface="Open Sans" pitchFamily="34" charset="-120"/>
              </a:rPr>
              <a:t>[ The 360 cycle ]</a:t>
            </a:r>
            <a:endParaRPr lang="en-US" sz="850" dirty="0"/>
          </a:p>
        </p:txBody>
      </p:sp>
      <p:sp>
        <p:nvSpPr>
          <p:cNvPr id="6" name="Text 4"/>
          <p:cNvSpPr/>
          <p:nvPr/>
        </p:nvSpPr>
        <p:spPr>
          <a:xfrm>
            <a:off x="320040" y="292608"/>
            <a:ext cx="8595360" cy="384048"/>
          </a:xfrm>
          <a:prstGeom prst="rect">
            <a:avLst/>
          </a:prstGeom>
          <a:noFill/>
          <a:ln/>
        </p:spPr>
        <p:txBody>
          <a:bodyPr wrap="square"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From framework to development plan</a:t>
            </a:r>
            <a:endParaRPr lang="en-US" sz="1800" dirty="0"/>
          </a:p>
        </p:txBody>
      </p:sp>
      <p:sp>
        <p:nvSpPr>
          <p:cNvPr id="7" name="Shape 5"/>
          <p:cNvSpPr/>
          <p:nvPr/>
        </p:nvSpPr>
        <p:spPr>
          <a:xfrm>
            <a:off x="1133856" y="2075688"/>
            <a:ext cx="6876288" cy="54864"/>
          </a:xfrm>
          <a:prstGeom prst="rect">
            <a:avLst/>
          </a:prstGeom>
          <a:solidFill>
            <a:srgbClr val="5391D5"/>
          </a:solidFill>
          <a:ln w="12700">
            <a:solidFill>
              <a:srgbClr val="5391D5"/>
            </a:solidFill>
            <a:prstDash val="solid"/>
          </a:ln>
        </p:spPr>
      </p:sp>
      <p:sp>
        <p:nvSpPr>
          <p:cNvPr id="8" name="Shape 6"/>
          <p:cNvSpPr/>
          <p:nvPr/>
        </p:nvSpPr>
        <p:spPr>
          <a:xfrm>
            <a:off x="822960" y="1792224"/>
            <a:ext cx="621792" cy="621792"/>
          </a:xfrm>
          <a:prstGeom prst="ellipse">
            <a:avLst/>
          </a:prstGeom>
          <a:solidFill>
            <a:srgbClr val="5391D5"/>
          </a:solidFill>
          <a:ln w="12700">
            <a:solidFill>
              <a:srgbClr val="5391D5"/>
            </a:solidFill>
            <a:prstDash val="solid"/>
          </a:ln>
        </p:spPr>
      </p:sp>
      <p:sp>
        <p:nvSpPr>
          <p:cNvPr id="9" name="Shape 7"/>
          <p:cNvSpPr/>
          <p:nvPr/>
        </p:nvSpPr>
        <p:spPr>
          <a:xfrm>
            <a:off x="896112" y="1865376"/>
            <a:ext cx="475488" cy="475488"/>
          </a:xfrm>
          <a:prstGeom prst="ellipse">
            <a:avLst/>
          </a:prstGeom>
          <a:solidFill>
            <a:srgbClr val="010131"/>
          </a:solidFill>
          <a:ln w="12700">
            <a:solidFill>
              <a:srgbClr val="010131"/>
            </a:solidFill>
            <a:prstDash val="solid"/>
          </a:ln>
        </p:spPr>
      </p:sp>
      <p:sp>
        <p:nvSpPr>
          <p:cNvPr id="10" name="Text 8"/>
          <p:cNvSpPr/>
          <p:nvPr/>
        </p:nvSpPr>
        <p:spPr>
          <a:xfrm>
            <a:off x="822960"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1</a:t>
            </a:r>
            <a:endParaRPr lang="en-US" sz="1300" dirty="0"/>
          </a:p>
        </p:txBody>
      </p:sp>
      <p:sp>
        <p:nvSpPr>
          <p:cNvPr id="11" name="Text 9"/>
          <p:cNvSpPr/>
          <p:nvPr/>
        </p:nvSpPr>
        <p:spPr>
          <a:xfrm>
            <a:off x="338328" y="2560320"/>
            <a:ext cx="1591056"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Framework</a:t>
            </a:r>
            <a:endParaRPr lang="en-US" sz="1200" dirty="0"/>
          </a:p>
        </p:txBody>
      </p:sp>
      <p:sp>
        <p:nvSpPr>
          <p:cNvPr id="12" name="Text 10"/>
          <p:cNvSpPr/>
          <p:nvPr/>
        </p:nvSpPr>
        <p:spPr>
          <a:xfrm>
            <a:off x="338328" y="2926080"/>
            <a:ext cx="1591056"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Values → behaviours.</a:t>
            </a:r>
            <a:endParaRPr lang="en-US" sz="1000" dirty="0"/>
          </a:p>
        </p:txBody>
      </p:sp>
      <p:sp>
        <p:nvSpPr>
          <p:cNvPr id="13" name="Shape 11"/>
          <p:cNvSpPr/>
          <p:nvPr/>
        </p:nvSpPr>
        <p:spPr>
          <a:xfrm>
            <a:off x="2542032" y="1792224"/>
            <a:ext cx="621792" cy="621792"/>
          </a:xfrm>
          <a:prstGeom prst="ellipse">
            <a:avLst/>
          </a:prstGeom>
          <a:solidFill>
            <a:srgbClr val="5391D5"/>
          </a:solidFill>
          <a:ln w="12700">
            <a:solidFill>
              <a:srgbClr val="5391D5"/>
            </a:solidFill>
            <a:prstDash val="solid"/>
          </a:ln>
        </p:spPr>
      </p:sp>
      <p:sp>
        <p:nvSpPr>
          <p:cNvPr id="14" name="Shape 12"/>
          <p:cNvSpPr/>
          <p:nvPr/>
        </p:nvSpPr>
        <p:spPr>
          <a:xfrm>
            <a:off x="2615184" y="1865376"/>
            <a:ext cx="475488" cy="475488"/>
          </a:xfrm>
          <a:prstGeom prst="ellipse">
            <a:avLst/>
          </a:prstGeom>
          <a:solidFill>
            <a:srgbClr val="010131"/>
          </a:solidFill>
          <a:ln w="12700">
            <a:solidFill>
              <a:srgbClr val="010131"/>
            </a:solidFill>
            <a:prstDash val="solid"/>
          </a:ln>
        </p:spPr>
      </p:sp>
      <p:sp>
        <p:nvSpPr>
          <p:cNvPr id="15" name="Text 13"/>
          <p:cNvSpPr/>
          <p:nvPr/>
        </p:nvSpPr>
        <p:spPr>
          <a:xfrm>
            <a:off x="2542032"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2</a:t>
            </a:r>
            <a:endParaRPr lang="en-US" sz="1300" dirty="0"/>
          </a:p>
        </p:txBody>
      </p:sp>
      <p:sp>
        <p:nvSpPr>
          <p:cNvPr id="16" name="Text 14"/>
          <p:cNvSpPr/>
          <p:nvPr/>
        </p:nvSpPr>
        <p:spPr>
          <a:xfrm>
            <a:off x="2057400" y="2560320"/>
            <a:ext cx="1591056"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Raters</a:t>
            </a:r>
            <a:endParaRPr lang="en-US" sz="1200" dirty="0"/>
          </a:p>
        </p:txBody>
      </p:sp>
      <p:sp>
        <p:nvSpPr>
          <p:cNvPr id="17" name="Text 15"/>
          <p:cNvSpPr/>
          <p:nvPr/>
        </p:nvSpPr>
        <p:spPr>
          <a:xfrm>
            <a:off x="2057400" y="2926080"/>
            <a:ext cx="1591056"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Invite the rater groups.</a:t>
            </a:r>
            <a:endParaRPr lang="en-US" sz="1000" dirty="0"/>
          </a:p>
        </p:txBody>
      </p:sp>
      <p:sp>
        <p:nvSpPr>
          <p:cNvPr id="18" name="Shape 16"/>
          <p:cNvSpPr/>
          <p:nvPr/>
        </p:nvSpPr>
        <p:spPr>
          <a:xfrm>
            <a:off x="4261104" y="1792224"/>
            <a:ext cx="621792" cy="621792"/>
          </a:xfrm>
          <a:prstGeom prst="ellipse">
            <a:avLst/>
          </a:prstGeom>
          <a:solidFill>
            <a:srgbClr val="5391D5"/>
          </a:solidFill>
          <a:ln w="12700">
            <a:solidFill>
              <a:srgbClr val="5391D5"/>
            </a:solidFill>
            <a:prstDash val="solid"/>
          </a:ln>
        </p:spPr>
      </p:sp>
      <p:sp>
        <p:nvSpPr>
          <p:cNvPr id="19" name="Shape 17"/>
          <p:cNvSpPr/>
          <p:nvPr/>
        </p:nvSpPr>
        <p:spPr>
          <a:xfrm>
            <a:off x="4334256" y="1865376"/>
            <a:ext cx="475488" cy="475488"/>
          </a:xfrm>
          <a:prstGeom prst="ellipse">
            <a:avLst/>
          </a:prstGeom>
          <a:solidFill>
            <a:srgbClr val="010131"/>
          </a:solidFill>
          <a:ln w="12700">
            <a:solidFill>
              <a:srgbClr val="010131"/>
            </a:solidFill>
            <a:prstDash val="solid"/>
          </a:ln>
        </p:spPr>
      </p:sp>
      <p:sp>
        <p:nvSpPr>
          <p:cNvPr id="20" name="Text 18"/>
          <p:cNvSpPr/>
          <p:nvPr/>
        </p:nvSpPr>
        <p:spPr>
          <a:xfrm>
            <a:off x="4261104"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3</a:t>
            </a:r>
            <a:endParaRPr lang="en-US" sz="1300" dirty="0"/>
          </a:p>
        </p:txBody>
      </p:sp>
      <p:sp>
        <p:nvSpPr>
          <p:cNvPr id="21" name="Text 19"/>
          <p:cNvSpPr/>
          <p:nvPr/>
        </p:nvSpPr>
        <p:spPr>
          <a:xfrm>
            <a:off x="3776472" y="2560320"/>
            <a:ext cx="1591056"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Collect</a:t>
            </a:r>
            <a:endParaRPr lang="en-US" sz="1200" dirty="0"/>
          </a:p>
        </p:txBody>
      </p:sp>
      <p:sp>
        <p:nvSpPr>
          <p:cNvPr id="22" name="Text 20"/>
          <p:cNvSpPr/>
          <p:nvPr/>
        </p:nvSpPr>
        <p:spPr>
          <a:xfrm>
            <a:off x="3776472" y="2926080"/>
            <a:ext cx="1591056"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Raters score behaviours.</a:t>
            </a:r>
            <a:endParaRPr lang="en-US" sz="1000" dirty="0"/>
          </a:p>
        </p:txBody>
      </p:sp>
      <p:sp>
        <p:nvSpPr>
          <p:cNvPr id="23" name="Shape 21"/>
          <p:cNvSpPr/>
          <p:nvPr/>
        </p:nvSpPr>
        <p:spPr>
          <a:xfrm>
            <a:off x="5980176" y="1792224"/>
            <a:ext cx="621792" cy="621792"/>
          </a:xfrm>
          <a:prstGeom prst="ellipse">
            <a:avLst/>
          </a:prstGeom>
          <a:solidFill>
            <a:srgbClr val="5391D5"/>
          </a:solidFill>
          <a:ln w="12700">
            <a:solidFill>
              <a:srgbClr val="5391D5"/>
            </a:solidFill>
            <a:prstDash val="solid"/>
          </a:ln>
        </p:spPr>
      </p:sp>
      <p:sp>
        <p:nvSpPr>
          <p:cNvPr id="24" name="Shape 22"/>
          <p:cNvSpPr/>
          <p:nvPr/>
        </p:nvSpPr>
        <p:spPr>
          <a:xfrm>
            <a:off x="6053328" y="1865376"/>
            <a:ext cx="475488" cy="475488"/>
          </a:xfrm>
          <a:prstGeom prst="ellipse">
            <a:avLst/>
          </a:prstGeom>
          <a:solidFill>
            <a:srgbClr val="010131"/>
          </a:solidFill>
          <a:ln w="12700">
            <a:solidFill>
              <a:srgbClr val="010131"/>
            </a:solidFill>
            <a:prstDash val="solid"/>
          </a:ln>
        </p:spPr>
      </p:sp>
      <p:sp>
        <p:nvSpPr>
          <p:cNvPr id="25" name="Text 23"/>
          <p:cNvSpPr/>
          <p:nvPr/>
        </p:nvSpPr>
        <p:spPr>
          <a:xfrm>
            <a:off x="5980176"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4</a:t>
            </a:r>
            <a:endParaRPr lang="en-US" sz="1300" dirty="0"/>
          </a:p>
        </p:txBody>
      </p:sp>
      <p:sp>
        <p:nvSpPr>
          <p:cNvPr id="26" name="Text 24"/>
          <p:cNvSpPr/>
          <p:nvPr/>
        </p:nvSpPr>
        <p:spPr>
          <a:xfrm>
            <a:off x="5495544" y="2560320"/>
            <a:ext cx="1591056"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Report</a:t>
            </a:r>
            <a:endParaRPr lang="en-US" sz="1200" dirty="0"/>
          </a:p>
        </p:txBody>
      </p:sp>
      <p:sp>
        <p:nvSpPr>
          <p:cNvPr id="27" name="Text 25"/>
          <p:cNvSpPr/>
          <p:nvPr/>
        </p:nvSpPr>
        <p:spPr>
          <a:xfrm>
            <a:off x="5495544" y="2926080"/>
            <a:ext cx="1591056"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Self-vs-others gaps.</a:t>
            </a:r>
            <a:endParaRPr lang="en-US" sz="1000" dirty="0"/>
          </a:p>
        </p:txBody>
      </p:sp>
      <p:sp>
        <p:nvSpPr>
          <p:cNvPr id="28" name="Shape 26"/>
          <p:cNvSpPr/>
          <p:nvPr/>
        </p:nvSpPr>
        <p:spPr>
          <a:xfrm>
            <a:off x="7699248" y="1792224"/>
            <a:ext cx="621792" cy="621792"/>
          </a:xfrm>
          <a:prstGeom prst="ellipse">
            <a:avLst/>
          </a:prstGeom>
          <a:solidFill>
            <a:srgbClr val="5391D5"/>
          </a:solidFill>
          <a:ln w="12700">
            <a:solidFill>
              <a:srgbClr val="5391D5"/>
            </a:solidFill>
            <a:prstDash val="solid"/>
          </a:ln>
        </p:spPr>
      </p:sp>
      <p:sp>
        <p:nvSpPr>
          <p:cNvPr id="29" name="Shape 27"/>
          <p:cNvSpPr/>
          <p:nvPr/>
        </p:nvSpPr>
        <p:spPr>
          <a:xfrm>
            <a:off x="7772400" y="1865376"/>
            <a:ext cx="475488" cy="475488"/>
          </a:xfrm>
          <a:prstGeom prst="ellipse">
            <a:avLst/>
          </a:prstGeom>
          <a:solidFill>
            <a:srgbClr val="010131"/>
          </a:solidFill>
          <a:ln w="12700">
            <a:solidFill>
              <a:srgbClr val="010131"/>
            </a:solidFill>
            <a:prstDash val="solid"/>
          </a:ln>
        </p:spPr>
      </p:sp>
      <p:sp>
        <p:nvSpPr>
          <p:cNvPr id="30" name="Text 28"/>
          <p:cNvSpPr/>
          <p:nvPr/>
        </p:nvSpPr>
        <p:spPr>
          <a:xfrm>
            <a:off x="7699248"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5</a:t>
            </a:r>
            <a:endParaRPr lang="en-US" sz="1300" dirty="0"/>
          </a:p>
        </p:txBody>
      </p:sp>
      <p:sp>
        <p:nvSpPr>
          <p:cNvPr id="31" name="Text 29"/>
          <p:cNvSpPr/>
          <p:nvPr/>
        </p:nvSpPr>
        <p:spPr>
          <a:xfrm>
            <a:off x="7214616" y="2560320"/>
            <a:ext cx="1591056"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IDP</a:t>
            </a:r>
            <a:endParaRPr lang="en-US" sz="1200" dirty="0"/>
          </a:p>
        </p:txBody>
      </p:sp>
      <p:sp>
        <p:nvSpPr>
          <p:cNvPr id="32" name="Text 30"/>
          <p:cNvSpPr/>
          <p:nvPr/>
        </p:nvSpPr>
        <p:spPr>
          <a:xfrm>
            <a:off x="7214616" y="2926080"/>
            <a:ext cx="1591056"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A development plan.</a:t>
            </a:r>
            <a:endParaRPr lang="en-US" sz="1000" dirty="0"/>
          </a:p>
        </p:txBody>
      </p:sp>
      <p:sp>
        <p:nvSpPr>
          <p:cNvPr id="33" name="Text 31"/>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64748B"/>
                </a:solidFill>
                <a:latin typeface="Open Sans" pitchFamily="34" charset="0"/>
                <a:ea typeface="Open Sans" pitchFamily="34" charset="-122"/>
                <a:cs typeface="Open Sans" pitchFamily="34" charset="-120"/>
              </a:rPr>
              <a:t>Reflect 360  ·  User Manual</a:t>
            </a:r>
            <a:endParaRPr lang="en-US" sz="800" dirty="0"/>
          </a:p>
        </p:txBody>
      </p:sp>
      <p:sp>
        <p:nvSpPr>
          <p:cNvPr id="34" name="Text 32"/>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64748B"/>
                </a:solidFill>
                <a:latin typeface="Open Sans" pitchFamily="34" charset="0"/>
                <a:ea typeface="Open Sans" pitchFamily="34" charset="-122"/>
                <a:cs typeface="Open Sans"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w="12700">
            <a:solidFill>
              <a:srgbClr val="F5F7FA"/>
            </a:solidFill>
            <a:prstDash val="solid"/>
          </a:ln>
        </p:spPr>
      </p:sp>
      <p:sp>
        <p:nvSpPr>
          <p:cNvPr id="3" name="Shape 1"/>
          <p:cNvSpPr/>
          <p:nvPr/>
        </p:nvSpPr>
        <p:spPr>
          <a:xfrm>
            <a:off x="0" y="0"/>
            <a:ext cx="164592" cy="5143500"/>
          </a:xfrm>
          <a:prstGeom prst="rect">
            <a:avLst/>
          </a:prstGeom>
          <a:solidFill>
            <a:srgbClr val="5391D5"/>
          </a:solidFill>
          <a:ln w="12700">
            <a:solidFill>
              <a:srgbClr val="5391D5"/>
            </a:solidFill>
            <a:prstDash val="solid"/>
          </a:ln>
        </p:spPr>
      </p:sp>
      <p:sp>
        <p:nvSpPr>
          <p:cNvPr id="4" name="Text 2"/>
          <p:cNvSpPr/>
          <p:nvPr/>
        </p:nvSpPr>
        <p:spPr>
          <a:xfrm>
            <a:off x="320040" y="164592"/>
            <a:ext cx="5486400" cy="256032"/>
          </a:xfrm>
          <a:prstGeom prst="rect">
            <a:avLst/>
          </a:prstGeom>
          <a:noFill/>
          <a:ln/>
        </p:spPr>
        <p:txBody>
          <a:bodyPr wrap="square" rtlCol="0" anchor="ctr"/>
          <a:lstStyle/>
          <a:p>
            <a:pPr indent="0" marL="0">
              <a:buNone/>
            </a:pPr>
            <a:r>
              <a:rPr lang="en-US" sz="850" spc="300" kern="0" dirty="0">
                <a:solidFill>
                  <a:srgbClr val="5391D5"/>
                </a:solidFill>
                <a:latin typeface="Open Sans" pitchFamily="34" charset="0"/>
                <a:ea typeface="Open Sans" pitchFamily="34" charset="-122"/>
                <a:cs typeface="Open Sans" pitchFamily="34" charset="-120"/>
              </a:rPr>
              <a:t>[ Key concepts ]</a:t>
            </a:r>
            <a:endParaRPr lang="en-US" sz="850" dirty="0"/>
          </a:p>
        </p:txBody>
      </p:sp>
      <p:sp>
        <p:nvSpPr>
          <p:cNvPr id="5" name="Text 3"/>
          <p:cNvSpPr/>
          <p:nvPr/>
        </p:nvSpPr>
        <p:spPr>
          <a:xfrm>
            <a:off x="320040" y="384048"/>
            <a:ext cx="8595360" cy="457200"/>
          </a:xfrm>
          <a:prstGeom prst="rect">
            <a:avLst/>
          </a:prstGeom>
          <a:noFill/>
          <a:ln/>
        </p:spPr>
        <p:txBody>
          <a:bodyPr wrap="square" rtlCol="0" anchor="ctr"/>
          <a:lstStyle/>
          <a:p>
            <a:pPr indent="0" marL="0">
              <a:buNone/>
            </a:pPr>
            <a:r>
              <a:rPr lang="en-US" sz="2000" b="1" dirty="0">
                <a:solidFill>
                  <a:srgbClr val="010131"/>
                </a:solidFill>
                <a:latin typeface="Open Sans" pitchFamily="34" charset="0"/>
                <a:ea typeface="Open Sans" pitchFamily="34" charset="-122"/>
                <a:cs typeface="Open Sans" pitchFamily="34" charset="-120"/>
              </a:rPr>
              <a:t>The vocabulary you will use</a:t>
            </a:r>
            <a:endParaRPr lang="en-US" sz="2000" dirty="0"/>
          </a:p>
        </p:txBody>
      </p:sp>
      <p:sp>
        <p:nvSpPr>
          <p:cNvPr id="6" name="Shape 4"/>
          <p:cNvSpPr/>
          <p:nvPr/>
        </p:nvSpPr>
        <p:spPr>
          <a:xfrm>
            <a:off x="256032" y="960120"/>
            <a:ext cx="8595360" cy="612648"/>
          </a:xfrm>
          <a:prstGeom prst="roundRect">
            <a:avLst>
              <a:gd name="adj" fmla="val 11940"/>
            </a:avLst>
          </a:prstGeom>
          <a:solidFill>
            <a:srgbClr val="FFFFFF"/>
          </a:solidFill>
          <a:ln w="12700">
            <a:solidFill>
              <a:srgbClr val="EDF1F5"/>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256032" y="960120"/>
            <a:ext cx="73152" cy="612648"/>
          </a:xfrm>
          <a:prstGeom prst="rect">
            <a:avLst/>
          </a:prstGeom>
          <a:solidFill>
            <a:srgbClr val="5391D5"/>
          </a:solidFill>
          <a:ln w="12700">
            <a:solidFill>
              <a:srgbClr val="5391D5"/>
            </a:solidFill>
            <a:prstDash val="solid"/>
          </a:ln>
        </p:spPr>
      </p:sp>
      <p:sp>
        <p:nvSpPr>
          <p:cNvPr id="8" name="Shape 6"/>
          <p:cNvSpPr/>
          <p:nvPr/>
        </p:nvSpPr>
        <p:spPr>
          <a:xfrm>
            <a:off x="438912" y="1056132"/>
            <a:ext cx="420624" cy="420624"/>
          </a:xfrm>
          <a:prstGeom prst="ellipse">
            <a:avLst/>
          </a:prstGeom>
          <a:solidFill>
            <a:srgbClr val="5391D5"/>
          </a:solidFill>
          <a:ln w="12700">
            <a:solidFill>
              <a:srgbClr val="5391D5"/>
            </a:solidFill>
            <a:prstDash val="solid"/>
          </a:ln>
        </p:spPr>
      </p:sp>
      <p:sp>
        <p:nvSpPr>
          <p:cNvPr id="9" name="Text 7"/>
          <p:cNvSpPr/>
          <p:nvPr/>
        </p:nvSpPr>
        <p:spPr>
          <a:xfrm>
            <a:off x="438912" y="105613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01</a:t>
            </a:r>
            <a:endParaRPr lang="en-US" sz="1100" dirty="0"/>
          </a:p>
        </p:txBody>
      </p:sp>
      <p:sp>
        <p:nvSpPr>
          <p:cNvPr id="10" name="Text 8"/>
          <p:cNvSpPr/>
          <p:nvPr/>
        </p:nvSpPr>
        <p:spPr>
          <a:xfrm>
            <a:off x="987552" y="960120"/>
            <a:ext cx="2651760" cy="612648"/>
          </a:xfrm>
          <a:prstGeom prst="rect">
            <a:avLst/>
          </a:prstGeom>
          <a:noFill/>
          <a:ln/>
        </p:spPr>
        <p:txBody>
          <a:bodyPr wrap="square" rtlCol="0" anchor="ctr"/>
          <a:lstStyle/>
          <a:p>
            <a:pPr indent="0" marL="0">
              <a:buNone/>
            </a:pPr>
            <a:r>
              <a:rPr lang="en-US" sz="1300" b="1" dirty="0">
                <a:solidFill>
                  <a:srgbClr val="010131"/>
                </a:solidFill>
                <a:latin typeface="Open Sans" pitchFamily="34" charset="0"/>
                <a:ea typeface="Open Sans" pitchFamily="34" charset="-122"/>
                <a:cs typeface="Open Sans" pitchFamily="34" charset="-120"/>
              </a:rPr>
              <a:t>Rater groups</a:t>
            </a:r>
            <a:endParaRPr lang="en-US" sz="1300" dirty="0"/>
          </a:p>
        </p:txBody>
      </p:sp>
      <p:sp>
        <p:nvSpPr>
          <p:cNvPr id="11" name="Shape 9"/>
          <p:cNvSpPr/>
          <p:nvPr/>
        </p:nvSpPr>
        <p:spPr>
          <a:xfrm>
            <a:off x="3703320" y="1088136"/>
            <a:ext cx="36576" cy="356616"/>
          </a:xfrm>
          <a:prstGeom prst="rect">
            <a:avLst/>
          </a:prstGeom>
          <a:solidFill>
            <a:srgbClr val="5391D5"/>
          </a:solidFill>
          <a:ln w="12700">
            <a:solidFill>
              <a:srgbClr val="5391D5"/>
            </a:solidFill>
            <a:prstDash val="solid"/>
          </a:ln>
        </p:spPr>
      </p:sp>
      <p:sp>
        <p:nvSpPr>
          <p:cNvPr id="12" name="Text 10"/>
          <p:cNvSpPr/>
          <p:nvPr/>
        </p:nvSpPr>
        <p:spPr>
          <a:xfrm>
            <a:off x="3858768" y="960120"/>
            <a:ext cx="4892040" cy="612648"/>
          </a:xfrm>
          <a:prstGeom prst="rect">
            <a:avLst/>
          </a:prstGeom>
          <a:noFill/>
          <a:ln/>
        </p:spPr>
        <p:txBody>
          <a:bodyPr wrap="square" rtlCol="0" anchor="ctr"/>
          <a:lstStyle/>
          <a:p>
            <a:pPr indent="0" marL="0">
              <a:buNone/>
            </a:pPr>
            <a:r>
              <a:rPr lang="en-US" sz="1150" dirty="0">
                <a:solidFill>
                  <a:srgbClr val="64748B"/>
                </a:solidFill>
                <a:latin typeface="Open Sans" pitchFamily="34" charset="0"/>
                <a:ea typeface="Open Sans" pitchFamily="34" charset="-122"/>
                <a:cs typeface="Open Sans" pitchFamily="34" charset="-120"/>
              </a:rPr>
              <a:t>Self, Manager, Peer and Direct Report — each seen separately in the report.</a:t>
            </a:r>
            <a:endParaRPr lang="en-US" sz="1150" dirty="0"/>
          </a:p>
        </p:txBody>
      </p:sp>
      <p:sp>
        <p:nvSpPr>
          <p:cNvPr id="13" name="Shape 11"/>
          <p:cNvSpPr/>
          <p:nvPr/>
        </p:nvSpPr>
        <p:spPr>
          <a:xfrm>
            <a:off x="256032" y="1691640"/>
            <a:ext cx="8595360" cy="612648"/>
          </a:xfrm>
          <a:prstGeom prst="roundRect">
            <a:avLst>
              <a:gd name="adj" fmla="val 11940"/>
            </a:avLst>
          </a:prstGeom>
          <a:solidFill>
            <a:srgbClr val="D0DFF4"/>
          </a:solidFill>
          <a:ln w="12700">
            <a:solidFill>
              <a:srgbClr val="EDF1F5"/>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256032" y="1691640"/>
            <a:ext cx="73152" cy="612648"/>
          </a:xfrm>
          <a:prstGeom prst="rect">
            <a:avLst/>
          </a:prstGeom>
          <a:solidFill>
            <a:srgbClr val="5391D5"/>
          </a:solidFill>
          <a:ln w="12700">
            <a:solidFill>
              <a:srgbClr val="5391D5"/>
            </a:solidFill>
            <a:prstDash val="solid"/>
          </a:ln>
        </p:spPr>
      </p:sp>
      <p:sp>
        <p:nvSpPr>
          <p:cNvPr id="15" name="Shape 13"/>
          <p:cNvSpPr/>
          <p:nvPr/>
        </p:nvSpPr>
        <p:spPr>
          <a:xfrm>
            <a:off x="438912" y="1787652"/>
            <a:ext cx="420624" cy="420624"/>
          </a:xfrm>
          <a:prstGeom prst="ellipse">
            <a:avLst/>
          </a:prstGeom>
          <a:solidFill>
            <a:srgbClr val="5391D5"/>
          </a:solidFill>
          <a:ln w="12700">
            <a:solidFill>
              <a:srgbClr val="5391D5"/>
            </a:solidFill>
            <a:prstDash val="solid"/>
          </a:ln>
        </p:spPr>
      </p:sp>
      <p:sp>
        <p:nvSpPr>
          <p:cNvPr id="16" name="Text 14"/>
          <p:cNvSpPr/>
          <p:nvPr/>
        </p:nvSpPr>
        <p:spPr>
          <a:xfrm>
            <a:off x="438912" y="178765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02</a:t>
            </a:r>
            <a:endParaRPr lang="en-US" sz="1100" dirty="0"/>
          </a:p>
        </p:txBody>
      </p:sp>
      <p:sp>
        <p:nvSpPr>
          <p:cNvPr id="17" name="Text 15"/>
          <p:cNvSpPr/>
          <p:nvPr/>
        </p:nvSpPr>
        <p:spPr>
          <a:xfrm>
            <a:off x="987552" y="1691640"/>
            <a:ext cx="2651760" cy="612648"/>
          </a:xfrm>
          <a:prstGeom prst="rect">
            <a:avLst/>
          </a:prstGeom>
          <a:noFill/>
          <a:ln/>
        </p:spPr>
        <p:txBody>
          <a:bodyPr wrap="square" rtlCol="0" anchor="ctr"/>
          <a:lstStyle/>
          <a:p>
            <a:pPr indent="0" marL="0">
              <a:buNone/>
            </a:pPr>
            <a:r>
              <a:rPr lang="en-US" sz="1300" b="1" dirty="0">
                <a:solidFill>
                  <a:srgbClr val="010131"/>
                </a:solidFill>
                <a:latin typeface="Open Sans" pitchFamily="34" charset="0"/>
                <a:ea typeface="Open Sans" pitchFamily="34" charset="-122"/>
                <a:cs typeface="Open Sans" pitchFamily="34" charset="-120"/>
              </a:rPr>
              <a:t>Frequency scale</a:t>
            </a:r>
            <a:endParaRPr lang="en-US" sz="1300" dirty="0"/>
          </a:p>
        </p:txBody>
      </p:sp>
      <p:sp>
        <p:nvSpPr>
          <p:cNvPr id="18" name="Shape 16"/>
          <p:cNvSpPr/>
          <p:nvPr/>
        </p:nvSpPr>
        <p:spPr>
          <a:xfrm>
            <a:off x="3703320" y="1819656"/>
            <a:ext cx="36576" cy="356616"/>
          </a:xfrm>
          <a:prstGeom prst="rect">
            <a:avLst/>
          </a:prstGeom>
          <a:solidFill>
            <a:srgbClr val="5391D5"/>
          </a:solidFill>
          <a:ln w="12700">
            <a:solidFill>
              <a:srgbClr val="5391D5"/>
            </a:solidFill>
            <a:prstDash val="solid"/>
          </a:ln>
        </p:spPr>
      </p:sp>
      <p:sp>
        <p:nvSpPr>
          <p:cNvPr id="19" name="Text 17"/>
          <p:cNvSpPr/>
          <p:nvPr/>
        </p:nvSpPr>
        <p:spPr>
          <a:xfrm>
            <a:off x="3858768" y="1691640"/>
            <a:ext cx="4892040" cy="612648"/>
          </a:xfrm>
          <a:prstGeom prst="rect">
            <a:avLst/>
          </a:prstGeom>
          <a:noFill/>
          <a:ln/>
        </p:spPr>
        <p:txBody>
          <a:bodyPr wrap="square" rtlCol="0" anchor="ctr"/>
          <a:lstStyle/>
          <a:p>
            <a:pPr indent="0" marL="0">
              <a:buNone/>
            </a:pPr>
            <a:r>
              <a:rPr lang="en-US" sz="1150" dirty="0">
                <a:solidFill>
                  <a:srgbClr val="64748B"/>
                </a:solidFill>
                <a:latin typeface="Open Sans" pitchFamily="34" charset="0"/>
                <a:ea typeface="Open Sans" pitchFamily="34" charset="-122"/>
                <a:cs typeface="Open Sans" pitchFamily="34" charset="-120"/>
              </a:rPr>
              <a:t>A five-point 'how often' scale for each observable behaviour.</a:t>
            </a:r>
            <a:endParaRPr lang="en-US" sz="1150" dirty="0"/>
          </a:p>
        </p:txBody>
      </p:sp>
      <p:sp>
        <p:nvSpPr>
          <p:cNvPr id="20" name="Shape 18"/>
          <p:cNvSpPr/>
          <p:nvPr/>
        </p:nvSpPr>
        <p:spPr>
          <a:xfrm>
            <a:off x="256032" y="2423160"/>
            <a:ext cx="8595360" cy="612648"/>
          </a:xfrm>
          <a:prstGeom prst="roundRect">
            <a:avLst>
              <a:gd name="adj" fmla="val 11940"/>
            </a:avLst>
          </a:prstGeom>
          <a:solidFill>
            <a:srgbClr val="FFFFFF"/>
          </a:solidFill>
          <a:ln w="12700">
            <a:solidFill>
              <a:srgbClr val="EDF1F5"/>
            </a:solidFill>
            <a:prstDash val="solid"/>
          </a:ln>
          <a:effectLst>
            <a:outerShdw sx="100000" sy="100000" kx="0" ky="0" algn="bl" rotWithShape="0" blurRad="50800" dist="12700" dir="8100000">
              <a:srgbClr val="000000">
                <a:alpha val="8000"/>
              </a:srgbClr>
            </a:outerShdw>
          </a:effectLst>
        </p:spPr>
      </p:sp>
      <p:sp>
        <p:nvSpPr>
          <p:cNvPr id="21" name="Shape 19"/>
          <p:cNvSpPr/>
          <p:nvPr/>
        </p:nvSpPr>
        <p:spPr>
          <a:xfrm>
            <a:off x="256032" y="2423160"/>
            <a:ext cx="73152" cy="612648"/>
          </a:xfrm>
          <a:prstGeom prst="rect">
            <a:avLst/>
          </a:prstGeom>
          <a:solidFill>
            <a:srgbClr val="5391D5"/>
          </a:solidFill>
          <a:ln w="12700">
            <a:solidFill>
              <a:srgbClr val="5391D5"/>
            </a:solidFill>
            <a:prstDash val="solid"/>
          </a:ln>
        </p:spPr>
      </p:sp>
      <p:sp>
        <p:nvSpPr>
          <p:cNvPr id="22" name="Shape 20"/>
          <p:cNvSpPr/>
          <p:nvPr/>
        </p:nvSpPr>
        <p:spPr>
          <a:xfrm>
            <a:off x="438912" y="2519172"/>
            <a:ext cx="420624" cy="420624"/>
          </a:xfrm>
          <a:prstGeom prst="ellipse">
            <a:avLst/>
          </a:prstGeom>
          <a:solidFill>
            <a:srgbClr val="5391D5"/>
          </a:solidFill>
          <a:ln w="12700">
            <a:solidFill>
              <a:srgbClr val="5391D5"/>
            </a:solidFill>
            <a:prstDash val="solid"/>
          </a:ln>
        </p:spPr>
      </p:sp>
      <p:sp>
        <p:nvSpPr>
          <p:cNvPr id="23" name="Text 21"/>
          <p:cNvSpPr/>
          <p:nvPr/>
        </p:nvSpPr>
        <p:spPr>
          <a:xfrm>
            <a:off x="438912" y="251917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03</a:t>
            </a:r>
            <a:endParaRPr lang="en-US" sz="1100" dirty="0"/>
          </a:p>
        </p:txBody>
      </p:sp>
      <p:sp>
        <p:nvSpPr>
          <p:cNvPr id="24" name="Text 22"/>
          <p:cNvSpPr/>
          <p:nvPr/>
        </p:nvSpPr>
        <p:spPr>
          <a:xfrm>
            <a:off x="987552" y="2423160"/>
            <a:ext cx="2651760" cy="612648"/>
          </a:xfrm>
          <a:prstGeom prst="rect">
            <a:avLst/>
          </a:prstGeom>
          <a:noFill/>
          <a:ln/>
        </p:spPr>
        <p:txBody>
          <a:bodyPr wrap="square" rtlCol="0" anchor="ctr"/>
          <a:lstStyle/>
          <a:p>
            <a:pPr indent="0" marL="0">
              <a:buNone/>
            </a:pPr>
            <a:r>
              <a:rPr lang="en-US" sz="1300" b="1" dirty="0">
                <a:solidFill>
                  <a:srgbClr val="010131"/>
                </a:solidFill>
                <a:latin typeface="Open Sans" pitchFamily="34" charset="0"/>
                <a:ea typeface="Open Sans" pitchFamily="34" charset="-122"/>
                <a:cs typeface="Open Sans" pitchFamily="34" charset="-120"/>
              </a:rPr>
              <a:t>Behaviours</a:t>
            </a:r>
            <a:endParaRPr lang="en-US" sz="1300" dirty="0"/>
          </a:p>
        </p:txBody>
      </p:sp>
      <p:sp>
        <p:nvSpPr>
          <p:cNvPr id="25" name="Shape 23"/>
          <p:cNvSpPr/>
          <p:nvPr/>
        </p:nvSpPr>
        <p:spPr>
          <a:xfrm>
            <a:off x="3703320" y="2551176"/>
            <a:ext cx="36576" cy="356616"/>
          </a:xfrm>
          <a:prstGeom prst="rect">
            <a:avLst/>
          </a:prstGeom>
          <a:solidFill>
            <a:srgbClr val="5391D5"/>
          </a:solidFill>
          <a:ln w="12700">
            <a:solidFill>
              <a:srgbClr val="5391D5"/>
            </a:solidFill>
            <a:prstDash val="solid"/>
          </a:ln>
        </p:spPr>
      </p:sp>
      <p:sp>
        <p:nvSpPr>
          <p:cNvPr id="26" name="Text 24"/>
          <p:cNvSpPr/>
          <p:nvPr/>
        </p:nvSpPr>
        <p:spPr>
          <a:xfrm>
            <a:off x="3858768" y="2423160"/>
            <a:ext cx="4892040" cy="612648"/>
          </a:xfrm>
          <a:prstGeom prst="rect">
            <a:avLst/>
          </a:prstGeom>
          <a:noFill/>
          <a:ln/>
        </p:spPr>
        <p:txBody>
          <a:bodyPr wrap="square" rtlCol="0" anchor="ctr"/>
          <a:lstStyle/>
          <a:p>
            <a:pPr indent="0" marL="0">
              <a:buNone/>
            </a:pPr>
            <a:r>
              <a:rPr lang="en-US" sz="1150" dirty="0">
                <a:solidFill>
                  <a:srgbClr val="64748B"/>
                </a:solidFill>
                <a:latin typeface="Open Sans" pitchFamily="34" charset="0"/>
                <a:ea typeface="Open Sans" pitchFamily="34" charset="-122"/>
                <a:cs typeface="Open Sans" pitchFamily="34" charset="-120"/>
              </a:rPr>
              <a:t>AI turns each value/competency into 3–5 observable behaviours.</a:t>
            </a:r>
            <a:endParaRPr lang="en-US" sz="1150" dirty="0"/>
          </a:p>
        </p:txBody>
      </p:sp>
      <p:sp>
        <p:nvSpPr>
          <p:cNvPr id="27" name="Shape 25"/>
          <p:cNvSpPr/>
          <p:nvPr/>
        </p:nvSpPr>
        <p:spPr>
          <a:xfrm>
            <a:off x="256032" y="3154680"/>
            <a:ext cx="8595360" cy="612648"/>
          </a:xfrm>
          <a:prstGeom prst="roundRect">
            <a:avLst>
              <a:gd name="adj" fmla="val 11940"/>
            </a:avLst>
          </a:prstGeom>
          <a:solidFill>
            <a:srgbClr val="D0DFF4"/>
          </a:solidFill>
          <a:ln w="12700">
            <a:solidFill>
              <a:srgbClr val="EDF1F5"/>
            </a:solidFill>
            <a:prstDash val="solid"/>
          </a:ln>
          <a:effectLst>
            <a:outerShdw sx="100000" sy="100000" kx="0" ky="0" algn="bl" rotWithShape="0" blurRad="50800" dist="12700" dir="8100000">
              <a:srgbClr val="000000">
                <a:alpha val="8000"/>
              </a:srgbClr>
            </a:outerShdw>
          </a:effectLst>
        </p:spPr>
      </p:sp>
      <p:sp>
        <p:nvSpPr>
          <p:cNvPr id="28" name="Shape 26"/>
          <p:cNvSpPr/>
          <p:nvPr/>
        </p:nvSpPr>
        <p:spPr>
          <a:xfrm>
            <a:off x="256032" y="3154680"/>
            <a:ext cx="73152" cy="612648"/>
          </a:xfrm>
          <a:prstGeom prst="rect">
            <a:avLst/>
          </a:prstGeom>
          <a:solidFill>
            <a:srgbClr val="5391D5"/>
          </a:solidFill>
          <a:ln w="12700">
            <a:solidFill>
              <a:srgbClr val="5391D5"/>
            </a:solidFill>
            <a:prstDash val="solid"/>
          </a:ln>
        </p:spPr>
      </p:sp>
      <p:sp>
        <p:nvSpPr>
          <p:cNvPr id="29" name="Shape 27"/>
          <p:cNvSpPr/>
          <p:nvPr/>
        </p:nvSpPr>
        <p:spPr>
          <a:xfrm>
            <a:off x="438912" y="3250692"/>
            <a:ext cx="420624" cy="420624"/>
          </a:xfrm>
          <a:prstGeom prst="ellipse">
            <a:avLst/>
          </a:prstGeom>
          <a:solidFill>
            <a:srgbClr val="5391D5"/>
          </a:solidFill>
          <a:ln w="12700">
            <a:solidFill>
              <a:srgbClr val="5391D5"/>
            </a:solidFill>
            <a:prstDash val="solid"/>
          </a:ln>
        </p:spPr>
      </p:sp>
      <p:sp>
        <p:nvSpPr>
          <p:cNvPr id="30" name="Text 28"/>
          <p:cNvSpPr/>
          <p:nvPr/>
        </p:nvSpPr>
        <p:spPr>
          <a:xfrm>
            <a:off x="438912" y="325069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04</a:t>
            </a:r>
            <a:endParaRPr lang="en-US" sz="1100" dirty="0"/>
          </a:p>
        </p:txBody>
      </p:sp>
      <p:sp>
        <p:nvSpPr>
          <p:cNvPr id="31" name="Text 29"/>
          <p:cNvSpPr/>
          <p:nvPr/>
        </p:nvSpPr>
        <p:spPr>
          <a:xfrm>
            <a:off x="987552" y="3154680"/>
            <a:ext cx="2651760" cy="612648"/>
          </a:xfrm>
          <a:prstGeom prst="rect">
            <a:avLst/>
          </a:prstGeom>
          <a:noFill/>
          <a:ln/>
        </p:spPr>
        <p:txBody>
          <a:bodyPr wrap="square" rtlCol="0" anchor="ctr"/>
          <a:lstStyle/>
          <a:p>
            <a:pPr indent="0" marL="0">
              <a:buNone/>
            </a:pPr>
            <a:r>
              <a:rPr lang="en-US" sz="1300" b="1" dirty="0">
                <a:solidFill>
                  <a:srgbClr val="010131"/>
                </a:solidFill>
                <a:latin typeface="Open Sans" pitchFamily="34" charset="0"/>
                <a:ea typeface="Open Sans" pitchFamily="34" charset="-122"/>
                <a:cs typeface="Open Sans" pitchFamily="34" charset="-120"/>
              </a:rPr>
              <a:t>Anonymity</a:t>
            </a:r>
            <a:endParaRPr lang="en-US" sz="1300" dirty="0"/>
          </a:p>
        </p:txBody>
      </p:sp>
      <p:sp>
        <p:nvSpPr>
          <p:cNvPr id="32" name="Shape 30"/>
          <p:cNvSpPr/>
          <p:nvPr/>
        </p:nvSpPr>
        <p:spPr>
          <a:xfrm>
            <a:off x="3703320" y="3282696"/>
            <a:ext cx="36576" cy="356616"/>
          </a:xfrm>
          <a:prstGeom prst="rect">
            <a:avLst/>
          </a:prstGeom>
          <a:solidFill>
            <a:srgbClr val="5391D5"/>
          </a:solidFill>
          <a:ln w="12700">
            <a:solidFill>
              <a:srgbClr val="5391D5"/>
            </a:solidFill>
            <a:prstDash val="solid"/>
          </a:ln>
        </p:spPr>
      </p:sp>
      <p:sp>
        <p:nvSpPr>
          <p:cNvPr id="33" name="Text 31"/>
          <p:cNvSpPr/>
          <p:nvPr/>
        </p:nvSpPr>
        <p:spPr>
          <a:xfrm>
            <a:off x="3858768" y="3154680"/>
            <a:ext cx="4892040" cy="612648"/>
          </a:xfrm>
          <a:prstGeom prst="rect">
            <a:avLst/>
          </a:prstGeom>
          <a:noFill/>
          <a:ln/>
        </p:spPr>
        <p:txBody>
          <a:bodyPr wrap="square" rtlCol="0" anchor="ctr"/>
          <a:lstStyle/>
          <a:p>
            <a:pPr indent="0" marL="0">
              <a:buNone/>
            </a:pPr>
            <a:r>
              <a:rPr lang="en-US" sz="1150" dirty="0">
                <a:solidFill>
                  <a:srgbClr val="64748B"/>
                </a:solidFill>
                <a:latin typeface="Open Sans" pitchFamily="34" charset="0"/>
                <a:ea typeface="Open Sans" pitchFamily="34" charset="-122"/>
                <a:cs typeface="Open Sans" pitchFamily="34" charset="-120"/>
              </a:rPr>
              <a:t>Group means and verbatims hide until a group reaches the minimum rater count.</a:t>
            </a:r>
            <a:endParaRPr lang="en-US" sz="1150" dirty="0"/>
          </a:p>
        </p:txBody>
      </p:sp>
      <p:sp>
        <p:nvSpPr>
          <p:cNvPr id="34" name="Shape 32"/>
          <p:cNvSpPr/>
          <p:nvPr/>
        </p:nvSpPr>
        <p:spPr>
          <a:xfrm>
            <a:off x="256032" y="3886200"/>
            <a:ext cx="8595360" cy="612648"/>
          </a:xfrm>
          <a:prstGeom prst="roundRect">
            <a:avLst>
              <a:gd name="adj" fmla="val 11940"/>
            </a:avLst>
          </a:prstGeom>
          <a:solidFill>
            <a:srgbClr val="FFFFFF"/>
          </a:solidFill>
          <a:ln w="12700">
            <a:solidFill>
              <a:srgbClr val="EDF1F5"/>
            </a:solidFill>
            <a:prstDash val="solid"/>
          </a:ln>
          <a:effectLst>
            <a:outerShdw sx="100000" sy="100000" kx="0" ky="0" algn="bl" rotWithShape="0" blurRad="50800" dist="12700" dir="8100000">
              <a:srgbClr val="000000">
                <a:alpha val="8000"/>
              </a:srgbClr>
            </a:outerShdw>
          </a:effectLst>
        </p:spPr>
      </p:sp>
      <p:sp>
        <p:nvSpPr>
          <p:cNvPr id="35" name="Shape 33"/>
          <p:cNvSpPr/>
          <p:nvPr/>
        </p:nvSpPr>
        <p:spPr>
          <a:xfrm>
            <a:off x="256032" y="3886200"/>
            <a:ext cx="73152" cy="612648"/>
          </a:xfrm>
          <a:prstGeom prst="rect">
            <a:avLst/>
          </a:prstGeom>
          <a:solidFill>
            <a:srgbClr val="5391D5"/>
          </a:solidFill>
          <a:ln w="12700">
            <a:solidFill>
              <a:srgbClr val="5391D5"/>
            </a:solidFill>
            <a:prstDash val="solid"/>
          </a:ln>
        </p:spPr>
      </p:sp>
      <p:sp>
        <p:nvSpPr>
          <p:cNvPr id="36" name="Shape 34"/>
          <p:cNvSpPr/>
          <p:nvPr/>
        </p:nvSpPr>
        <p:spPr>
          <a:xfrm>
            <a:off x="438912" y="3982212"/>
            <a:ext cx="420624" cy="420624"/>
          </a:xfrm>
          <a:prstGeom prst="ellipse">
            <a:avLst/>
          </a:prstGeom>
          <a:solidFill>
            <a:srgbClr val="5391D5"/>
          </a:solidFill>
          <a:ln w="12700">
            <a:solidFill>
              <a:srgbClr val="5391D5"/>
            </a:solidFill>
            <a:prstDash val="solid"/>
          </a:ln>
        </p:spPr>
      </p:sp>
      <p:sp>
        <p:nvSpPr>
          <p:cNvPr id="37" name="Text 35"/>
          <p:cNvSpPr/>
          <p:nvPr/>
        </p:nvSpPr>
        <p:spPr>
          <a:xfrm>
            <a:off x="438912" y="3982212"/>
            <a:ext cx="420624" cy="420624"/>
          </a:xfrm>
          <a:prstGeom prst="rect">
            <a:avLst/>
          </a:prstGeom>
          <a:noFill/>
          <a:ln/>
        </p:spPr>
        <p:txBody>
          <a:bodyPr wrap="square"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05</a:t>
            </a:r>
            <a:endParaRPr lang="en-US" sz="1100" dirty="0"/>
          </a:p>
        </p:txBody>
      </p:sp>
      <p:sp>
        <p:nvSpPr>
          <p:cNvPr id="38" name="Text 36"/>
          <p:cNvSpPr/>
          <p:nvPr/>
        </p:nvSpPr>
        <p:spPr>
          <a:xfrm>
            <a:off x="987552" y="3886200"/>
            <a:ext cx="2651760" cy="612648"/>
          </a:xfrm>
          <a:prstGeom prst="rect">
            <a:avLst/>
          </a:prstGeom>
          <a:noFill/>
          <a:ln/>
        </p:spPr>
        <p:txBody>
          <a:bodyPr wrap="square" rtlCol="0" anchor="ctr"/>
          <a:lstStyle/>
          <a:p>
            <a:pPr indent="0" marL="0">
              <a:buNone/>
            </a:pPr>
            <a:r>
              <a:rPr lang="en-US" sz="1300" b="1" dirty="0">
                <a:solidFill>
                  <a:srgbClr val="010131"/>
                </a:solidFill>
                <a:latin typeface="Open Sans" pitchFamily="34" charset="0"/>
                <a:ea typeface="Open Sans" pitchFamily="34" charset="-122"/>
                <a:cs typeface="Open Sans" pitchFamily="34" charset="-120"/>
              </a:rPr>
              <a:t>IDP</a:t>
            </a:r>
            <a:endParaRPr lang="en-US" sz="1300" dirty="0"/>
          </a:p>
        </p:txBody>
      </p:sp>
      <p:sp>
        <p:nvSpPr>
          <p:cNvPr id="39" name="Shape 37"/>
          <p:cNvSpPr/>
          <p:nvPr/>
        </p:nvSpPr>
        <p:spPr>
          <a:xfrm>
            <a:off x="3703320" y="4014216"/>
            <a:ext cx="36576" cy="356616"/>
          </a:xfrm>
          <a:prstGeom prst="rect">
            <a:avLst/>
          </a:prstGeom>
          <a:solidFill>
            <a:srgbClr val="5391D5"/>
          </a:solidFill>
          <a:ln w="12700">
            <a:solidFill>
              <a:srgbClr val="5391D5"/>
            </a:solidFill>
            <a:prstDash val="solid"/>
          </a:ln>
        </p:spPr>
      </p:sp>
      <p:sp>
        <p:nvSpPr>
          <p:cNvPr id="40" name="Text 38"/>
          <p:cNvSpPr/>
          <p:nvPr/>
        </p:nvSpPr>
        <p:spPr>
          <a:xfrm>
            <a:off x="3858768" y="3886200"/>
            <a:ext cx="4892040" cy="612648"/>
          </a:xfrm>
          <a:prstGeom prst="rect">
            <a:avLst/>
          </a:prstGeom>
          <a:noFill/>
          <a:ln/>
        </p:spPr>
        <p:txBody>
          <a:bodyPr wrap="square" rtlCol="0" anchor="ctr"/>
          <a:lstStyle/>
          <a:p>
            <a:pPr indent="0" marL="0">
              <a:buNone/>
            </a:pPr>
            <a:r>
              <a:rPr lang="en-US" sz="1150" dirty="0">
                <a:solidFill>
                  <a:srgbClr val="64748B"/>
                </a:solidFill>
                <a:latin typeface="Open Sans" pitchFamily="34" charset="0"/>
                <a:ea typeface="Open Sans" pitchFamily="34" charset="-122"/>
                <a:cs typeface="Open Sans" pitchFamily="34" charset="-120"/>
              </a:rPr>
              <a:t>The Individual Development Plan built from the participant's results.</a:t>
            </a:r>
            <a:endParaRPr lang="en-US" sz="1150" dirty="0"/>
          </a:p>
        </p:txBody>
      </p:sp>
      <p:sp>
        <p:nvSpPr>
          <p:cNvPr id="41" name="Text 39"/>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64748B"/>
                </a:solidFill>
                <a:latin typeface="Open Sans" pitchFamily="34" charset="0"/>
                <a:ea typeface="Open Sans" pitchFamily="34" charset="-122"/>
                <a:cs typeface="Open Sans" pitchFamily="34" charset="-120"/>
              </a:rPr>
              <a:t>Reflect 360  ·  User Manual</a:t>
            </a:r>
            <a:endParaRPr lang="en-US" sz="800" dirty="0"/>
          </a:p>
        </p:txBody>
      </p:sp>
      <p:sp>
        <p:nvSpPr>
          <p:cNvPr id="42" name="Text 40"/>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64748B"/>
                </a:solidFill>
                <a:latin typeface="Open Sans" pitchFamily="34" charset="0"/>
                <a:ea typeface="Open Sans" pitchFamily="34" charset="-122"/>
                <a:cs typeface="Open Sans"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6B"/>
          </a:solidFill>
          <a:ln w="12700">
            <a:solidFill>
              <a:srgbClr val="1A3A6B"/>
            </a:solidFill>
            <a:prstDash val="solid"/>
          </a:ln>
        </p:spPr>
      </p:sp>
      <p:sp>
        <p:nvSpPr>
          <p:cNvPr id="3" name="Shape 1"/>
          <p:cNvSpPr/>
          <p:nvPr/>
        </p:nvSpPr>
        <p:spPr>
          <a:xfrm flipH="1">
            <a:off x="3200400" y="0"/>
            <a:ext cx="6126480" cy="5143500"/>
          </a:xfrm>
          <a:prstGeom prst="rtTriangle">
            <a:avLst/>
          </a:prstGeom>
          <a:solidFill>
            <a:srgbClr val="5391D5"/>
          </a:solidFill>
          <a:ln w="12700">
            <a:solidFill>
              <a:srgbClr val="5391D5"/>
            </a:solidFill>
            <a:prstDash val="solid"/>
          </a:ln>
        </p:spPr>
      </p:sp>
      <p:sp>
        <p:nvSpPr>
          <p:cNvPr id="4" name="Shape 2"/>
          <p:cNvSpPr/>
          <p:nvPr/>
        </p:nvSpPr>
        <p:spPr>
          <a:xfrm flipH="1">
            <a:off x="3383280" y="0"/>
            <a:ext cx="5943600" cy="5143500"/>
          </a:xfrm>
          <a:prstGeom prst="rtTriangle">
            <a:avLst/>
          </a:prstGeom>
          <a:solidFill>
            <a:srgbClr val="010131"/>
          </a:solidFill>
          <a:ln w="12700">
            <a:solidFill>
              <a:srgbClr val="010131"/>
            </a:solidFill>
            <a:prstDash val="solid"/>
          </a:ln>
        </p:spPr>
      </p:sp>
      <p:sp>
        <p:nvSpPr>
          <p:cNvPr id="5" name="Shape 3"/>
          <p:cNvSpPr/>
          <p:nvPr/>
        </p:nvSpPr>
        <p:spPr>
          <a:xfrm>
            <a:off x="0" y="0"/>
            <a:ext cx="164592" cy="5143500"/>
          </a:xfrm>
          <a:prstGeom prst="rect">
            <a:avLst/>
          </a:prstGeom>
          <a:solidFill>
            <a:srgbClr val="5391D5"/>
          </a:solidFill>
          <a:ln w="12700">
            <a:solidFill>
              <a:srgbClr val="5391D5"/>
            </a:solidFill>
            <a:prstDash val="solid"/>
          </a:ln>
        </p:spPr>
      </p:sp>
      <p:sp>
        <p:nvSpPr>
          <p:cNvPr id="6" name="Text 4"/>
          <p:cNvSpPr/>
          <p:nvPr/>
        </p:nvSpPr>
        <p:spPr>
          <a:xfrm>
            <a:off x="320040" y="164592"/>
            <a:ext cx="5486400" cy="256032"/>
          </a:xfrm>
          <a:prstGeom prst="rect">
            <a:avLst/>
          </a:prstGeom>
          <a:noFill/>
          <a:ln/>
        </p:spPr>
        <p:txBody>
          <a:bodyPr wrap="square" rtlCol="0" anchor="ctr"/>
          <a:lstStyle/>
          <a:p>
            <a:pPr indent="0" marL="0">
              <a:buNone/>
            </a:pPr>
            <a:r>
              <a:rPr lang="en-US" sz="850" spc="300" kern="0" dirty="0">
                <a:solidFill>
                  <a:srgbClr val="A8C4E5"/>
                </a:solidFill>
                <a:latin typeface="Open Sans" pitchFamily="34" charset="0"/>
                <a:ea typeface="Open Sans" pitchFamily="34" charset="-122"/>
                <a:cs typeface="Open Sans" pitchFamily="34" charset="-120"/>
              </a:rPr>
              <a:t>[ Part 1 ]</a:t>
            </a:r>
            <a:endParaRPr lang="en-US" sz="850" dirty="0"/>
          </a:p>
        </p:txBody>
      </p:sp>
      <p:sp>
        <p:nvSpPr>
          <p:cNvPr id="7" name="Text 5"/>
          <p:cNvSpPr/>
          <p:nvPr/>
        </p:nvSpPr>
        <p:spPr>
          <a:xfrm>
            <a:off x="320040" y="1463040"/>
            <a:ext cx="5120640" cy="1828800"/>
          </a:xfrm>
          <a:prstGeom prst="rect">
            <a:avLst/>
          </a:prstGeom>
          <a:noFill/>
          <a:ln/>
        </p:spPr>
        <p:txBody>
          <a:bodyPr wrap="square" rtlCol="0" anchor="ctr"/>
          <a:lstStyle/>
          <a:p>
            <a:pPr indent="0" marL="0">
              <a:buNone/>
            </a:pPr>
            <a:r>
              <a:rPr lang="en-US" sz="3400" b="1" dirty="0">
                <a:solidFill>
                  <a:srgbClr val="FFFFFF"/>
                </a:solidFill>
                <a:latin typeface="Open Sans" pitchFamily="34" charset="0"/>
                <a:ea typeface="Open Sans" pitchFamily="34" charset="-122"/>
                <a:cs typeface="Open Sans" pitchFamily="34" charset="-120"/>
              </a:rPr>
              <a:t>For</a:t>
            </a:r>
            <a:endParaRPr lang="en-US" sz="3400" dirty="0"/>
          </a:p>
          <a:p>
            <a:pPr indent="0" marL="0">
              <a:buNone/>
            </a:pPr>
            <a:r>
              <a:rPr lang="en-US" sz="3400" b="1" dirty="0">
                <a:solidFill>
                  <a:srgbClr val="FFFFFF"/>
                </a:solidFill>
                <a:latin typeface="Open Sans" pitchFamily="34" charset="0"/>
                <a:ea typeface="Open Sans" pitchFamily="34" charset="-122"/>
                <a:cs typeface="Open Sans" pitchFamily="34" charset="-120"/>
              </a:rPr>
              <a:t>Consultants</a:t>
            </a:r>
            <a:endParaRPr lang="en-US" sz="3400" dirty="0"/>
          </a:p>
        </p:txBody>
      </p:sp>
      <p:sp>
        <p:nvSpPr>
          <p:cNvPr id="8" name="Text 6"/>
          <p:cNvSpPr/>
          <p:nvPr/>
        </p:nvSpPr>
        <p:spPr>
          <a:xfrm>
            <a:off x="320040" y="3200400"/>
            <a:ext cx="4754880" cy="731520"/>
          </a:xfrm>
          <a:prstGeom prst="rect">
            <a:avLst/>
          </a:prstGeom>
          <a:noFill/>
          <a:ln/>
        </p:spPr>
        <p:txBody>
          <a:bodyPr wrap="square" rtlCol="0" anchor="ctr"/>
          <a:lstStyle/>
          <a:p>
            <a:pPr indent="0" marL="0">
              <a:buNone/>
            </a:pPr>
            <a:r>
              <a:rPr lang="en-US" sz="1300" i="1" dirty="0">
                <a:solidFill>
                  <a:srgbClr val="A8C4E5"/>
                </a:solidFill>
                <a:latin typeface="Open Sans" pitchFamily="34" charset="0"/>
                <a:ea typeface="Open Sans" pitchFamily="34" charset="-122"/>
                <a:cs typeface="Open Sans" pitchFamily="34" charset="-120"/>
              </a:rPr>
              <a:t>Build and run an engagement.</a:t>
            </a:r>
            <a:endParaRPr lang="en-US" sz="1300" dirty="0"/>
          </a:p>
        </p:txBody>
      </p:sp>
      <p:sp>
        <p:nvSpPr>
          <p:cNvPr id="9" name="Text 7"/>
          <p:cNvSpPr/>
          <p:nvPr/>
        </p:nvSpPr>
        <p:spPr>
          <a:xfrm>
            <a:off x="6766560" y="2468880"/>
            <a:ext cx="2011680" cy="1645920"/>
          </a:xfrm>
          <a:prstGeom prst="rect">
            <a:avLst/>
          </a:prstGeom>
          <a:noFill/>
          <a:ln/>
        </p:spPr>
        <p:txBody>
          <a:bodyPr wrap="square" rtlCol="0" anchor="ctr"/>
          <a:lstStyle/>
          <a:p>
            <a:pPr algn="ctr" indent="0" marL="0">
              <a:buNone/>
            </a:pPr>
            <a:r>
              <a:rPr lang="en-US" sz="9200" b="1" dirty="0">
                <a:solidFill>
                  <a:srgbClr val="1A3A6B"/>
                </a:solidFill>
                <a:latin typeface="Open Sans" pitchFamily="34" charset="0"/>
                <a:ea typeface="Open Sans" pitchFamily="34" charset="-122"/>
                <a:cs typeface="Open Sans" pitchFamily="34" charset="-120"/>
              </a:rPr>
              <a:t>01</a:t>
            </a:r>
            <a:endParaRPr lang="en-US" sz="9200" dirty="0"/>
          </a:p>
        </p:txBody>
      </p:sp>
      <p:sp>
        <p:nvSpPr>
          <p:cNvPr id="10" name="Text 8"/>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A8C4E5"/>
                </a:solidFill>
                <a:latin typeface="Open Sans" pitchFamily="34" charset="0"/>
                <a:ea typeface="Open Sans" pitchFamily="34" charset="-122"/>
                <a:cs typeface="Open Sans" pitchFamily="34" charset="-120"/>
              </a:rPr>
              <a:t>Reflect 360  ·  User Manual</a:t>
            </a:r>
            <a:endParaRPr lang="en-US" sz="800" dirty="0"/>
          </a:p>
        </p:txBody>
      </p:sp>
      <p:sp>
        <p:nvSpPr>
          <p:cNvPr id="11" name="Text 9"/>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A8C4E5"/>
                </a:solidFill>
                <a:latin typeface="Open Sans" pitchFamily="34" charset="0"/>
                <a:ea typeface="Open Sans" pitchFamily="34" charset="-122"/>
                <a:cs typeface="Open Sans"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w="12700">
            <a:solidFill>
              <a:srgbClr val="F5F7FA"/>
            </a:solidFill>
            <a:prstDash val="solid"/>
          </a:ln>
        </p:spPr>
      </p:sp>
      <p:sp>
        <p:nvSpPr>
          <p:cNvPr id="3" name="Shape 1"/>
          <p:cNvSpPr/>
          <p:nvPr/>
        </p:nvSpPr>
        <p:spPr>
          <a:xfrm>
            <a:off x="0" y="0"/>
            <a:ext cx="164592" cy="5143500"/>
          </a:xfrm>
          <a:prstGeom prst="rect">
            <a:avLst/>
          </a:prstGeom>
          <a:solidFill>
            <a:srgbClr val="010131"/>
          </a:solidFill>
          <a:ln w="12700">
            <a:solidFill>
              <a:srgbClr val="010131"/>
            </a:solidFill>
            <a:prstDash val="solid"/>
          </a:ln>
        </p:spPr>
      </p:sp>
      <p:sp>
        <p:nvSpPr>
          <p:cNvPr id="4" name="Shape 2"/>
          <p:cNvSpPr/>
          <p:nvPr/>
        </p:nvSpPr>
        <p:spPr>
          <a:xfrm>
            <a:off x="0" y="0"/>
            <a:ext cx="9144000" cy="731520"/>
          </a:xfrm>
          <a:prstGeom prst="rect">
            <a:avLst/>
          </a:prstGeom>
          <a:solidFill>
            <a:srgbClr val="010131"/>
          </a:solidFill>
          <a:ln w="12700">
            <a:solidFill>
              <a:srgbClr val="010131"/>
            </a:solidFill>
            <a:prstDash val="solid"/>
          </a:ln>
        </p:spPr>
      </p:sp>
      <p:sp>
        <p:nvSpPr>
          <p:cNvPr id="5" name="Text 3"/>
          <p:cNvSpPr/>
          <p:nvPr/>
        </p:nvSpPr>
        <p:spPr>
          <a:xfrm>
            <a:off x="320040" y="73152"/>
            <a:ext cx="4572000" cy="256032"/>
          </a:xfrm>
          <a:prstGeom prst="rect">
            <a:avLst/>
          </a:prstGeom>
          <a:noFill/>
          <a:ln/>
        </p:spPr>
        <p:txBody>
          <a:bodyPr wrap="square" rtlCol="0" anchor="ctr"/>
          <a:lstStyle/>
          <a:p>
            <a:pPr indent="0" marL="0">
              <a:buNone/>
            </a:pPr>
            <a:r>
              <a:rPr lang="en-US" sz="850" spc="300" kern="0" dirty="0">
                <a:solidFill>
                  <a:srgbClr val="5391D5"/>
                </a:solidFill>
                <a:latin typeface="Open Sans" pitchFamily="34" charset="0"/>
                <a:ea typeface="Open Sans" pitchFamily="34" charset="-122"/>
                <a:cs typeface="Open Sans" pitchFamily="34" charset="-120"/>
              </a:rPr>
              <a:t>[ Consultant · the wizard ]</a:t>
            </a:r>
            <a:endParaRPr lang="en-US" sz="850" dirty="0"/>
          </a:p>
        </p:txBody>
      </p:sp>
      <p:sp>
        <p:nvSpPr>
          <p:cNvPr id="6" name="Text 4"/>
          <p:cNvSpPr/>
          <p:nvPr/>
        </p:nvSpPr>
        <p:spPr>
          <a:xfrm>
            <a:off x="320040" y="292608"/>
            <a:ext cx="8595360" cy="384048"/>
          </a:xfrm>
          <a:prstGeom prst="rect">
            <a:avLst/>
          </a:prstGeom>
          <a:noFill/>
          <a:ln/>
        </p:spPr>
        <p:txBody>
          <a:bodyPr wrap="square"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The 5-step engagement wizard</a:t>
            </a:r>
            <a:endParaRPr lang="en-US" sz="1800" dirty="0"/>
          </a:p>
        </p:txBody>
      </p:sp>
      <p:sp>
        <p:nvSpPr>
          <p:cNvPr id="7" name="Shape 5"/>
          <p:cNvSpPr/>
          <p:nvPr/>
        </p:nvSpPr>
        <p:spPr>
          <a:xfrm>
            <a:off x="256032" y="896112"/>
            <a:ext cx="8595360" cy="652882"/>
          </a:xfrm>
          <a:prstGeom prst="roundRect">
            <a:avLst>
              <a:gd name="adj" fmla="val 11204"/>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256032" y="896112"/>
            <a:ext cx="73152" cy="652882"/>
          </a:xfrm>
          <a:prstGeom prst="rect">
            <a:avLst/>
          </a:prstGeom>
          <a:solidFill>
            <a:srgbClr val="5391D5"/>
          </a:solidFill>
          <a:ln w="12700">
            <a:solidFill>
              <a:srgbClr val="5391D5"/>
            </a:solidFill>
            <a:prstDash val="solid"/>
          </a:ln>
        </p:spPr>
      </p:sp>
      <p:sp>
        <p:nvSpPr>
          <p:cNvPr id="9" name="Shape 7"/>
          <p:cNvSpPr/>
          <p:nvPr/>
        </p:nvSpPr>
        <p:spPr>
          <a:xfrm>
            <a:off x="457200" y="984809"/>
            <a:ext cx="475488" cy="475488"/>
          </a:xfrm>
          <a:prstGeom prst="ellipse">
            <a:avLst/>
          </a:prstGeom>
          <a:solidFill>
            <a:srgbClr val="5391D5"/>
          </a:solidFill>
          <a:ln w="12700">
            <a:solidFill>
              <a:srgbClr val="5391D5"/>
            </a:solidFill>
            <a:prstDash val="solid"/>
          </a:ln>
        </p:spPr>
      </p:sp>
      <p:sp>
        <p:nvSpPr>
          <p:cNvPr id="10" name="Text 8"/>
          <p:cNvSpPr/>
          <p:nvPr/>
        </p:nvSpPr>
        <p:spPr>
          <a:xfrm>
            <a:off x="457200" y="984809"/>
            <a:ext cx="475488" cy="47548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01</a:t>
            </a:r>
            <a:endParaRPr lang="en-US" sz="1200" dirty="0"/>
          </a:p>
        </p:txBody>
      </p:sp>
      <p:sp>
        <p:nvSpPr>
          <p:cNvPr id="11" name="Text 9"/>
          <p:cNvSpPr/>
          <p:nvPr/>
        </p:nvSpPr>
        <p:spPr>
          <a:xfrm>
            <a:off x="1097280" y="987552"/>
            <a:ext cx="4480560" cy="274320"/>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1 · Basics</a:t>
            </a:r>
            <a:endParaRPr lang="en-US" sz="1300" dirty="0"/>
          </a:p>
        </p:txBody>
      </p:sp>
      <p:sp>
        <p:nvSpPr>
          <p:cNvPr id="12" name="Text 10"/>
          <p:cNvSpPr/>
          <p:nvPr/>
        </p:nvSpPr>
        <p:spPr>
          <a:xfrm>
            <a:off x="5715000" y="987552"/>
            <a:ext cx="2971800" cy="274320"/>
          </a:xfrm>
          <a:prstGeom prst="rect">
            <a:avLst/>
          </a:prstGeom>
          <a:noFill/>
          <a:ln/>
        </p:spPr>
        <p:txBody>
          <a:bodyPr wrap="square" rtlCol="0" anchor="ctr"/>
          <a:lstStyle/>
          <a:p>
            <a:pPr algn="r" indent="0" marL="0">
              <a:buNone/>
            </a:pPr>
            <a:r>
              <a:rPr lang="en-US" sz="950" i="1" dirty="0">
                <a:solidFill>
                  <a:srgbClr val="A8C4E5"/>
                </a:solidFill>
                <a:latin typeface="Open Sans" pitchFamily="34" charset="0"/>
                <a:ea typeface="Open Sans" pitchFamily="34" charset="-122"/>
                <a:cs typeface="Open Sans" pitchFamily="34" charset="-120"/>
              </a:rPr>
              <a:t>Reflect → Consultant → New</a:t>
            </a:r>
            <a:endParaRPr lang="en-US" sz="950" dirty="0"/>
          </a:p>
        </p:txBody>
      </p:sp>
      <p:sp>
        <p:nvSpPr>
          <p:cNvPr id="13" name="Text 11"/>
          <p:cNvSpPr/>
          <p:nvPr/>
        </p:nvSpPr>
        <p:spPr>
          <a:xfrm>
            <a:off x="1097280" y="1280160"/>
            <a:ext cx="7589520" cy="195682"/>
          </a:xfrm>
          <a:prstGeom prst="rect">
            <a:avLst/>
          </a:prstGeom>
          <a:noFill/>
          <a:ln/>
        </p:spPr>
        <p:txBody>
          <a:bodyPr wrap="square" rtlCol="0" anchor="t"/>
          <a:lstStyle/>
          <a:p>
            <a:pPr indent="0" marL="0">
              <a:buNone/>
            </a:pPr>
            <a:r>
              <a:rPr lang="en-US" sz="1050" dirty="0">
                <a:solidFill>
                  <a:srgbClr val="A8C4E5"/>
                </a:solidFill>
                <a:latin typeface="Open Sans" pitchFamily="34" charset="0"/>
                <a:ea typeface="Open Sans" pitchFamily="34" charset="-122"/>
                <a:cs typeface="Open Sans" pitchFamily="34" charset="-120"/>
              </a:rPr>
              <a:t>Name the engagement and pick the organisation.</a:t>
            </a:r>
            <a:endParaRPr lang="en-US" sz="1050" dirty="0"/>
          </a:p>
        </p:txBody>
      </p:sp>
      <p:sp>
        <p:nvSpPr>
          <p:cNvPr id="14" name="Shape 12"/>
          <p:cNvSpPr/>
          <p:nvPr/>
        </p:nvSpPr>
        <p:spPr>
          <a:xfrm>
            <a:off x="1463040" y="1553566"/>
            <a:ext cx="365760" cy="100584"/>
          </a:xfrm>
          <a:prstGeom prst="downArrow">
            <a:avLst/>
          </a:prstGeom>
          <a:solidFill>
            <a:srgbClr val="5391D5"/>
          </a:solidFill>
          <a:ln w="12700">
            <a:solidFill>
              <a:srgbClr val="5391D5"/>
            </a:solidFill>
            <a:prstDash val="solid"/>
          </a:ln>
        </p:spPr>
      </p:sp>
      <p:sp>
        <p:nvSpPr>
          <p:cNvPr id="15" name="Shape 13"/>
          <p:cNvSpPr/>
          <p:nvPr/>
        </p:nvSpPr>
        <p:spPr>
          <a:xfrm>
            <a:off x="256032" y="1658722"/>
            <a:ext cx="8595360" cy="652882"/>
          </a:xfrm>
          <a:prstGeom prst="roundRect">
            <a:avLst>
              <a:gd name="adj" fmla="val 11204"/>
            </a:avLst>
          </a:prstGeom>
          <a:solidFill>
            <a:srgbClr val="1A3A6B"/>
          </a:solidFill>
          <a:ln w="12700">
            <a:solidFill>
              <a:srgbClr val="1A3A6B"/>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256032" y="1658722"/>
            <a:ext cx="73152" cy="652882"/>
          </a:xfrm>
          <a:prstGeom prst="rect">
            <a:avLst/>
          </a:prstGeom>
          <a:solidFill>
            <a:srgbClr val="5391D5"/>
          </a:solidFill>
          <a:ln w="12700">
            <a:solidFill>
              <a:srgbClr val="5391D5"/>
            </a:solidFill>
            <a:prstDash val="solid"/>
          </a:ln>
        </p:spPr>
      </p:sp>
      <p:sp>
        <p:nvSpPr>
          <p:cNvPr id="17" name="Shape 15"/>
          <p:cNvSpPr/>
          <p:nvPr/>
        </p:nvSpPr>
        <p:spPr>
          <a:xfrm>
            <a:off x="457200" y="1747418"/>
            <a:ext cx="475488" cy="475488"/>
          </a:xfrm>
          <a:prstGeom prst="ellipse">
            <a:avLst/>
          </a:prstGeom>
          <a:solidFill>
            <a:srgbClr val="5391D5"/>
          </a:solidFill>
          <a:ln w="12700">
            <a:solidFill>
              <a:srgbClr val="5391D5"/>
            </a:solidFill>
            <a:prstDash val="solid"/>
          </a:ln>
        </p:spPr>
      </p:sp>
      <p:sp>
        <p:nvSpPr>
          <p:cNvPr id="18" name="Text 16"/>
          <p:cNvSpPr/>
          <p:nvPr/>
        </p:nvSpPr>
        <p:spPr>
          <a:xfrm>
            <a:off x="457200" y="1747418"/>
            <a:ext cx="475488" cy="47548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02</a:t>
            </a:r>
            <a:endParaRPr lang="en-US" sz="1200" dirty="0"/>
          </a:p>
        </p:txBody>
      </p:sp>
      <p:sp>
        <p:nvSpPr>
          <p:cNvPr id="19" name="Text 17"/>
          <p:cNvSpPr/>
          <p:nvPr/>
        </p:nvSpPr>
        <p:spPr>
          <a:xfrm>
            <a:off x="1097280" y="1750162"/>
            <a:ext cx="4480560" cy="274320"/>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2 · Framework</a:t>
            </a:r>
            <a:endParaRPr lang="en-US" sz="1300" dirty="0"/>
          </a:p>
        </p:txBody>
      </p:sp>
      <p:sp>
        <p:nvSpPr>
          <p:cNvPr id="20" name="Text 18"/>
          <p:cNvSpPr/>
          <p:nvPr/>
        </p:nvSpPr>
        <p:spPr>
          <a:xfrm>
            <a:off x="5715000" y="1750162"/>
            <a:ext cx="2971800" cy="274320"/>
          </a:xfrm>
          <a:prstGeom prst="rect">
            <a:avLst/>
          </a:prstGeom>
          <a:noFill/>
          <a:ln/>
        </p:spPr>
        <p:txBody>
          <a:bodyPr wrap="square" rtlCol="0" anchor="ctr"/>
          <a:lstStyle/>
          <a:p>
            <a:pPr algn="r" indent="0" marL="0">
              <a:buNone/>
            </a:pPr>
            <a:r>
              <a:rPr lang="en-US" sz="950" i="1" dirty="0">
                <a:solidFill>
                  <a:srgbClr val="A8C4E5"/>
                </a:solidFill>
                <a:latin typeface="Open Sans" pitchFamily="34" charset="0"/>
                <a:ea typeface="Open Sans" pitchFamily="34" charset="-122"/>
                <a:cs typeface="Open Sans" pitchFamily="34" charset="-120"/>
              </a:rPr>
              <a:t>Or start from a library template</a:t>
            </a:r>
            <a:endParaRPr lang="en-US" sz="950" dirty="0"/>
          </a:p>
        </p:txBody>
      </p:sp>
      <p:sp>
        <p:nvSpPr>
          <p:cNvPr id="21" name="Text 19"/>
          <p:cNvSpPr/>
          <p:nvPr/>
        </p:nvSpPr>
        <p:spPr>
          <a:xfrm>
            <a:off x="1097280" y="2042770"/>
            <a:ext cx="7589520" cy="195682"/>
          </a:xfrm>
          <a:prstGeom prst="rect">
            <a:avLst/>
          </a:prstGeom>
          <a:noFill/>
          <a:ln/>
        </p:spPr>
        <p:txBody>
          <a:bodyPr wrap="square" rtlCol="0" anchor="t"/>
          <a:lstStyle/>
          <a:p>
            <a:pPr indent="0" marL="0">
              <a:buNone/>
            </a:pPr>
            <a:r>
              <a:rPr lang="en-US" sz="1050" dirty="0">
                <a:solidFill>
                  <a:srgbClr val="A8C4E5"/>
                </a:solidFill>
                <a:latin typeface="Open Sans" pitchFamily="34" charset="0"/>
                <a:ea typeface="Open Sans" pitchFamily="34" charset="-122"/>
                <a:cs typeface="Open Sans" pitchFamily="34" charset="-120"/>
              </a:rPr>
              <a:t>Add the values/competencies; AI proposes observable behaviours.</a:t>
            </a:r>
            <a:endParaRPr lang="en-US" sz="1050" dirty="0"/>
          </a:p>
        </p:txBody>
      </p:sp>
      <p:sp>
        <p:nvSpPr>
          <p:cNvPr id="22" name="Shape 20"/>
          <p:cNvSpPr/>
          <p:nvPr/>
        </p:nvSpPr>
        <p:spPr>
          <a:xfrm>
            <a:off x="1463040" y="2316175"/>
            <a:ext cx="365760" cy="100584"/>
          </a:xfrm>
          <a:prstGeom prst="downArrow">
            <a:avLst/>
          </a:prstGeom>
          <a:solidFill>
            <a:srgbClr val="5391D5"/>
          </a:solidFill>
          <a:ln w="12700">
            <a:solidFill>
              <a:srgbClr val="5391D5"/>
            </a:solidFill>
            <a:prstDash val="solid"/>
          </a:ln>
        </p:spPr>
      </p:sp>
      <p:sp>
        <p:nvSpPr>
          <p:cNvPr id="23" name="Shape 21"/>
          <p:cNvSpPr/>
          <p:nvPr/>
        </p:nvSpPr>
        <p:spPr>
          <a:xfrm>
            <a:off x="256032" y="2421331"/>
            <a:ext cx="8595360" cy="652882"/>
          </a:xfrm>
          <a:prstGeom prst="roundRect">
            <a:avLst>
              <a:gd name="adj" fmla="val 11204"/>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24" name="Shape 22"/>
          <p:cNvSpPr/>
          <p:nvPr/>
        </p:nvSpPr>
        <p:spPr>
          <a:xfrm>
            <a:off x="256032" y="2421331"/>
            <a:ext cx="73152" cy="652882"/>
          </a:xfrm>
          <a:prstGeom prst="rect">
            <a:avLst/>
          </a:prstGeom>
          <a:solidFill>
            <a:srgbClr val="5391D5"/>
          </a:solidFill>
          <a:ln w="12700">
            <a:solidFill>
              <a:srgbClr val="5391D5"/>
            </a:solidFill>
            <a:prstDash val="solid"/>
          </a:ln>
        </p:spPr>
      </p:sp>
      <p:sp>
        <p:nvSpPr>
          <p:cNvPr id="25" name="Shape 23"/>
          <p:cNvSpPr/>
          <p:nvPr/>
        </p:nvSpPr>
        <p:spPr>
          <a:xfrm>
            <a:off x="457200" y="2510028"/>
            <a:ext cx="475488" cy="475488"/>
          </a:xfrm>
          <a:prstGeom prst="ellipse">
            <a:avLst/>
          </a:prstGeom>
          <a:solidFill>
            <a:srgbClr val="5391D5"/>
          </a:solidFill>
          <a:ln w="12700">
            <a:solidFill>
              <a:srgbClr val="5391D5"/>
            </a:solidFill>
            <a:prstDash val="solid"/>
          </a:ln>
        </p:spPr>
      </p:sp>
      <p:sp>
        <p:nvSpPr>
          <p:cNvPr id="26" name="Text 24"/>
          <p:cNvSpPr/>
          <p:nvPr/>
        </p:nvSpPr>
        <p:spPr>
          <a:xfrm>
            <a:off x="457200" y="2510028"/>
            <a:ext cx="475488" cy="47548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03</a:t>
            </a:r>
            <a:endParaRPr lang="en-US" sz="1200" dirty="0"/>
          </a:p>
        </p:txBody>
      </p:sp>
      <p:sp>
        <p:nvSpPr>
          <p:cNvPr id="27" name="Text 25"/>
          <p:cNvSpPr/>
          <p:nvPr/>
        </p:nvSpPr>
        <p:spPr>
          <a:xfrm>
            <a:off x="1097280" y="2512771"/>
            <a:ext cx="4480560" cy="274320"/>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3 · Levels</a:t>
            </a:r>
            <a:endParaRPr lang="en-US" sz="1300" dirty="0"/>
          </a:p>
        </p:txBody>
      </p:sp>
      <p:sp>
        <p:nvSpPr>
          <p:cNvPr id="28" name="Text 26"/>
          <p:cNvSpPr/>
          <p:nvPr/>
        </p:nvSpPr>
        <p:spPr>
          <a:xfrm>
            <a:off x="5715000" y="2512771"/>
            <a:ext cx="2971800" cy="274320"/>
          </a:xfrm>
          <a:prstGeom prst="rect">
            <a:avLst/>
          </a:prstGeom>
          <a:noFill/>
          <a:ln/>
        </p:spPr>
        <p:txBody>
          <a:bodyPr wrap="square" rtlCol="0" anchor="ctr"/>
          <a:lstStyle/>
          <a:p>
            <a:pPr algn="r" indent="0" marL="0">
              <a:buNone/>
            </a:pPr>
            <a:r>
              <a:rPr lang="en-US" sz="950" i="1" dirty="0">
                <a:solidFill>
                  <a:srgbClr val="A8C4E5"/>
                </a:solidFill>
                <a:latin typeface="Open Sans" pitchFamily="34" charset="0"/>
                <a:ea typeface="Open Sans" pitchFamily="34" charset="-122"/>
                <a:cs typeface="Open Sans" pitchFamily="34" charset="-120"/>
              </a:rPr>
              <a:t>Default minimum rater count is 3</a:t>
            </a:r>
            <a:endParaRPr lang="en-US" sz="950" dirty="0"/>
          </a:p>
        </p:txBody>
      </p:sp>
      <p:sp>
        <p:nvSpPr>
          <p:cNvPr id="29" name="Text 27"/>
          <p:cNvSpPr/>
          <p:nvPr/>
        </p:nvSpPr>
        <p:spPr>
          <a:xfrm>
            <a:off x="1097280" y="2805379"/>
            <a:ext cx="7589520" cy="195682"/>
          </a:xfrm>
          <a:prstGeom prst="rect">
            <a:avLst/>
          </a:prstGeom>
          <a:noFill/>
          <a:ln/>
        </p:spPr>
        <p:txBody>
          <a:bodyPr wrap="square" rtlCol="0" anchor="t"/>
          <a:lstStyle/>
          <a:p>
            <a:pPr indent="0" marL="0">
              <a:buNone/>
            </a:pPr>
            <a:r>
              <a:rPr lang="en-US" sz="1050" dirty="0">
                <a:solidFill>
                  <a:srgbClr val="A8C4E5"/>
                </a:solidFill>
                <a:latin typeface="Open Sans" pitchFamily="34" charset="0"/>
                <a:ea typeface="Open Sans" pitchFamily="34" charset="-122"/>
                <a:cs typeface="Open Sans" pitchFamily="34" charset="-120"/>
              </a:rPr>
              <a:t>Choose the rater groups and anonymity threshold.</a:t>
            </a:r>
            <a:endParaRPr lang="en-US" sz="1050" dirty="0"/>
          </a:p>
        </p:txBody>
      </p:sp>
      <p:sp>
        <p:nvSpPr>
          <p:cNvPr id="30" name="Shape 28"/>
          <p:cNvSpPr/>
          <p:nvPr/>
        </p:nvSpPr>
        <p:spPr>
          <a:xfrm>
            <a:off x="1463040" y="3078785"/>
            <a:ext cx="365760" cy="100584"/>
          </a:xfrm>
          <a:prstGeom prst="downArrow">
            <a:avLst/>
          </a:prstGeom>
          <a:solidFill>
            <a:srgbClr val="5391D5"/>
          </a:solidFill>
          <a:ln w="12700">
            <a:solidFill>
              <a:srgbClr val="5391D5"/>
            </a:solidFill>
            <a:prstDash val="solid"/>
          </a:ln>
        </p:spPr>
      </p:sp>
      <p:sp>
        <p:nvSpPr>
          <p:cNvPr id="31" name="Shape 29"/>
          <p:cNvSpPr/>
          <p:nvPr/>
        </p:nvSpPr>
        <p:spPr>
          <a:xfrm>
            <a:off x="256032" y="3183941"/>
            <a:ext cx="8595360" cy="652882"/>
          </a:xfrm>
          <a:prstGeom prst="roundRect">
            <a:avLst>
              <a:gd name="adj" fmla="val 11204"/>
            </a:avLst>
          </a:prstGeom>
          <a:solidFill>
            <a:srgbClr val="1A3A6B"/>
          </a:solidFill>
          <a:ln w="12700">
            <a:solidFill>
              <a:srgbClr val="1A3A6B"/>
            </a:solidFill>
            <a:prstDash val="solid"/>
          </a:ln>
          <a:effectLst>
            <a:outerShdw sx="100000" sy="100000" kx="0" ky="0" algn="bl" rotWithShape="0" blurRad="50800" dist="12700" dir="8100000">
              <a:srgbClr val="000000">
                <a:alpha val="8000"/>
              </a:srgbClr>
            </a:outerShdw>
          </a:effectLst>
        </p:spPr>
      </p:sp>
      <p:sp>
        <p:nvSpPr>
          <p:cNvPr id="32" name="Shape 30"/>
          <p:cNvSpPr/>
          <p:nvPr/>
        </p:nvSpPr>
        <p:spPr>
          <a:xfrm>
            <a:off x="256032" y="3183941"/>
            <a:ext cx="73152" cy="652882"/>
          </a:xfrm>
          <a:prstGeom prst="rect">
            <a:avLst/>
          </a:prstGeom>
          <a:solidFill>
            <a:srgbClr val="5391D5"/>
          </a:solidFill>
          <a:ln w="12700">
            <a:solidFill>
              <a:srgbClr val="5391D5"/>
            </a:solidFill>
            <a:prstDash val="solid"/>
          </a:ln>
        </p:spPr>
      </p:sp>
      <p:sp>
        <p:nvSpPr>
          <p:cNvPr id="33" name="Shape 31"/>
          <p:cNvSpPr/>
          <p:nvPr/>
        </p:nvSpPr>
        <p:spPr>
          <a:xfrm>
            <a:off x="457200" y="3272638"/>
            <a:ext cx="475488" cy="475488"/>
          </a:xfrm>
          <a:prstGeom prst="ellipse">
            <a:avLst/>
          </a:prstGeom>
          <a:solidFill>
            <a:srgbClr val="5391D5"/>
          </a:solidFill>
          <a:ln w="12700">
            <a:solidFill>
              <a:srgbClr val="5391D5"/>
            </a:solidFill>
            <a:prstDash val="solid"/>
          </a:ln>
        </p:spPr>
      </p:sp>
      <p:sp>
        <p:nvSpPr>
          <p:cNvPr id="34" name="Text 32"/>
          <p:cNvSpPr/>
          <p:nvPr/>
        </p:nvSpPr>
        <p:spPr>
          <a:xfrm>
            <a:off x="457200" y="3272638"/>
            <a:ext cx="475488" cy="47548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04</a:t>
            </a:r>
            <a:endParaRPr lang="en-US" sz="1200" dirty="0"/>
          </a:p>
        </p:txBody>
      </p:sp>
      <p:sp>
        <p:nvSpPr>
          <p:cNvPr id="35" name="Text 33"/>
          <p:cNvSpPr/>
          <p:nvPr/>
        </p:nvSpPr>
        <p:spPr>
          <a:xfrm>
            <a:off x="1097280" y="3275381"/>
            <a:ext cx="4480560" cy="274320"/>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4 · People</a:t>
            </a:r>
            <a:endParaRPr lang="en-US" sz="1300" dirty="0"/>
          </a:p>
        </p:txBody>
      </p:sp>
      <p:sp>
        <p:nvSpPr>
          <p:cNvPr id="36" name="Text 34"/>
          <p:cNvSpPr/>
          <p:nvPr/>
        </p:nvSpPr>
        <p:spPr>
          <a:xfrm>
            <a:off x="5715000" y="3275381"/>
            <a:ext cx="2971800" cy="274320"/>
          </a:xfrm>
          <a:prstGeom prst="rect">
            <a:avLst/>
          </a:prstGeom>
          <a:noFill/>
          <a:ln/>
        </p:spPr>
        <p:txBody>
          <a:bodyPr wrap="square" rtlCol="0" anchor="ctr"/>
          <a:lstStyle/>
          <a:p>
            <a:pPr algn="r" indent="0" marL="0">
              <a:buNone/>
            </a:pPr>
            <a:r>
              <a:rPr lang="en-US" sz="950" i="1" dirty="0">
                <a:solidFill>
                  <a:srgbClr val="A8C4E5"/>
                </a:solidFill>
                <a:latin typeface="Open Sans" pitchFamily="34" charset="0"/>
                <a:ea typeface="Open Sans" pitchFamily="34" charset="-122"/>
                <a:cs typeface="Open Sans" pitchFamily="34" charset="-120"/>
              </a:rPr>
              <a:t>Self, Manager, Peer, Direct Report</a:t>
            </a:r>
            <a:endParaRPr lang="en-US" sz="950" dirty="0"/>
          </a:p>
        </p:txBody>
      </p:sp>
      <p:sp>
        <p:nvSpPr>
          <p:cNvPr id="37" name="Text 35"/>
          <p:cNvSpPr/>
          <p:nvPr/>
        </p:nvSpPr>
        <p:spPr>
          <a:xfrm>
            <a:off x="1097280" y="3567989"/>
            <a:ext cx="7589520" cy="195682"/>
          </a:xfrm>
          <a:prstGeom prst="rect">
            <a:avLst/>
          </a:prstGeom>
          <a:noFill/>
          <a:ln/>
        </p:spPr>
        <p:txBody>
          <a:bodyPr wrap="square" rtlCol="0" anchor="t"/>
          <a:lstStyle/>
          <a:p>
            <a:pPr indent="0" marL="0">
              <a:buNone/>
            </a:pPr>
            <a:r>
              <a:rPr lang="en-US" sz="1050" dirty="0">
                <a:solidFill>
                  <a:srgbClr val="A8C4E5"/>
                </a:solidFill>
                <a:latin typeface="Open Sans" pitchFamily="34" charset="0"/>
                <a:ea typeface="Open Sans" pitchFamily="34" charset="-122"/>
                <a:cs typeface="Open Sans" pitchFamily="34" charset="-120"/>
              </a:rPr>
              <a:t>Add participants and their raters.</a:t>
            </a:r>
            <a:endParaRPr lang="en-US" sz="1050" dirty="0"/>
          </a:p>
        </p:txBody>
      </p:sp>
      <p:sp>
        <p:nvSpPr>
          <p:cNvPr id="38" name="Shape 36"/>
          <p:cNvSpPr/>
          <p:nvPr/>
        </p:nvSpPr>
        <p:spPr>
          <a:xfrm>
            <a:off x="1463040" y="3841394"/>
            <a:ext cx="365760" cy="100584"/>
          </a:xfrm>
          <a:prstGeom prst="downArrow">
            <a:avLst/>
          </a:prstGeom>
          <a:solidFill>
            <a:srgbClr val="5391D5"/>
          </a:solidFill>
          <a:ln w="12700">
            <a:solidFill>
              <a:srgbClr val="5391D5"/>
            </a:solidFill>
            <a:prstDash val="solid"/>
          </a:ln>
        </p:spPr>
      </p:sp>
      <p:sp>
        <p:nvSpPr>
          <p:cNvPr id="39" name="Shape 37"/>
          <p:cNvSpPr/>
          <p:nvPr/>
        </p:nvSpPr>
        <p:spPr>
          <a:xfrm>
            <a:off x="256032" y="3946550"/>
            <a:ext cx="8595360" cy="652882"/>
          </a:xfrm>
          <a:prstGeom prst="roundRect">
            <a:avLst>
              <a:gd name="adj" fmla="val 11204"/>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40" name="Shape 38"/>
          <p:cNvSpPr/>
          <p:nvPr/>
        </p:nvSpPr>
        <p:spPr>
          <a:xfrm>
            <a:off x="256032" y="3946550"/>
            <a:ext cx="73152" cy="652882"/>
          </a:xfrm>
          <a:prstGeom prst="rect">
            <a:avLst/>
          </a:prstGeom>
          <a:solidFill>
            <a:srgbClr val="5391D5"/>
          </a:solidFill>
          <a:ln w="12700">
            <a:solidFill>
              <a:srgbClr val="5391D5"/>
            </a:solidFill>
            <a:prstDash val="solid"/>
          </a:ln>
        </p:spPr>
      </p:sp>
      <p:sp>
        <p:nvSpPr>
          <p:cNvPr id="41" name="Shape 39"/>
          <p:cNvSpPr/>
          <p:nvPr/>
        </p:nvSpPr>
        <p:spPr>
          <a:xfrm>
            <a:off x="457200" y="4035247"/>
            <a:ext cx="475488" cy="475488"/>
          </a:xfrm>
          <a:prstGeom prst="ellipse">
            <a:avLst/>
          </a:prstGeom>
          <a:solidFill>
            <a:srgbClr val="5391D5"/>
          </a:solidFill>
          <a:ln w="12700">
            <a:solidFill>
              <a:srgbClr val="5391D5"/>
            </a:solidFill>
            <a:prstDash val="solid"/>
          </a:ln>
        </p:spPr>
      </p:sp>
      <p:sp>
        <p:nvSpPr>
          <p:cNvPr id="42" name="Text 40"/>
          <p:cNvSpPr/>
          <p:nvPr/>
        </p:nvSpPr>
        <p:spPr>
          <a:xfrm>
            <a:off x="457200" y="4035247"/>
            <a:ext cx="475488" cy="47548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05</a:t>
            </a:r>
            <a:endParaRPr lang="en-US" sz="1200" dirty="0"/>
          </a:p>
        </p:txBody>
      </p:sp>
      <p:sp>
        <p:nvSpPr>
          <p:cNvPr id="43" name="Text 41"/>
          <p:cNvSpPr/>
          <p:nvPr/>
        </p:nvSpPr>
        <p:spPr>
          <a:xfrm>
            <a:off x="1097280" y="4037990"/>
            <a:ext cx="4480560" cy="274320"/>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5 · Launch</a:t>
            </a:r>
            <a:endParaRPr lang="en-US" sz="1300" dirty="0"/>
          </a:p>
        </p:txBody>
      </p:sp>
      <p:sp>
        <p:nvSpPr>
          <p:cNvPr id="44" name="Text 42"/>
          <p:cNvSpPr/>
          <p:nvPr/>
        </p:nvSpPr>
        <p:spPr>
          <a:xfrm>
            <a:off x="5715000" y="4037990"/>
            <a:ext cx="2971800" cy="274320"/>
          </a:xfrm>
          <a:prstGeom prst="rect">
            <a:avLst/>
          </a:prstGeom>
          <a:noFill/>
          <a:ln/>
        </p:spPr>
        <p:txBody>
          <a:bodyPr wrap="square" rtlCol="0" anchor="ctr"/>
          <a:lstStyle/>
          <a:p>
            <a:pPr algn="r" indent="0" marL="0">
              <a:buNone/>
            </a:pPr>
            <a:r>
              <a:rPr lang="en-US" sz="950" i="1" dirty="0">
                <a:solidFill>
                  <a:srgbClr val="A8C4E5"/>
                </a:solidFill>
                <a:latin typeface="Open Sans" pitchFamily="34" charset="0"/>
                <a:ea typeface="Open Sans" pitchFamily="34" charset="-122"/>
                <a:cs typeface="Open Sans" pitchFamily="34" charset="-120"/>
              </a:rPr>
              <a:t>Reminders nag silent raters</a:t>
            </a:r>
            <a:endParaRPr lang="en-US" sz="950" dirty="0"/>
          </a:p>
        </p:txBody>
      </p:sp>
      <p:sp>
        <p:nvSpPr>
          <p:cNvPr id="45" name="Text 43"/>
          <p:cNvSpPr/>
          <p:nvPr/>
        </p:nvSpPr>
        <p:spPr>
          <a:xfrm>
            <a:off x="1097280" y="4330598"/>
            <a:ext cx="7589520" cy="195682"/>
          </a:xfrm>
          <a:prstGeom prst="rect">
            <a:avLst/>
          </a:prstGeom>
          <a:noFill/>
          <a:ln/>
        </p:spPr>
        <p:txBody>
          <a:bodyPr wrap="square" rtlCol="0" anchor="t"/>
          <a:lstStyle/>
          <a:p>
            <a:pPr indent="0" marL="0">
              <a:buNone/>
            </a:pPr>
            <a:r>
              <a:rPr lang="en-US" sz="1050" dirty="0">
                <a:solidFill>
                  <a:srgbClr val="A8C4E5"/>
                </a:solidFill>
                <a:latin typeface="Open Sans" pitchFamily="34" charset="0"/>
                <a:ea typeface="Open Sans" pitchFamily="34" charset="-122"/>
                <a:cs typeface="Open Sans" pitchFamily="34" charset="-120"/>
              </a:rPr>
              <a:t>Send invitations and open the engagement for scoring.</a:t>
            </a:r>
            <a:endParaRPr lang="en-US" sz="1050" dirty="0"/>
          </a:p>
        </p:txBody>
      </p:sp>
      <p:sp>
        <p:nvSpPr>
          <p:cNvPr id="46" name="Text 44"/>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64748B"/>
                </a:solidFill>
                <a:latin typeface="Open Sans" pitchFamily="34" charset="0"/>
                <a:ea typeface="Open Sans" pitchFamily="34" charset="-122"/>
                <a:cs typeface="Open Sans" pitchFamily="34" charset="-120"/>
              </a:rPr>
              <a:t>Reflect 360  ·  User Manual</a:t>
            </a:r>
            <a:endParaRPr lang="en-US" sz="800" dirty="0"/>
          </a:p>
        </p:txBody>
      </p:sp>
      <p:sp>
        <p:nvSpPr>
          <p:cNvPr id="47" name="Text 45"/>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64748B"/>
                </a:solidFill>
                <a:latin typeface="Open Sans" pitchFamily="34" charset="0"/>
                <a:ea typeface="Open Sans" pitchFamily="34" charset="-122"/>
                <a:cs typeface="Open Sans"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10131"/>
          </a:solidFill>
          <a:ln w="12700">
            <a:solidFill>
              <a:srgbClr val="010131"/>
            </a:solidFill>
            <a:prstDash val="solid"/>
          </a:ln>
        </p:spPr>
      </p:sp>
      <p:sp>
        <p:nvSpPr>
          <p:cNvPr id="3" name="Shape 1"/>
          <p:cNvSpPr/>
          <p:nvPr/>
        </p:nvSpPr>
        <p:spPr>
          <a:xfrm>
            <a:off x="3474720" y="0"/>
            <a:ext cx="5669280" cy="5143500"/>
          </a:xfrm>
          <a:prstGeom prst="rect">
            <a:avLst/>
          </a:prstGeom>
          <a:solidFill>
            <a:srgbClr val="D0DFF4"/>
          </a:solidFill>
          <a:ln w="12700">
            <a:solidFill>
              <a:srgbClr val="D0DFF4"/>
            </a:solidFill>
            <a:prstDash val="solid"/>
          </a:ln>
        </p:spPr>
      </p:sp>
      <p:sp>
        <p:nvSpPr>
          <p:cNvPr id="4" name="Shape 2"/>
          <p:cNvSpPr/>
          <p:nvPr/>
        </p:nvSpPr>
        <p:spPr>
          <a:xfrm>
            <a:off x="0" y="0"/>
            <a:ext cx="164592" cy="5143500"/>
          </a:xfrm>
          <a:prstGeom prst="rect">
            <a:avLst/>
          </a:prstGeom>
          <a:solidFill>
            <a:srgbClr val="5391D5"/>
          </a:solidFill>
          <a:ln w="12700">
            <a:solidFill>
              <a:srgbClr val="5391D5"/>
            </a:solidFill>
            <a:prstDash val="solid"/>
          </a:ln>
        </p:spPr>
      </p:sp>
      <p:sp>
        <p:nvSpPr>
          <p:cNvPr id="5" name="Shape 3"/>
          <p:cNvSpPr/>
          <p:nvPr/>
        </p:nvSpPr>
        <p:spPr>
          <a:xfrm>
            <a:off x="3474720" y="0"/>
            <a:ext cx="54864" cy="5143500"/>
          </a:xfrm>
          <a:prstGeom prst="rect">
            <a:avLst/>
          </a:prstGeom>
          <a:solidFill>
            <a:srgbClr val="5391D5"/>
          </a:solidFill>
          <a:ln w="12700">
            <a:solidFill>
              <a:srgbClr val="5391D5"/>
            </a:solidFill>
            <a:prstDash val="solid"/>
          </a:ln>
        </p:spPr>
      </p:sp>
      <p:sp>
        <p:nvSpPr>
          <p:cNvPr id="6" name="Text 4"/>
          <p:cNvSpPr/>
          <p:nvPr/>
        </p:nvSpPr>
        <p:spPr>
          <a:xfrm>
            <a:off x="320040" y="201168"/>
            <a:ext cx="2743200" cy="256032"/>
          </a:xfrm>
          <a:prstGeom prst="rect">
            <a:avLst/>
          </a:prstGeom>
          <a:noFill/>
          <a:ln/>
        </p:spPr>
        <p:txBody>
          <a:bodyPr wrap="square" rtlCol="0" anchor="ctr"/>
          <a:lstStyle/>
          <a:p>
            <a:pPr indent="0" marL="0">
              <a:buNone/>
            </a:pPr>
            <a:r>
              <a:rPr lang="en-US" sz="850" spc="300" kern="0" dirty="0">
                <a:solidFill>
                  <a:srgbClr val="5391D5"/>
                </a:solidFill>
                <a:latin typeface="Open Sans" pitchFamily="34" charset="0"/>
                <a:ea typeface="Open Sans" pitchFamily="34" charset="-122"/>
                <a:cs typeface="Open Sans" pitchFamily="34" charset="-120"/>
              </a:rPr>
              <a:t>[ Consultant · deliverables ]</a:t>
            </a:r>
            <a:endParaRPr lang="en-US" sz="850" dirty="0"/>
          </a:p>
        </p:txBody>
      </p:sp>
      <p:sp>
        <p:nvSpPr>
          <p:cNvPr id="7" name="Text 5"/>
          <p:cNvSpPr/>
          <p:nvPr/>
        </p:nvSpPr>
        <p:spPr>
          <a:xfrm>
            <a:off x="320040" y="914400"/>
            <a:ext cx="2926080" cy="1463040"/>
          </a:xfrm>
          <a:prstGeom prst="rect">
            <a:avLst/>
          </a:prstGeom>
          <a:noFill/>
          <a:ln/>
        </p:spPr>
        <p:txBody>
          <a:bodyPr wrap="square" rtlCol="0" anchor="t"/>
          <a:lstStyle/>
          <a:p>
            <a:pPr indent="0" marL="0">
              <a:buNone/>
            </a:pPr>
            <a:r>
              <a:rPr lang="en-US" sz="2500" b="1" dirty="0">
                <a:solidFill>
                  <a:srgbClr val="FFFFFF"/>
                </a:solidFill>
                <a:latin typeface="Open Sans" pitchFamily="34" charset="0"/>
                <a:ea typeface="Open Sans" pitchFamily="34" charset="-122"/>
                <a:cs typeface="Open Sans" pitchFamily="34" charset="-120"/>
              </a:rPr>
              <a:t>Report &amp; development plan</a:t>
            </a:r>
            <a:endParaRPr lang="en-US" sz="2500" dirty="0"/>
          </a:p>
        </p:txBody>
      </p:sp>
      <p:sp>
        <p:nvSpPr>
          <p:cNvPr id="8" name="Shape 6"/>
          <p:cNvSpPr/>
          <p:nvPr/>
        </p:nvSpPr>
        <p:spPr>
          <a:xfrm>
            <a:off x="320040" y="2514600"/>
            <a:ext cx="2011680" cy="36576"/>
          </a:xfrm>
          <a:prstGeom prst="rect">
            <a:avLst/>
          </a:prstGeom>
          <a:solidFill>
            <a:srgbClr val="5391D5"/>
          </a:solidFill>
          <a:ln w="12700">
            <a:solidFill>
              <a:srgbClr val="5391D5"/>
            </a:solidFill>
            <a:prstDash val="solid"/>
          </a:ln>
        </p:spPr>
      </p:sp>
      <p:sp>
        <p:nvSpPr>
          <p:cNvPr id="9" name="Text 7"/>
          <p:cNvSpPr/>
          <p:nvPr/>
        </p:nvSpPr>
        <p:spPr>
          <a:xfrm>
            <a:off x="320040" y="2651760"/>
            <a:ext cx="2926080" cy="731520"/>
          </a:xfrm>
          <a:prstGeom prst="rect">
            <a:avLst/>
          </a:prstGeom>
          <a:noFill/>
          <a:ln/>
        </p:spPr>
        <p:txBody>
          <a:bodyPr wrap="square" rtlCol="0" anchor="ctr"/>
          <a:lstStyle/>
          <a:p>
            <a:pPr indent="0" marL="0">
              <a:buNone/>
            </a:pPr>
            <a:r>
              <a:rPr lang="en-US" sz="1100" i="1" dirty="0">
                <a:solidFill>
                  <a:srgbClr val="A8C4E5"/>
                </a:solidFill>
                <a:latin typeface="Open Sans" pitchFamily="34" charset="0"/>
                <a:ea typeface="Open Sans" pitchFamily="34" charset="-122"/>
                <a:cs typeface="Open Sans" pitchFamily="34" charset="-120"/>
              </a:rPr>
              <a:t>Reflect → Participants → [name]</a:t>
            </a:r>
            <a:endParaRPr lang="en-US" sz="1100" dirty="0"/>
          </a:p>
        </p:txBody>
      </p:sp>
      <p:sp>
        <p:nvSpPr>
          <p:cNvPr id="10" name="Shape 8"/>
          <p:cNvSpPr/>
          <p:nvPr/>
        </p:nvSpPr>
        <p:spPr>
          <a:xfrm>
            <a:off x="3749040" y="539496"/>
            <a:ext cx="54864" cy="694944"/>
          </a:xfrm>
          <a:prstGeom prst="rect">
            <a:avLst/>
          </a:prstGeom>
          <a:solidFill>
            <a:srgbClr val="5391D5"/>
          </a:solidFill>
          <a:ln w="12700">
            <a:solidFill>
              <a:srgbClr val="5391D5"/>
            </a:solidFill>
            <a:prstDash val="solid"/>
          </a:ln>
        </p:spPr>
      </p:sp>
      <p:sp>
        <p:nvSpPr>
          <p:cNvPr id="11" name="Text 9"/>
          <p:cNvSpPr/>
          <p:nvPr/>
        </p:nvSpPr>
        <p:spPr>
          <a:xfrm>
            <a:off x="3913632" y="502920"/>
            <a:ext cx="4937760" cy="804672"/>
          </a:xfrm>
          <a:prstGeom prst="rect">
            <a:avLst/>
          </a:prstGeom>
          <a:noFill/>
          <a:ln/>
        </p:spPr>
        <p:txBody>
          <a:bodyPr wrap="square" rtlCol="0" anchor="ctr"/>
          <a:lstStyle/>
          <a:p>
            <a:pPr indent="0" marL="0">
              <a:buNone/>
            </a:pPr>
            <a:r>
              <a:rPr lang="en-US" sz="1200" b="1" dirty="0">
                <a:solidFill>
                  <a:srgbClr val="010131"/>
                </a:solidFill>
                <a:latin typeface="Open Sans" pitchFamily="34" charset="0"/>
                <a:ea typeface="Open Sans" pitchFamily="34" charset="-122"/>
                <a:cs typeface="Open Sans" pitchFamily="34" charset="-120"/>
              </a:rPr>
              <a:t>Participant report  </a:t>
            </a:r>
            <a:pPr indent="0" marL="0">
              <a:buNone/>
            </a:pPr>
            <a:r>
              <a:rPr lang="en-US" sz="1200" dirty="0">
                <a:solidFill>
                  <a:srgbClr val="1A3A6B"/>
                </a:solidFill>
                <a:latin typeface="Open Sans" pitchFamily="34" charset="0"/>
                <a:ea typeface="Open Sans" pitchFamily="34" charset="-122"/>
                <a:cs typeface="Open Sans" pitchFamily="34" charset="-120"/>
              </a:rPr>
              <a:t>self-vs-others gaps per competency, with coaching tips.</a:t>
            </a:r>
            <a:endParaRPr lang="en-US" sz="1200" dirty="0"/>
          </a:p>
        </p:txBody>
      </p:sp>
      <p:sp>
        <p:nvSpPr>
          <p:cNvPr id="12" name="Shape 10"/>
          <p:cNvSpPr/>
          <p:nvPr/>
        </p:nvSpPr>
        <p:spPr>
          <a:xfrm>
            <a:off x="3749040" y="1399032"/>
            <a:ext cx="54864" cy="694944"/>
          </a:xfrm>
          <a:prstGeom prst="rect">
            <a:avLst/>
          </a:prstGeom>
          <a:solidFill>
            <a:srgbClr val="5391D5"/>
          </a:solidFill>
          <a:ln w="12700">
            <a:solidFill>
              <a:srgbClr val="5391D5"/>
            </a:solidFill>
            <a:prstDash val="solid"/>
          </a:ln>
        </p:spPr>
      </p:sp>
      <p:sp>
        <p:nvSpPr>
          <p:cNvPr id="13" name="Text 11"/>
          <p:cNvSpPr/>
          <p:nvPr/>
        </p:nvSpPr>
        <p:spPr>
          <a:xfrm>
            <a:off x="3913632" y="1362456"/>
            <a:ext cx="4937760" cy="804672"/>
          </a:xfrm>
          <a:prstGeom prst="rect">
            <a:avLst/>
          </a:prstGeom>
          <a:noFill/>
          <a:ln/>
        </p:spPr>
        <p:txBody>
          <a:bodyPr wrap="square" rtlCol="0" anchor="ctr"/>
          <a:lstStyle/>
          <a:p>
            <a:pPr indent="0" marL="0">
              <a:buNone/>
            </a:pPr>
            <a:r>
              <a:rPr lang="en-US" sz="1200" b="1" dirty="0">
                <a:solidFill>
                  <a:srgbClr val="010131"/>
                </a:solidFill>
                <a:latin typeface="Open Sans" pitchFamily="34" charset="0"/>
                <a:ea typeface="Open Sans" pitchFamily="34" charset="-122"/>
                <a:cs typeface="Open Sans" pitchFamily="34" charset="-120"/>
              </a:rPr>
              <a:t>Individual Development Plan  </a:t>
            </a:r>
            <a:pPr indent="0" marL="0">
              <a:buNone/>
            </a:pPr>
            <a:r>
              <a:rPr lang="en-US" sz="1200" dirty="0">
                <a:solidFill>
                  <a:srgbClr val="1A3A6B"/>
                </a:solidFill>
                <a:latin typeface="Open Sans" pitchFamily="34" charset="0"/>
                <a:ea typeface="Open Sans" pitchFamily="34" charset="-122"/>
                <a:cs typeface="Open Sans" pitchFamily="34" charset="-120"/>
              </a:rPr>
              <a:t>an editable IDP built from the lowest-rated behaviours.</a:t>
            </a:r>
            <a:endParaRPr lang="en-US" sz="1200" dirty="0"/>
          </a:p>
        </p:txBody>
      </p:sp>
      <p:sp>
        <p:nvSpPr>
          <p:cNvPr id="14" name="Shape 12"/>
          <p:cNvSpPr/>
          <p:nvPr/>
        </p:nvSpPr>
        <p:spPr>
          <a:xfrm>
            <a:off x="3749040" y="2258568"/>
            <a:ext cx="54864" cy="694944"/>
          </a:xfrm>
          <a:prstGeom prst="rect">
            <a:avLst/>
          </a:prstGeom>
          <a:solidFill>
            <a:srgbClr val="5391D5"/>
          </a:solidFill>
          <a:ln w="12700">
            <a:solidFill>
              <a:srgbClr val="5391D5"/>
            </a:solidFill>
            <a:prstDash val="solid"/>
          </a:ln>
        </p:spPr>
      </p:sp>
      <p:sp>
        <p:nvSpPr>
          <p:cNvPr id="15" name="Text 13"/>
          <p:cNvSpPr/>
          <p:nvPr/>
        </p:nvSpPr>
        <p:spPr>
          <a:xfrm>
            <a:off x="3913632" y="2221992"/>
            <a:ext cx="4937760" cy="804672"/>
          </a:xfrm>
          <a:prstGeom prst="rect">
            <a:avLst/>
          </a:prstGeom>
          <a:noFill/>
          <a:ln/>
        </p:spPr>
        <p:txBody>
          <a:bodyPr wrap="square" rtlCol="0" anchor="ctr"/>
          <a:lstStyle/>
          <a:p>
            <a:pPr indent="0" marL="0">
              <a:buNone/>
            </a:pPr>
            <a:r>
              <a:rPr lang="en-US" sz="1200" b="1" dirty="0">
                <a:solidFill>
                  <a:srgbClr val="010131"/>
                </a:solidFill>
                <a:latin typeface="Open Sans" pitchFamily="34" charset="0"/>
                <a:ea typeface="Open Sans" pitchFamily="34" charset="-122"/>
                <a:cs typeface="Open Sans" pitchFamily="34" charset="-120"/>
              </a:rPr>
              <a:t>Cohort report  </a:t>
            </a:r>
            <a:pPr indent="0" marL="0">
              <a:buNone/>
            </a:pPr>
            <a:r>
              <a:rPr lang="en-US" sz="1200" dirty="0">
                <a:solidFill>
                  <a:srgbClr val="1A3A6B"/>
                </a:solidFill>
                <a:latin typeface="Open Sans" pitchFamily="34" charset="0"/>
                <a:ea typeface="Open Sans" pitchFamily="34" charset="-122"/>
                <a:cs typeface="Open Sans" pitchFamily="34" charset="-120"/>
              </a:rPr>
              <a:t>an organisation-wide view of strengths and development areas.</a:t>
            </a:r>
            <a:endParaRPr lang="en-US" sz="1200" dirty="0"/>
          </a:p>
        </p:txBody>
      </p:sp>
      <p:sp>
        <p:nvSpPr>
          <p:cNvPr id="16" name="Shape 14"/>
          <p:cNvSpPr/>
          <p:nvPr/>
        </p:nvSpPr>
        <p:spPr>
          <a:xfrm>
            <a:off x="3749040" y="3118104"/>
            <a:ext cx="54864" cy="694944"/>
          </a:xfrm>
          <a:prstGeom prst="rect">
            <a:avLst/>
          </a:prstGeom>
          <a:solidFill>
            <a:srgbClr val="5391D5"/>
          </a:solidFill>
          <a:ln w="12700">
            <a:solidFill>
              <a:srgbClr val="5391D5"/>
            </a:solidFill>
            <a:prstDash val="solid"/>
          </a:ln>
        </p:spPr>
      </p:sp>
      <p:sp>
        <p:nvSpPr>
          <p:cNvPr id="17" name="Text 15"/>
          <p:cNvSpPr/>
          <p:nvPr/>
        </p:nvSpPr>
        <p:spPr>
          <a:xfrm>
            <a:off x="3913632" y="3081528"/>
            <a:ext cx="4937760" cy="804672"/>
          </a:xfrm>
          <a:prstGeom prst="rect">
            <a:avLst/>
          </a:prstGeom>
          <a:noFill/>
          <a:ln/>
        </p:spPr>
        <p:txBody>
          <a:bodyPr wrap="square" rtlCol="0" anchor="ctr"/>
          <a:lstStyle/>
          <a:p>
            <a:pPr indent="0" marL="0">
              <a:buNone/>
            </a:pPr>
            <a:r>
              <a:rPr lang="en-US" sz="1200" b="1" dirty="0">
                <a:solidFill>
                  <a:srgbClr val="010131"/>
                </a:solidFill>
                <a:latin typeface="Open Sans" pitchFamily="34" charset="0"/>
                <a:ea typeface="Open Sans" pitchFamily="34" charset="-122"/>
                <a:cs typeface="Open Sans" pitchFamily="34" charset="-120"/>
              </a:rPr>
              <a:t>Reassessment  </a:t>
            </a:r>
            <a:pPr indent="0" marL="0">
              <a:buNone/>
            </a:pPr>
            <a:r>
              <a:rPr lang="en-US" sz="1200" dirty="0">
                <a:solidFill>
                  <a:srgbClr val="1A3A6B"/>
                </a:solidFill>
                <a:latin typeface="Open Sans" pitchFamily="34" charset="0"/>
                <a:ea typeface="Open Sans" pitchFamily="34" charset="-122"/>
                <a:cs typeface="Open Sans" pitchFamily="34" charset="-120"/>
              </a:rPr>
              <a:t>re-run later to show year-on-year deltas.</a:t>
            </a:r>
            <a:endParaRPr lang="en-US" sz="1200" dirty="0"/>
          </a:p>
        </p:txBody>
      </p:sp>
      <p:sp>
        <p:nvSpPr>
          <p:cNvPr id="18" name="Text 16"/>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64748B"/>
                </a:solidFill>
                <a:latin typeface="Open Sans" pitchFamily="34" charset="0"/>
                <a:ea typeface="Open Sans" pitchFamily="34" charset="-122"/>
                <a:cs typeface="Open Sans" pitchFamily="34" charset="-120"/>
              </a:rPr>
              <a:t>Reflect 360  ·  User Manual</a:t>
            </a:r>
            <a:endParaRPr lang="en-US" sz="800" dirty="0"/>
          </a:p>
        </p:txBody>
      </p:sp>
      <p:sp>
        <p:nvSpPr>
          <p:cNvPr id="19" name="Text 17"/>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64748B"/>
                </a:solidFill>
                <a:latin typeface="Open Sans" pitchFamily="34" charset="0"/>
                <a:ea typeface="Open Sans" pitchFamily="34" charset="-122"/>
                <a:cs typeface="Open Sans"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6B"/>
          </a:solidFill>
          <a:ln w="12700">
            <a:solidFill>
              <a:srgbClr val="1A3A6B"/>
            </a:solidFill>
            <a:prstDash val="solid"/>
          </a:ln>
        </p:spPr>
      </p:sp>
      <p:sp>
        <p:nvSpPr>
          <p:cNvPr id="3" name="Shape 1"/>
          <p:cNvSpPr/>
          <p:nvPr/>
        </p:nvSpPr>
        <p:spPr>
          <a:xfrm>
            <a:off x="256032" y="914400"/>
            <a:ext cx="128016" cy="3017520"/>
          </a:xfrm>
          <a:prstGeom prst="rect">
            <a:avLst/>
          </a:prstGeom>
          <a:solidFill>
            <a:srgbClr val="5391D5"/>
          </a:solidFill>
          <a:ln w="12700">
            <a:solidFill>
              <a:srgbClr val="5391D5"/>
            </a:solidFill>
            <a:prstDash val="solid"/>
          </a:ln>
        </p:spPr>
      </p:sp>
      <p:sp>
        <p:nvSpPr>
          <p:cNvPr id="4" name="Shape 2"/>
          <p:cNvSpPr/>
          <p:nvPr/>
        </p:nvSpPr>
        <p:spPr>
          <a:xfrm>
            <a:off x="256032" y="914400"/>
            <a:ext cx="731520" cy="128016"/>
          </a:xfrm>
          <a:prstGeom prst="rect">
            <a:avLst/>
          </a:prstGeom>
          <a:solidFill>
            <a:srgbClr val="5391D5"/>
          </a:solidFill>
          <a:ln w="12700">
            <a:solidFill>
              <a:srgbClr val="5391D5"/>
            </a:solidFill>
            <a:prstDash val="solid"/>
          </a:ln>
        </p:spPr>
      </p:sp>
      <p:sp>
        <p:nvSpPr>
          <p:cNvPr id="5" name="Shape 3"/>
          <p:cNvSpPr/>
          <p:nvPr/>
        </p:nvSpPr>
        <p:spPr>
          <a:xfrm>
            <a:off x="256032" y="3803904"/>
            <a:ext cx="731520" cy="128016"/>
          </a:xfrm>
          <a:prstGeom prst="rect">
            <a:avLst/>
          </a:prstGeom>
          <a:solidFill>
            <a:srgbClr val="5391D5"/>
          </a:solidFill>
          <a:ln w="12700">
            <a:solidFill>
              <a:srgbClr val="5391D5"/>
            </a:solidFill>
            <a:prstDash val="solid"/>
          </a:ln>
        </p:spPr>
      </p:sp>
      <p:sp>
        <p:nvSpPr>
          <p:cNvPr id="6" name="Text 4"/>
          <p:cNvSpPr/>
          <p:nvPr/>
        </p:nvSpPr>
        <p:spPr>
          <a:xfrm>
            <a:off x="1143000" y="274320"/>
            <a:ext cx="5486400" cy="292608"/>
          </a:xfrm>
          <a:prstGeom prst="rect">
            <a:avLst/>
          </a:prstGeom>
          <a:noFill/>
          <a:ln/>
        </p:spPr>
        <p:txBody>
          <a:bodyPr wrap="square" rtlCol="0" anchor="ctr"/>
          <a:lstStyle/>
          <a:p>
            <a:pPr indent="0" marL="0">
              <a:buNone/>
            </a:pPr>
            <a:r>
              <a:rPr lang="en-US" sz="900" b="1" spc="400" kern="0" dirty="0">
                <a:solidFill>
                  <a:srgbClr val="5391D5"/>
                </a:solidFill>
                <a:latin typeface="Open Sans" pitchFamily="34" charset="0"/>
                <a:ea typeface="Open Sans" pitchFamily="34" charset="-122"/>
                <a:cs typeface="Open Sans" pitchFamily="34" charset="-120"/>
              </a:rPr>
              <a:t>PROTECTING CANDOUR</a:t>
            </a:r>
            <a:endParaRPr lang="en-US" sz="900" dirty="0"/>
          </a:p>
        </p:txBody>
      </p:sp>
      <p:sp>
        <p:nvSpPr>
          <p:cNvPr id="7" name="Text 5"/>
          <p:cNvSpPr/>
          <p:nvPr/>
        </p:nvSpPr>
        <p:spPr>
          <a:xfrm>
            <a:off x="1143000" y="640080"/>
            <a:ext cx="7680960" cy="822960"/>
          </a:xfrm>
          <a:prstGeom prst="rect">
            <a:avLst/>
          </a:prstGeom>
          <a:noFill/>
          <a:ln/>
        </p:spPr>
        <p:txBody>
          <a:bodyPr wrap="square" rtlCol="0" anchor="ctr"/>
          <a:lstStyle/>
          <a:p>
            <a:pPr indent="0" marL="0">
              <a:buNone/>
            </a:pPr>
            <a:r>
              <a:rPr lang="en-US" sz="3400" b="1" dirty="0">
                <a:solidFill>
                  <a:srgbClr val="FFFFFF"/>
                </a:solidFill>
                <a:latin typeface="Open Sans" pitchFamily="34" charset="0"/>
                <a:ea typeface="Open Sans" pitchFamily="34" charset="-122"/>
                <a:cs typeface="Open Sans" pitchFamily="34" charset="-120"/>
              </a:rPr>
              <a:t>Anonymity threshold</a:t>
            </a:r>
            <a:endParaRPr lang="en-US" sz="3400" dirty="0"/>
          </a:p>
        </p:txBody>
      </p:sp>
      <p:sp>
        <p:nvSpPr>
          <p:cNvPr id="8" name="Shape 6"/>
          <p:cNvSpPr/>
          <p:nvPr/>
        </p:nvSpPr>
        <p:spPr>
          <a:xfrm>
            <a:off x="1143000" y="1554480"/>
            <a:ext cx="7498080" cy="45720"/>
          </a:xfrm>
          <a:prstGeom prst="rect">
            <a:avLst/>
          </a:prstGeom>
          <a:solidFill>
            <a:srgbClr val="5391D5"/>
          </a:solidFill>
          <a:ln w="12700">
            <a:solidFill>
              <a:srgbClr val="5391D5"/>
            </a:solidFill>
            <a:prstDash val="solid"/>
          </a:ln>
        </p:spPr>
      </p:sp>
      <p:sp>
        <p:nvSpPr>
          <p:cNvPr id="9" name="Text 7"/>
          <p:cNvSpPr/>
          <p:nvPr/>
        </p:nvSpPr>
        <p:spPr>
          <a:xfrm>
            <a:off x="1143000" y="1737360"/>
            <a:ext cx="7498080" cy="1828800"/>
          </a:xfrm>
          <a:prstGeom prst="rect">
            <a:avLst/>
          </a:prstGeom>
          <a:noFill/>
          <a:ln/>
        </p:spPr>
        <p:txBody>
          <a:bodyPr wrap="square" rtlCol="0" anchor="t"/>
          <a:lstStyle/>
          <a:p>
            <a:pPr indent="0" marL="0">
              <a:buNone/>
            </a:pPr>
            <a:r>
              <a:rPr lang="en-US" sz="1500" dirty="0">
                <a:solidFill>
                  <a:srgbClr val="FFFFFF"/>
                </a:solidFill>
                <a:latin typeface="Open Sans" pitchFamily="34" charset="0"/>
                <a:ea typeface="Open Sans" pitchFamily="34" charset="-122"/>
                <a:cs typeface="Open Sans" pitchFamily="34" charset="-120"/>
              </a:rPr>
              <a:t>Honest feedback needs safety. Peer and Direct-Report group means and verbatim comments stay hidden until that group reaches the minimum number of raters (three by default). Below the threshold the report shows that the group is too small to display — so no single rater can ever be identified by their score.</a:t>
            </a:r>
            <a:endParaRPr lang="en-US" sz="1500" dirty="0"/>
          </a:p>
        </p:txBody>
      </p:sp>
      <p:sp>
        <p:nvSpPr>
          <p:cNvPr id="10" name="Shape 8"/>
          <p:cNvSpPr/>
          <p:nvPr/>
        </p:nvSpPr>
        <p:spPr>
          <a:xfrm>
            <a:off x="1143000" y="3703320"/>
            <a:ext cx="7498080" cy="502920"/>
          </a:xfrm>
          <a:prstGeom prst="rect">
            <a:avLst/>
          </a:prstGeom>
          <a:solidFill>
            <a:srgbClr val="010131"/>
          </a:solidFill>
          <a:ln w="12700">
            <a:solidFill>
              <a:srgbClr val="010131"/>
            </a:solidFill>
            <a:prstDash val="solid"/>
          </a:ln>
        </p:spPr>
      </p:sp>
      <p:sp>
        <p:nvSpPr>
          <p:cNvPr id="11" name="Text 9"/>
          <p:cNvSpPr/>
          <p:nvPr/>
        </p:nvSpPr>
        <p:spPr>
          <a:xfrm>
            <a:off x="1280160" y="3767328"/>
            <a:ext cx="7223760" cy="365760"/>
          </a:xfrm>
          <a:prstGeom prst="rect">
            <a:avLst/>
          </a:prstGeom>
          <a:noFill/>
          <a:ln/>
        </p:spPr>
        <p:txBody>
          <a:bodyPr wrap="square" rtlCol="0" anchor="ctr"/>
          <a:lstStyle/>
          <a:p>
            <a:pPr indent="0" marL="0">
              <a:buNone/>
            </a:pPr>
            <a:r>
              <a:rPr lang="en-US" sz="1100" i="1" dirty="0">
                <a:solidFill>
                  <a:srgbClr val="A8C4E5"/>
                </a:solidFill>
                <a:latin typeface="Open Sans" pitchFamily="34" charset="0"/>
                <a:ea typeface="Open Sans" pitchFamily="34" charset="-122"/>
                <a:cs typeface="Open Sans" pitchFamily="34" charset="-120"/>
              </a:rPr>
              <a:t>Group means &amp; verbatims hide below the minimum rater count</a:t>
            </a:r>
            <a:endParaRPr lang="en-US" sz="1100" dirty="0"/>
          </a:p>
        </p:txBody>
      </p:sp>
      <p:sp>
        <p:nvSpPr>
          <p:cNvPr id="12" name="Text 10"/>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A8C4E5"/>
                </a:solidFill>
                <a:latin typeface="Open Sans" pitchFamily="34" charset="0"/>
                <a:ea typeface="Open Sans" pitchFamily="34" charset="-122"/>
                <a:cs typeface="Open Sans" pitchFamily="34" charset="-120"/>
              </a:rPr>
              <a:t>Reflect 360  ·  User Manual</a:t>
            </a:r>
            <a:endParaRPr lang="en-US" sz="800" dirty="0"/>
          </a:p>
        </p:txBody>
      </p:sp>
      <p:sp>
        <p:nvSpPr>
          <p:cNvPr id="13" name="Text 11"/>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A8C4E5"/>
                </a:solidFill>
                <a:latin typeface="Open Sans" pitchFamily="34" charset="0"/>
                <a:ea typeface="Open Sans" pitchFamily="34" charset="-122"/>
                <a:cs typeface="Open Sans"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6B"/>
          </a:solidFill>
          <a:ln w="12700">
            <a:solidFill>
              <a:srgbClr val="1A3A6B"/>
            </a:solidFill>
            <a:prstDash val="solid"/>
          </a:ln>
        </p:spPr>
      </p:sp>
      <p:sp>
        <p:nvSpPr>
          <p:cNvPr id="3" name="Shape 1"/>
          <p:cNvSpPr/>
          <p:nvPr/>
        </p:nvSpPr>
        <p:spPr>
          <a:xfrm flipH="1">
            <a:off x="3200400" y="0"/>
            <a:ext cx="6126480" cy="5143500"/>
          </a:xfrm>
          <a:prstGeom prst="rtTriangle">
            <a:avLst/>
          </a:prstGeom>
          <a:solidFill>
            <a:srgbClr val="5391D5"/>
          </a:solidFill>
          <a:ln w="12700">
            <a:solidFill>
              <a:srgbClr val="5391D5"/>
            </a:solidFill>
            <a:prstDash val="solid"/>
          </a:ln>
        </p:spPr>
      </p:sp>
      <p:sp>
        <p:nvSpPr>
          <p:cNvPr id="4" name="Shape 2"/>
          <p:cNvSpPr/>
          <p:nvPr/>
        </p:nvSpPr>
        <p:spPr>
          <a:xfrm flipH="1">
            <a:off x="3383280" y="0"/>
            <a:ext cx="5943600" cy="5143500"/>
          </a:xfrm>
          <a:prstGeom prst="rtTriangle">
            <a:avLst/>
          </a:prstGeom>
          <a:solidFill>
            <a:srgbClr val="010131"/>
          </a:solidFill>
          <a:ln w="12700">
            <a:solidFill>
              <a:srgbClr val="010131"/>
            </a:solidFill>
            <a:prstDash val="solid"/>
          </a:ln>
        </p:spPr>
      </p:sp>
      <p:sp>
        <p:nvSpPr>
          <p:cNvPr id="5" name="Shape 3"/>
          <p:cNvSpPr/>
          <p:nvPr/>
        </p:nvSpPr>
        <p:spPr>
          <a:xfrm>
            <a:off x="0" y="0"/>
            <a:ext cx="164592" cy="5143500"/>
          </a:xfrm>
          <a:prstGeom prst="rect">
            <a:avLst/>
          </a:prstGeom>
          <a:solidFill>
            <a:srgbClr val="5391D5"/>
          </a:solidFill>
          <a:ln w="12700">
            <a:solidFill>
              <a:srgbClr val="5391D5"/>
            </a:solidFill>
            <a:prstDash val="solid"/>
          </a:ln>
        </p:spPr>
      </p:sp>
      <p:sp>
        <p:nvSpPr>
          <p:cNvPr id="6" name="Text 4"/>
          <p:cNvSpPr/>
          <p:nvPr/>
        </p:nvSpPr>
        <p:spPr>
          <a:xfrm>
            <a:off x="320040" y="164592"/>
            <a:ext cx="5486400" cy="256032"/>
          </a:xfrm>
          <a:prstGeom prst="rect">
            <a:avLst/>
          </a:prstGeom>
          <a:noFill/>
          <a:ln/>
        </p:spPr>
        <p:txBody>
          <a:bodyPr wrap="square" rtlCol="0" anchor="ctr"/>
          <a:lstStyle/>
          <a:p>
            <a:pPr indent="0" marL="0">
              <a:buNone/>
            </a:pPr>
            <a:r>
              <a:rPr lang="en-US" sz="850" spc="300" kern="0" dirty="0">
                <a:solidFill>
                  <a:srgbClr val="A8C4E5"/>
                </a:solidFill>
                <a:latin typeface="Open Sans" pitchFamily="34" charset="0"/>
                <a:ea typeface="Open Sans" pitchFamily="34" charset="-122"/>
                <a:cs typeface="Open Sans" pitchFamily="34" charset="-120"/>
              </a:rPr>
              <a:t>[ Part 2 ]</a:t>
            </a:r>
            <a:endParaRPr lang="en-US" sz="850" dirty="0"/>
          </a:p>
        </p:txBody>
      </p:sp>
      <p:sp>
        <p:nvSpPr>
          <p:cNvPr id="7" name="Text 5"/>
          <p:cNvSpPr/>
          <p:nvPr/>
        </p:nvSpPr>
        <p:spPr>
          <a:xfrm>
            <a:off x="320040" y="1463040"/>
            <a:ext cx="5120640" cy="1828800"/>
          </a:xfrm>
          <a:prstGeom prst="rect">
            <a:avLst/>
          </a:prstGeom>
          <a:noFill/>
          <a:ln/>
        </p:spPr>
        <p:txBody>
          <a:bodyPr wrap="square" rtlCol="0" anchor="ctr"/>
          <a:lstStyle/>
          <a:p>
            <a:pPr indent="0" marL="0">
              <a:buNone/>
            </a:pPr>
            <a:r>
              <a:rPr lang="en-US" sz="3400" b="1" dirty="0">
                <a:solidFill>
                  <a:srgbClr val="FFFFFF"/>
                </a:solidFill>
                <a:latin typeface="Open Sans" pitchFamily="34" charset="0"/>
                <a:ea typeface="Open Sans" pitchFamily="34" charset="-122"/>
                <a:cs typeface="Open Sans" pitchFamily="34" charset="-120"/>
              </a:rPr>
              <a:t>For</a:t>
            </a:r>
            <a:endParaRPr lang="en-US" sz="3400" dirty="0"/>
          </a:p>
          <a:p>
            <a:pPr indent="0" marL="0">
              <a:buNone/>
            </a:pPr>
            <a:r>
              <a:rPr lang="en-US" sz="3400" b="1" dirty="0">
                <a:solidFill>
                  <a:srgbClr val="FFFFFF"/>
                </a:solidFill>
                <a:latin typeface="Open Sans" pitchFamily="34" charset="0"/>
                <a:ea typeface="Open Sans" pitchFamily="34" charset="-122"/>
                <a:cs typeface="Open Sans" pitchFamily="34" charset="-120"/>
              </a:rPr>
              <a:t>Raters</a:t>
            </a:r>
            <a:endParaRPr lang="en-US" sz="3400" dirty="0"/>
          </a:p>
        </p:txBody>
      </p:sp>
      <p:sp>
        <p:nvSpPr>
          <p:cNvPr id="8" name="Text 6"/>
          <p:cNvSpPr/>
          <p:nvPr/>
        </p:nvSpPr>
        <p:spPr>
          <a:xfrm>
            <a:off x="320040" y="3200400"/>
            <a:ext cx="4754880" cy="731520"/>
          </a:xfrm>
          <a:prstGeom prst="rect">
            <a:avLst/>
          </a:prstGeom>
          <a:noFill/>
          <a:ln/>
        </p:spPr>
        <p:txBody>
          <a:bodyPr wrap="square" rtlCol="0" anchor="ctr"/>
          <a:lstStyle/>
          <a:p>
            <a:pPr indent="0" marL="0">
              <a:buNone/>
            </a:pPr>
            <a:r>
              <a:rPr lang="en-US" sz="1300" i="1" dirty="0">
                <a:solidFill>
                  <a:srgbClr val="A8C4E5"/>
                </a:solidFill>
                <a:latin typeface="Open Sans" pitchFamily="34" charset="0"/>
                <a:ea typeface="Open Sans" pitchFamily="34" charset="-122"/>
                <a:cs typeface="Open Sans" pitchFamily="34" charset="-120"/>
              </a:rPr>
              <a:t>Giving feedback — no account needed.</a:t>
            </a:r>
            <a:endParaRPr lang="en-US" sz="1300" dirty="0"/>
          </a:p>
        </p:txBody>
      </p:sp>
      <p:sp>
        <p:nvSpPr>
          <p:cNvPr id="9" name="Text 7"/>
          <p:cNvSpPr/>
          <p:nvPr/>
        </p:nvSpPr>
        <p:spPr>
          <a:xfrm>
            <a:off x="6766560" y="2468880"/>
            <a:ext cx="2011680" cy="1645920"/>
          </a:xfrm>
          <a:prstGeom prst="rect">
            <a:avLst/>
          </a:prstGeom>
          <a:noFill/>
          <a:ln/>
        </p:spPr>
        <p:txBody>
          <a:bodyPr wrap="square" rtlCol="0" anchor="ctr"/>
          <a:lstStyle/>
          <a:p>
            <a:pPr algn="ctr" indent="0" marL="0">
              <a:buNone/>
            </a:pPr>
            <a:r>
              <a:rPr lang="en-US" sz="9200" b="1" dirty="0">
                <a:solidFill>
                  <a:srgbClr val="1A3A6B"/>
                </a:solidFill>
                <a:latin typeface="Open Sans" pitchFamily="34" charset="0"/>
                <a:ea typeface="Open Sans" pitchFamily="34" charset="-122"/>
                <a:cs typeface="Open Sans" pitchFamily="34" charset="-120"/>
              </a:rPr>
              <a:t>02</a:t>
            </a:r>
            <a:endParaRPr lang="en-US" sz="9200" dirty="0"/>
          </a:p>
        </p:txBody>
      </p:sp>
      <p:sp>
        <p:nvSpPr>
          <p:cNvPr id="10" name="Text 8"/>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A8C4E5"/>
                </a:solidFill>
                <a:latin typeface="Open Sans" pitchFamily="34" charset="0"/>
                <a:ea typeface="Open Sans" pitchFamily="34" charset="-122"/>
                <a:cs typeface="Open Sans" pitchFamily="34" charset="-120"/>
              </a:rPr>
              <a:t>Reflect 360  ·  User Manual</a:t>
            </a:r>
            <a:endParaRPr lang="en-US" sz="800" dirty="0"/>
          </a:p>
        </p:txBody>
      </p:sp>
      <p:sp>
        <p:nvSpPr>
          <p:cNvPr id="11" name="Text 9"/>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A8C4E5"/>
                </a:solidFill>
                <a:latin typeface="Open Sans" pitchFamily="34" charset="0"/>
                <a:ea typeface="Open Sans" pitchFamily="34" charset="-122"/>
                <a:cs typeface="Open Sans"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w="12700">
            <a:solidFill>
              <a:srgbClr val="F5F7FA"/>
            </a:solidFill>
            <a:prstDash val="solid"/>
          </a:ln>
        </p:spPr>
      </p:sp>
      <p:sp>
        <p:nvSpPr>
          <p:cNvPr id="3" name="Shape 1"/>
          <p:cNvSpPr/>
          <p:nvPr/>
        </p:nvSpPr>
        <p:spPr>
          <a:xfrm>
            <a:off x="0" y="0"/>
            <a:ext cx="164592" cy="5143500"/>
          </a:xfrm>
          <a:prstGeom prst="rect">
            <a:avLst/>
          </a:prstGeom>
          <a:solidFill>
            <a:srgbClr val="5391D5"/>
          </a:solidFill>
          <a:ln w="12700">
            <a:solidFill>
              <a:srgbClr val="5391D5"/>
            </a:solidFill>
            <a:prstDash val="solid"/>
          </a:ln>
        </p:spPr>
      </p:sp>
      <p:sp>
        <p:nvSpPr>
          <p:cNvPr id="4" name="Shape 2"/>
          <p:cNvSpPr/>
          <p:nvPr/>
        </p:nvSpPr>
        <p:spPr>
          <a:xfrm>
            <a:off x="0" y="0"/>
            <a:ext cx="9144000" cy="731520"/>
          </a:xfrm>
          <a:prstGeom prst="rect">
            <a:avLst/>
          </a:prstGeom>
          <a:solidFill>
            <a:srgbClr val="010131"/>
          </a:solidFill>
          <a:ln w="12700">
            <a:solidFill>
              <a:srgbClr val="010131"/>
            </a:solidFill>
            <a:prstDash val="solid"/>
          </a:ln>
        </p:spPr>
      </p:sp>
      <p:sp>
        <p:nvSpPr>
          <p:cNvPr id="5" name="Text 3"/>
          <p:cNvSpPr/>
          <p:nvPr/>
        </p:nvSpPr>
        <p:spPr>
          <a:xfrm>
            <a:off x="320040" y="73152"/>
            <a:ext cx="4572000" cy="256032"/>
          </a:xfrm>
          <a:prstGeom prst="rect">
            <a:avLst/>
          </a:prstGeom>
          <a:noFill/>
          <a:ln/>
        </p:spPr>
        <p:txBody>
          <a:bodyPr wrap="square" rtlCol="0" anchor="ctr"/>
          <a:lstStyle/>
          <a:p>
            <a:pPr indent="0" marL="0">
              <a:buNone/>
            </a:pPr>
            <a:r>
              <a:rPr lang="en-US" sz="850" spc="300" kern="0" dirty="0">
                <a:solidFill>
                  <a:srgbClr val="5391D5"/>
                </a:solidFill>
                <a:latin typeface="Open Sans" pitchFamily="34" charset="0"/>
                <a:ea typeface="Open Sans" pitchFamily="34" charset="-122"/>
                <a:cs typeface="Open Sans" pitchFamily="34" charset="-120"/>
              </a:rPr>
              <a:t>[ Rater · the experience ]</a:t>
            </a:r>
            <a:endParaRPr lang="en-US" sz="850" dirty="0"/>
          </a:p>
        </p:txBody>
      </p:sp>
      <p:sp>
        <p:nvSpPr>
          <p:cNvPr id="6" name="Text 4"/>
          <p:cNvSpPr/>
          <p:nvPr/>
        </p:nvSpPr>
        <p:spPr>
          <a:xfrm>
            <a:off x="320040" y="292608"/>
            <a:ext cx="8595360" cy="384048"/>
          </a:xfrm>
          <a:prstGeom prst="rect">
            <a:avLst/>
          </a:prstGeom>
          <a:noFill/>
          <a:ln/>
        </p:spPr>
        <p:txBody>
          <a:bodyPr wrap="square"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What a rater does</a:t>
            </a:r>
            <a:endParaRPr lang="en-US" sz="1800" dirty="0"/>
          </a:p>
        </p:txBody>
      </p:sp>
      <p:sp>
        <p:nvSpPr>
          <p:cNvPr id="7" name="Shape 5"/>
          <p:cNvSpPr/>
          <p:nvPr/>
        </p:nvSpPr>
        <p:spPr>
          <a:xfrm>
            <a:off x="1348740" y="2075688"/>
            <a:ext cx="6446520" cy="54864"/>
          </a:xfrm>
          <a:prstGeom prst="rect">
            <a:avLst/>
          </a:prstGeom>
          <a:solidFill>
            <a:srgbClr val="5391D5"/>
          </a:solidFill>
          <a:ln w="12700">
            <a:solidFill>
              <a:srgbClr val="5391D5"/>
            </a:solidFill>
            <a:prstDash val="solid"/>
          </a:ln>
        </p:spPr>
      </p:sp>
      <p:sp>
        <p:nvSpPr>
          <p:cNvPr id="8" name="Shape 6"/>
          <p:cNvSpPr/>
          <p:nvPr/>
        </p:nvSpPr>
        <p:spPr>
          <a:xfrm>
            <a:off x="1037844" y="1792224"/>
            <a:ext cx="621792" cy="621792"/>
          </a:xfrm>
          <a:prstGeom prst="ellipse">
            <a:avLst/>
          </a:prstGeom>
          <a:solidFill>
            <a:srgbClr val="5391D5"/>
          </a:solidFill>
          <a:ln w="12700">
            <a:solidFill>
              <a:srgbClr val="5391D5"/>
            </a:solidFill>
            <a:prstDash val="solid"/>
          </a:ln>
        </p:spPr>
      </p:sp>
      <p:sp>
        <p:nvSpPr>
          <p:cNvPr id="9" name="Shape 7"/>
          <p:cNvSpPr/>
          <p:nvPr/>
        </p:nvSpPr>
        <p:spPr>
          <a:xfrm>
            <a:off x="1110996" y="1865376"/>
            <a:ext cx="475488" cy="475488"/>
          </a:xfrm>
          <a:prstGeom prst="ellipse">
            <a:avLst/>
          </a:prstGeom>
          <a:solidFill>
            <a:srgbClr val="010131"/>
          </a:solidFill>
          <a:ln w="12700">
            <a:solidFill>
              <a:srgbClr val="010131"/>
            </a:solidFill>
            <a:prstDash val="solid"/>
          </a:ln>
        </p:spPr>
      </p:sp>
      <p:sp>
        <p:nvSpPr>
          <p:cNvPr id="10" name="Text 8"/>
          <p:cNvSpPr/>
          <p:nvPr/>
        </p:nvSpPr>
        <p:spPr>
          <a:xfrm>
            <a:off x="1037844"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1</a:t>
            </a:r>
            <a:endParaRPr lang="en-US" sz="1300" dirty="0"/>
          </a:p>
        </p:txBody>
      </p:sp>
      <p:sp>
        <p:nvSpPr>
          <p:cNvPr id="11" name="Text 9"/>
          <p:cNvSpPr/>
          <p:nvPr/>
        </p:nvSpPr>
        <p:spPr>
          <a:xfrm>
            <a:off x="338328" y="2560320"/>
            <a:ext cx="2020824"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Open</a:t>
            </a:r>
            <a:endParaRPr lang="en-US" sz="1200" dirty="0"/>
          </a:p>
        </p:txBody>
      </p:sp>
      <p:sp>
        <p:nvSpPr>
          <p:cNvPr id="12" name="Text 10"/>
          <p:cNvSpPr/>
          <p:nvPr/>
        </p:nvSpPr>
        <p:spPr>
          <a:xfrm>
            <a:off x="338328" y="2926080"/>
            <a:ext cx="2020824"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Use the private link.</a:t>
            </a:r>
            <a:endParaRPr lang="en-US" sz="1000" dirty="0"/>
          </a:p>
        </p:txBody>
      </p:sp>
      <p:sp>
        <p:nvSpPr>
          <p:cNvPr id="13" name="Shape 11"/>
          <p:cNvSpPr/>
          <p:nvPr/>
        </p:nvSpPr>
        <p:spPr>
          <a:xfrm>
            <a:off x="3186684" y="1792224"/>
            <a:ext cx="621792" cy="621792"/>
          </a:xfrm>
          <a:prstGeom prst="ellipse">
            <a:avLst/>
          </a:prstGeom>
          <a:solidFill>
            <a:srgbClr val="5391D5"/>
          </a:solidFill>
          <a:ln w="12700">
            <a:solidFill>
              <a:srgbClr val="5391D5"/>
            </a:solidFill>
            <a:prstDash val="solid"/>
          </a:ln>
        </p:spPr>
      </p:sp>
      <p:sp>
        <p:nvSpPr>
          <p:cNvPr id="14" name="Shape 12"/>
          <p:cNvSpPr/>
          <p:nvPr/>
        </p:nvSpPr>
        <p:spPr>
          <a:xfrm>
            <a:off x="3259836" y="1865376"/>
            <a:ext cx="475488" cy="475488"/>
          </a:xfrm>
          <a:prstGeom prst="ellipse">
            <a:avLst/>
          </a:prstGeom>
          <a:solidFill>
            <a:srgbClr val="010131"/>
          </a:solidFill>
          <a:ln w="12700">
            <a:solidFill>
              <a:srgbClr val="010131"/>
            </a:solidFill>
            <a:prstDash val="solid"/>
          </a:ln>
        </p:spPr>
      </p:sp>
      <p:sp>
        <p:nvSpPr>
          <p:cNvPr id="15" name="Text 13"/>
          <p:cNvSpPr/>
          <p:nvPr/>
        </p:nvSpPr>
        <p:spPr>
          <a:xfrm>
            <a:off x="3186684"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2</a:t>
            </a:r>
            <a:endParaRPr lang="en-US" sz="1300" dirty="0"/>
          </a:p>
        </p:txBody>
      </p:sp>
      <p:sp>
        <p:nvSpPr>
          <p:cNvPr id="16" name="Text 14"/>
          <p:cNvSpPr/>
          <p:nvPr/>
        </p:nvSpPr>
        <p:spPr>
          <a:xfrm>
            <a:off x="2487168" y="2560320"/>
            <a:ext cx="2020824"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Score</a:t>
            </a:r>
            <a:endParaRPr lang="en-US" sz="1200" dirty="0"/>
          </a:p>
        </p:txBody>
      </p:sp>
      <p:sp>
        <p:nvSpPr>
          <p:cNvPr id="17" name="Text 15"/>
          <p:cNvSpPr/>
          <p:nvPr/>
        </p:nvSpPr>
        <p:spPr>
          <a:xfrm>
            <a:off x="2487168" y="2926080"/>
            <a:ext cx="2020824"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Rate each behaviour.</a:t>
            </a:r>
            <a:endParaRPr lang="en-US" sz="1000" dirty="0"/>
          </a:p>
        </p:txBody>
      </p:sp>
      <p:sp>
        <p:nvSpPr>
          <p:cNvPr id="18" name="Shape 16"/>
          <p:cNvSpPr/>
          <p:nvPr/>
        </p:nvSpPr>
        <p:spPr>
          <a:xfrm>
            <a:off x="5335524" y="1792224"/>
            <a:ext cx="621792" cy="621792"/>
          </a:xfrm>
          <a:prstGeom prst="ellipse">
            <a:avLst/>
          </a:prstGeom>
          <a:solidFill>
            <a:srgbClr val="5391D5"/>
          </a:solidFill>
          <a:ln w="12700">
            <a:solidFill>
              <a:srgbClr val="5391D5"/>
            </a:solidFill>
            <a:prstDash val="solid"/>
          </a:ln>
        </p:spPr>
      </p:sp>
      <p:sp>
        <p:nvSpPr>
          <p:cNvPr id="19" name="Shape 17"/>
          <p:cNvSpPr/>
          <p:nvPr/>
        </p:nvSpPr>
        <p:spPr>
          <a:xfrm>
            <a:off x="5408676" y="1865376"/>
            <a:ext cx="475488" cy="475488"/>
          </a:xfrm>
          <a:prstGeom prst="ellipse">
            <a:avLst/>
          </a:prstGeom>
          <a:solidFill>
            <a:srgbClr val="010131"/>
          </a:solidFill>
          <a:ln w="12700">
            <a:solidFill>
              <a:srgbClr val="010131"/>
            </a:solidFill>
            <a:prstDash val="solid"/>
          </a:ln>
        </p:spPr>
      </p:sp>
      <p:sp>
        <p:nvSpPr>
          <p:cNvPr id="20" name="Text 18"/>
          <p:cNvSpPr/>
          <p:nvPr/>
        </p:nvSpPr>
        <p:spPr>
          <a:xfrm>
            <a:off x="5335524"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3</a:t>
            </a:r>
            <a:endParaRPr lang="en-US" sz="1300" dirty="0"/>
          </a:p>
        </p:txBody>
      </p:sp>
      <p:sp>
        <p:nvSpPr>
          <p:cNvPr id="21" name="Text 19"/>
          <p:cNvSpPr/>
          <p:nvPr/>
        </p:nvSpPr>
        <p:spPr>
          <a:xfrm>
            <a:off x="4636008" y="2560320"/>
            <a:ext cx="2020824"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Reflect</a:t>
            </a:r>
            <a:endParaRPr lang="en-US" sz="1200" dirty="0"/>
          </a:p>
        </p:txBody>
      </p:sp>
      <p:sp>
        <p:nvSpPr>
          <p:cNvPr id="22" name="Text 20"/>
          <p:cNvSpPr/>
          <p:nvPr/>
        </p:nvSpPr>
        <p:spPr>
          <a:xfrm>
            <a:off x="4636008" y="2926080"/>
            <a:ext cx="2020824"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Start / Stop / Continue notes.</a:t>
            </a:r>
            <a:endParaRPr lang="en-US" sz="1000" dirty="0"/>
          </a:p>
        </p:txBody>
      </p:sp>
      <p:sp>
        <p:nvSpPr>
          <p:cNvPr id="23" name="Shape 21"/>
          <p:cNvSpPr/>
          <p:nvPr/>
        </p:nvSpPr>
        <p:spPr>
          <a:xfrm>
            <a:off x="7484364" y="1792224"/>
            <a:ext cx="621792" cy="621792"/>
          </a:xfrm>
          <a:prstGeom prst="ellipse">
            <a:avLst/>
          </a:prstGeom>
          <a:solidFill>
            <a:srgbClr val="5391D5"/>
          </a:solidFill>
          <a:ln w="12700">
            <a:solidFill>
              <a:srgbClr val="5391D5"/>
            </a:solidFill>
            <a:prstDash val="solid"/>
          </a:ln>
        </p:spPr>
      </p:sp>
      <p:sp>
        <p:nvSpPr>
          <p:cNvPr id="24" name="Shape 22"/>
          <p:cNvSpPr/>
          <p:nvPr/>
        </p:nvSpPr>
        <p:spPr>
          <a:xfrm>
            <a:off x="7557516" y="1865376"/>
            <a:ext cx="475488" cy="475488"/>
          </a:xfrm>
          <a:prstGeom prst="ellipse">
            <a:avLst/>
          </a:prstGeom>
          <a:solidFill>
            <a:srgbClr val="010131"/>
          </a:solidFill>
          <a:ln w="12700">
            <a:solidFill>
              <a:srgbClr val="010131"/>
            </a:solidFill>
            <a:prstDash val="solid"/>
          </a:ln>
        </p:spPr>
      </p:sp>
      <p:sp>
        <p:nvSpPr>
          <p:cNvPr id="25" name="Text 23"/>
          <p:cNvSpPr/>
          <p:nvPr/>
        </p:nvSpPr>
        <p:spPr>
          <a:xfrm>
            <a:off x="7484364" y="1792224"/>
            <a:ext cx="621792" cy="621792"/>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4</a:t>
            </a:r>
            <a:endParaRPr lang="en-US" sz="1300" dirty="0"/>
          </a:p>
        </p:txBody>
      </p:sp>
      <p:sp>
        <p:nvSpPr>
          <p:cNvPr id="26" name="Text 24"/>
          <p:cNvSpPr/>
          <p:nvPr/>
        </p:nvSpPr>
        <p:spPr>
          <a:xfrm>
            <a:off x="6784848" y="2560320"/>
            <a:ext cx="2020824" cy="329184"/>
          </a:xfrm>
          <a:prstGeom prst="rect">
            <a:avLst/>
          </a:prstGeom>
          <a:noFill/>
          <a:ln/>
        </p:spPr>
        <p:txBody>
          <a:bodyPr wrap="square" rtlCol="0" anchor="ctr"/>
          <a:lstStyle/>
          <a:p>
            <a:pPr algn="ctr" indent="0" marL="0">
              <a:buNone/>
            </a:pPr>
            <a:r>
              <a:rPr lang="en-US" sz="1200" b="1" dirty="0">
                <a:solidFill>
                  <a:srgbClr val="010131"/>
                </a:solidFill>
                <a:latin typeface="Open Sans" pitchFamily="34" charset="0"/>
                <a:ea typeface="Open Sans" pitchFamily="34" charset="-122"/>
                <a:cs typeface="Open Sans" pitchFamily="34" charset="-120"/>
              </a:rPr>
              <a:t>Submit</a:t>
            </a:r>
            <a:endParaRPr lang="en-US" sz="1200" dirty="0"/>
          </a:p>
        </p:txBody>
      </p:sp>
      <p:sp>
        <p:nvSpPr>
          <p:cNvPr id="27" name="Text 25"/>
          <p:cNvSpPr/>
          <p:nvPr/>
        </p:nvSpPr>
        <p:spPr>
          <a:xfrm>
            <a:off x="6784848" y="2926080"/>
            <a:ext cx="2020824" cy="1371600"/>
          </a:xfrm>
          <a:prstGeom prst="rect">
            <a:avLst/>
          </a:prstGeom>
          <a:noFill/>
          <a:ln/>
        </p:spPr>
        <p:txBody>
          <a:bodyPr wrap="square" rtlCol="0" anchor="t"/>
          <a:lstStyle/>
          <a:p>
            <a:pPr algn="ctr" indent="0" marL="0">
              <a:buNone/>
            </a:pPr>
            <a:r>
              <a:rPr lang="en-US" sz="1000" dirty="0">
                <a:solidFill>
                  <a:srgbClr val="1A3A6B"/>
                </a:solidFill>
                <a:latin typeface="Open Sans" pitchFamily="34" charset="0"/>
                <a:ea typeface="Open Sans" pitchFamily="34" charset="-122"/>
                <a:cs typeface="Open Sans" pitchFamily="34" charset="-120"/>
              </a:rPr>
              <a:t>Send — once only.</a:t>
            </a:r>
            <a:endParaRPr lang="en-US" sz="1000" dirty="0"/>
          </a:p>
        </p:txBody>
      </p:sp>
      <p:sp>
        <p:nvSpPr>
          <p:cNvPr id="28" name="Text 26"/>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64748B"/>
                </a:solidFill>
                <a:latin typeface="Open Sans" pitchFamily="34" charset="0"/>
                <a:ea typeface="Open Sans" pitchFamily="34" charset="-122"/>
                <a:cs typeface="Open Sans" pitchFamily="34" charset="-120"/>
              </a:rPr>
              <a:t>Reflect 360  ·  User Manual</a:t>
            </a:r>
            <a:endParaRPr lang="en-US" sz="800" dirty="0"/>
          </a:p>
        </p:txBody>
      </p:sp>
      <p:sp>
        <p:nvSpPr>
          <p:cNvPr id="29" name="Text 27"/>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64748B"/>
                </a:solidFill>
                <a:latin typeface="Open Sans" pitchFamily="34" charset="0"/>
                <a:ea typeface="Open Sans" pitchFamily="34" charset="-122"/>
                <a:cs typeface="Open Sans"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w="12700">
            <a:solidFill>
              <a:srgbClr val="F5F7FA"/>
            </a:solidFill>
            <a:prstDash val="solid"/>
          </a:ln>
        </p:spPr>
      </p:sp>
      <p:sp>
        <p:nvSpPr>
          <p:cNvPr id="3" name="Shape 1"/>
          <p:cNvSpPr/>
          <p:nvPr/>
        </p:nvSpPr>
        <p:spPr>
          <a:xfrm>
            <a:off x="0" y="0"/>
            <a:ext cx="164592" cy="5143500"/>
          </a:xfrm>
          <a:prstGeom prst="rect">
            <a:avLst/>
          </a:prstGeom>
          <a:solidFill>
            <a:srgbClr val="5391D5"/>
          </a:solidFill>
          <a:ln w="12700">
            <a:solidFill>
              <a:srgbClr val="5391D5"/>
            </a:solidFill>
            <a:prstDash val="solid"/>
          </a:ln>
        </p:spPr>
      </p:sp>
      <p:sp>
        <p:nvSpPr>
          <p:cNvPr id="4" name="Shape 2"/>
          <p:cNvSpPr/>
          <p:nvPr/>
        </p:nvSpPr>
        <p:spPr>
          <a:xfrm>
            <a:off x="0" y="0"/>
            <a:ext cx="9144000" cy="731520"/>
          </a:xfrm>
          <a:prstGeom prst="rect">
            <a:avLst/>
          </a:prstGeom>
          <a:solidFill>
            <a:srgbClr val="010131"/>
          </a:solidFill>
          <a:ln w="12700">
            <a:solidFill>
              <a:srgbClr val="010131"/>
            </a:solidFill>
            <a:prstDash val="solid"/>
          </a:ln>
        </p:spPr>
      </p:sp>
      <p:sp>
        <p:nvSpPr>
          <p:cNvPr id="5" name="Text 3"/>
          <p:cNvSpPr/>
          <p:nvPr/>
        </p:nvSpPr>
        <p:spPr>
          <a:xfrm>
            <a:off x="320040" y="73152"/>
            <a:ext cx="4572000" cy="256032"/>
          </a:xfrm>
          <a:prstGeom prst="rect">
            <a:avLst/>
          </a:prstGeom>
          <a:noFill/>
          <a:ln/>
        </p:spPr>
        <p:txBody>
          <a:bodyPr wrap="square" rtlCol="0" anchor="ctr"/>
          <a:lstStyle/>
          <a:p>
            <a:pPr indent="0" marL="0">
              <a:buNone/>
            </a:pPr>
            <a:r>
              <a:rPr lang="en-US" sz="850" spc="300" kern="0" dirty="0">
                <a:solidFill>
                  <a:srgbClr val="5391D5"/>
                </a:solidFill>
                <a:latin typeface="Open Sans" pitchFamily="34" charset="0"/>
                <a:ea typeface="Open Sans" pitchFamily="34" charset="-122"/>
                <a:cs typeface="Open Sans" pitchFamily="34" charset="-120"/>
              </a:rPr>
              <a:t>[ Best practice ]</a:t>
            </a:r>
            <a:endParaRPr lang="en-US" sz="850" dirty="0"/>
          </a:p>
        </p:txBody>
      </p:sp>
      <p:sp>
        <p:nvSpPr>
          <p:cNvPr id="6" name="Text 4"/>
          <p:cNvSpPr/>
          <p:nvPr/>
        </p:nvSpPr>
        <p:spPr>
          <a:xfrm>
            <a:off x="320040" y="292608"/>
            <a:ext cx="8595360" cy="384048"/>
          </a:xfrm>
          <a:prstGeom prst="rect">
            <a:avLst/>
          </a:prstGeom>
          <a:noFill/>
          <a:ln/>
        </p:spPr>
        <p:txBody>
          <a:bodyPr wrap="square"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Tips for a useful 360</a:t>
            </a:r>
            <a:endParaRPr lang="en-US" sz="1800" dirty="0"/>
          </a:p>
        </p:txBody>
      </p:sp>
      <p:sp>
        <p:nvSpPr>
          <p:cNvPr id="7" name="Shape 5"/>
          <p:cNvSpPr/>
          <p:nvPr/>
        </p:nvSpPr>
        <p:spPr>
          <a:xfrm>
            <a:off x="320040" y="896112"/>
            <a:ext cx="4114800" cy="1207008"/>
          </a:xfrm>
          <a:prstGeom prst="roundRect">
            <a:avLst>
              <a:gd name="adj" fmla="val 7576"/>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320040" y="896112"/>
            <a:ext cx="4114800" cy="64008"/>
          </a:xfrm>
          <a:prstGeom prst="rect">
            <a:avLst/>
          </a:prstGeom>
          <a:solidFill>
            <a:srgbClr val="5391D5"/>
          </a:solidFill>
          <a:ln w="12700">
            <a:solidFill>
              <a:srgbClr val="5391D5"/>
            </a:solidFill>
            <a:prstDash val="solid"/>
          </a:ln>
        </p:spPr>
      </p:sp>
      <p:sp>
        <p:nvSpPr>
          <p:cNvPr id="9" name="Shape 7"/>
          <p:cNvSpPr/>
          <p:nvPr/>
        </p:nvSpPr>
        <p:spPr>
          <a:xfrm>
            <a:off x="484632" y="1097280"/>
            <a:ext cx="384048" cy="384048"/>
          </a:xfrm>
          <a:prstGeom prst="ellipse">
            <a:avLst/>
          </a:prstGeom>
          <a:solidFill>
            <a:srgbClr val="5391D5"/>
          </a:solidFill>
          <a:ln w="12700">
            <a:solidFill>
              <a:srgbClr val="5391D5"/>
            </a:solidFill>
            <a:prstDash val="solid"/>
          </a:ln>
        </p:spPr>
      </p:sp>
      <p:sp>
        <p:nvSpPr>
          <p:cNvPr id="10" name="Text 8"/>
          <p:cNvSpPr/>
          <p:nvPr/>
        </p:nvSpPr>
        <p:spPr>
          <a:xfrm>
            <a:off x="484632" y="1097280"/>
            <a:ext cx="384048" cy="38404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CO</a:t>
            </a:r>
            <a:endParaRPr lang="en-US" sz="1200" dirty="0"/>
          </a:p>
        </p:txBody>
      </p:sp>
      <p:sp>
        <p:nvSpPr>
          <p:cNvPr id="11" name="Text 9"/>
          <p:cNvSpPr/>
          <p:nvPr/>
        </p:nvSpPr>
        <p:spPr>
          <a:xfrm>
            <a:off x="978408" y="1097280"/>
            <a:ext cx="3291840" cy="38404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Use their words</a:t>
            </a:r>
            <a:endParaRPr lang="en-US" sz="1300" dirty="0"/>
          </a:p>
        </p:txBody>
      </p:sp>
      <p:sp>
        <p:nvSpPr>
          <p:cNvPr id="12" name="Text 10"/>
          <p:cNvSpPr/>
          <p:nvPr/>
        </p:nvSpPr>
        <p:spPr>
          <a:xfrm>
            <a:off x="502920" y="1554480"/>
            <a:ext cx="3749040" cy="457200"/>
          </a:xfrm>
          <a:prstGeom prst="rect">
            <a:avLst/>
          </a:prstGeom>
          <a:noFill/>
          <a:ln/>
        </p:spPr>
        <p:txBody>
          <a:bodyPr wrap="square" rtlCol="0" anchor="ctr"/>
          <a:lstStyle/>
          <a:p>
            <a:pPr indent="0" marL="0">
              <a:buNone/>
            </a:pPr>
            <a:r>
              <a:rPr lang="en-US" sz="1050" dirty="0">
                <a:solidFill>
                  <a:srgbClr val="A8C4E5"/>
                </a:solidFill>
                <a:latin typeface="Open Sans" pitchFamily="34" charset="0"/>
                <a:ea typeface="Open Sans" pitchFamily="34" charset="-122"/>
                <a:cs typeface="Open Sans" pitchFamily="34" charset="-120"/>
              </a:rPr>
              <a:t>Frameworks land best in the client's language.</a:t>
            </a:r>
            <a:endParaRPr lang="en-US" sz="1050" dirty="0"/>
          </a:p>
        </p:txBody>
      </p:sp>
      <p:sp>
        <p:nvSpPr>
          <p:cNvPr id="13" name="Shape 11"/>
          <p:cNvSpPr/>
          <p:nvPr/>
        </p:nvSpPr>
        <p:spPr>
          <a:xfrm>
            <a:off x="4636008" y="896112"/>
            <a:ext cx="4114800" cy="1207008"/>
          </a:xfrm>
          <a:prstGeom prst="roundRect">
            <a:avLst>
              <a:gd name="adj" fmla="val 7576"/>
            </a:avLst>
          </a:prstGeom>
          <a:solidFill>
            <a:srgbClr val="1A3A6B"/>
          </a:solidFill>
          <a:ln w="12700">
            <a:solidFill>
              <a:srgbClr val="1A3A6B"/>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4636008" y="896112"/>
            <a:ext cx="4114800" cy="64008"/>
          </a:xfrm>
          <a:prstGeom prst="rect">
            <a:avLst/>
          </a:prstGeom>
          <a:solidFill>
            <a:srgbClr val="5391D5"/>
          </a:solidFill>
          <a:ln w="12700">
            <a:solidFill>
              <a:srgbClr val="5391D5"/>
            </a:solidFill>
            <a:prstDash val="solid"/>
          </a:ln>
        </p:spPr>
      </p:sp>
      <p:sp>
        <p:nvSpPr>
          <p:cNvPr id="15" name="Shape 13"/>
          <p:cNvSpPr/>
          <p:nvPr/>
        </p:nvSpPr>
        <p:spPr>
          <a:xfrm>
            <a:off x="4800600" y="1097280"/>
            <a:ext cx="384048" cy="384048"/>
          </a:xfrm>
          <a:prstGeom prst="ellipse">
            <a:avLst/>
          </a:prstGeom>
          <a:solidFill>
            <a:srgbClr val="5391D5"/>
          </a:solidFill>
          <a:ln w="12700">
            <a:solidFill>
              <a:srgbClr val="5391D5"/>
            </a:solidFill>
            <a:prstDash val="solid"/>
          </a:ln>
        </p:spPr>
      </p:sp>
      <p:sp>
        <p:nvSpPr>
          <p:cNvPr id="16" name="Text 14"/>
          <p:cNvSpPr/>
          <p:nvPr/>
        </p:nvSpPr>
        <p:spPr>
          <a:xfrm>
            <a:off x="4800600" y="1097280"/>
            <a:ext cx="384048" cy="38404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CO</a:t>
            </a:r>
            <a:endParaRPr lang="en-US" sz="1200" dirty="0"/>
          </a:p>
        </p:txBody>
      </p:sp>
      <p:sp>
        <p:nvSpPr>
          <p:cNvPr id="17" name="Text 15"/>
          <p:cNvSpPr/>
          <p:nvPr/>
        </p:nvSpPr>
        <p:spPr>
          <a:xfrm>
            <a:off x="5294376" y="1097280"/>
            <a:ext cx="3291840" cy="38404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Mind the min-N</a:t>
            </a:r>
            <a:endParaRPr lang="en-US" sz="1300" dirty="0"/>
          </a:p>
        </p:txBody>
      </p:sp>
      <p:sp>
        <p:nvSpPr>
          <p:cNvPr id="18" name="Text 16"/>
          <p:cNvSpPr/>
          <p:nvPr/>
        </p:nvSpPr>
        <p:spPr>
          <a:xfrm>
            <a:off x="4818888" y="1554480"/>
            <a:ext cx="3749040" cy="457200"/>
          </a:xfrm>
          <a:prstGeom prst="rect">
            <a:avLst/>
          </a:prstGeom>
          <a:noFill/>
          <a:ln/>
        </p:spPr>
        <p:txBody>
          <a:bodyPr wrap="square" rtlCol="0" anchor="ctr"/>
          <a:lstStyle/>
          <a:p>
            <a:pPr indent="0" marL="0">
              <a:buNone/>
            </a:pPr>
            <a:r>
              <a:rPr lang="en-US" sz="1050" dirty="0">
                <a:solidFill>
                  <a:srgbClr val="A8C4E5"/>
                </a:solidFill>
                <a:latin typeface="Open Sans" pitchFamily="34" charset="0"/>
                <a:ea typeface="Open Sans" pitchFamily="34" charset="-122"/>
                <a:cs typeface="Open Sans" pitchFamily="34" charset="-120"/>
              </a:rPr>
              <a:t>Invite enough peers to clear anonymity.</a:t>
            </a:r>
            <a:endParaRPr lang="en-US" sz="1050" dirty="0"/>
          </a:p>
        </p:txBody>
      </p:sp>
      <p:sp>
        <p:nvSpPr>
          <p:cNvPr id="19" name="Shape 17"/>
          <p:cNvSpPr/>
          <p:nvPr/>
        </p:nvSpPr>
        <p:spPr>
          <a:xfrm>
            <a:off x="320040" y="2249424"/>
            <a:ext cx="4114800" cy="1207008"/>
          </a:xfrm>
          <a:prstGeom prst="roundRect">
            <a:avLst>
              <a:gd name="adj" fmla="val 7576"/>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20" name="Shape 18"/>
          <p:cNvSpPr/>
          <p:nvPr/>
        </p:nvSpPr>
        <p:spPr>
          <a:xfrm>
            <a:off x="320040" y="2249424"/>
            <a:ext cx="4114800" cy="64008"/>
          </a:xfrm>
          <a:prstGeom prst="rect">
            <a:avLst/>
          </a:prstGeom>
          <a:solidFill>
            <a:srgbClr val="5391D5"/>
          </a:solidFill>
          <a:ln w="12700">
            <a:solidFill>
              <a:srgbClr val="5391D5"/>
            </a:solidFill>
            <a:prstDash val="solid"/>
          </a:ln>
        </p:spPr>
      </p:sp>
      <p:sp>
        <p:nvSpPr>
          <p:cNvPr id="21" name="Shape 19"/>
          <p:cNvSpPr/>
          <p:nvPr/>
        </p:nvSpPr>
        <p:spPr>
          <a:xfrm>
            <a:off x="484632" y="2450592"/>
            <a:ext cx="384048" cy="384048"/>
          </a:xfrm>
          <a:prstGeom prst="ellipse">
            <a:avLst/>
          </a:prstGeom>
          <a:solidFill>
            <a:srgbClr val="5391D5"/>
          </a:solidFill>
          <a:ln w="12700">
            <a:solidFill>
              <a:srgbClr val="5391D5"/>
            </a:solidFill>
            <a:prstDash val="solid"/>
          </a:ln>
        </p:spPr>
      </p:sp>
      <p:sp>
        <p:nvSpPr>
          <p:cNvPr id="22" name="Text 20"/>
          <p:cNvSpPr/>
          <p:nvPr/>
        </p:nvSpPr>
        <p:spPr>
          <a:xfrm>
            <a:off x="484632" y="2450592"/>
            <a:ext cx="384048" cy="38404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CO</a:t>
            </a:r>
            <a:endParaRPr lang="en-US" sz="1200" dirty="0"/>
          </a:p>
        </p:txBody>
      </p:sp>
      <p:sp>
        <p:nvSpPr>
          <p:cNvPr id="23" name="Text 21"/>
          <p:cNvSpPr/>
          <p:nvPr/>
        </p:nvSpPr>
        <p:spPr>
          <a:xfrm>
            <a:off x="978408" y="2450592"/>
            <a:ext cx="3291840" cy="38404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Debrief with care</a:t>
            </a:r>
            <a:endParaRPr lang="en-US" sz="1300" dirty="0"/>
          </a:p>
        </p:txBody>
      </p:sp>
      <p:sp>
        <p:nvSpPr>
          <p:cNvPr id="24" name="Text 22"/>
          <p:cNvSpPr/>
          <p:nvPr/>
        </p:nvSpPr>
        <p:spPr>
          <a:xfrm>
            <a:off x="502920" y="2907792"/>
            <a:ext cx="3749040" cy="457200"/>
          </a:xfrm>
          <a:prstGeom prst="rect">
            <a:avLst/>
          </a:prstGeom>
          <a:noFill/>
          <a:ln/>
        </p:spPr>
        <p:txBody>
          <a:bodyPr wrap="square" rtlCol="0" anchor="ctr"/>
          <a:lstStyle/>
          <a:p>
            <a:pPr indent="0" marL="0">
              <a:buNone/>
            </a:pPr>
            <a:r>
              <a:rPr lang="en-US" sz="1050" dirty="0">
                <a:solidFill>
                  <a:srgbClr val="A8C4E5"/>
                </a:solidFill>
                <a:latin typeface="Open Sans" pitchFamily="34" charset="0"/>
                <a:ea typeface="Open Sans" pitchFamily="34" charset="-122"/>
                <a:cs typeface="Open Sans" pitchFamily="34" charset="-120"/>
              </a:rPr>
              <a:t>Lead with strengths, then development.</a:t>
            </a:r>
            <a:endParaRPr lang="en-US" sz="1050" dirty="0"/>
          </a:p>
        </p:txBody>
      </p:sp>
      <p:sp>
        <p:nvSpPr>
          <p:cNvPr id="25" name="Shape 23"/>
          <p:cNvSpPr/>
          <p:nvPr/>
        </p:nvSpPr>
        <p:spPr>
          <a:xfrm>
            <a:off x="4636008" y="2249424"/>
            <a:ext cx="4114800" cy="1207008"/>
          </a:xfrm>
          <a:prstGeom prst="roundRect">
            <a:avLst>
              <a:gd name="adj" fmla="val 7576"/>
            </a:avLst>
          </a:prstGeom>
          <a:solidFill>
            <a:srgbClr val="1A3A6B"/>
          </a:solidFill>
          <a:ln w="12700">
            <a:solidFill>
              <a:srgbClr val="1A3A6B"/>
            </a:solidFill>
            <a:prstDash val="solid"/>
          </a:ln>
          <a:effectLst>
            <a:outerShdw sx="100000" sy="100000" kx="0" ky="0" algn="bl" rotWithShape="0" blurRad="50800" dist="12700" dir="8100000">
              <a:srgbClr val="000000">
                <a:alpha val="8000"/>
              </a:srgbClr>
            </a:outerShdw>
          </a:effectLst>
        </p:spPr>
      </p:sp>
      <p:sp>
        <p:nvSpPr>
          <p:cNvPr id="26" name="Shape 24"/>
          <p:cNvSpPr/>
          <p:nvPr/>
        </p:nvSpPr>
        <p:spPr>
          <a:xfrm>
            <a:off x="4636008" y="2249424"/>
            <a:ext cx="4114800" cy="64008"/>
          </a:xfrm>
          <a:prstGeom prst="rect">
            <a:avLst/>
          </a:prstGeom>
          <a:solidFill>
            <a:srgbClr val="5391D5"/>
          </a:solidFill>
          <a:ln w="12700">
            <a:solidFill>
              <a:srgbClr val="5391D5"/>
            </a:solidFill>
            <a:prstDash val="solid"/>
          </a:ln>
        </p:spPr>
      </p:sp>
      <p:sp>
        <p:nvSpPr>
          <p:cNvPr id="27" name="Shape 25"/>
          <p:cNvSpPr/>
          <p:nvPr/>
        </p:nvSpPr>
        <p:spPr>
          <a:xfrm>
            <a:off x="4800600" y="2450592"/>
            <a:ext cx="384048" cy="384048"/>
          </a:xfrm>
          <a:prstGeom prst="ellipse">
            <a:avLst/>
          </a:prstGeom>
          <a:solidFill>
            <a:srgbClr val="5391D5"/>
          </a:solidFill>
          <a:ln w="12700">
            <a:solidFill>
              <a:srgbClr val="5391D5"/>
            </a:solidFill>
            <a:prstDash val="solid"/>
          </a:ln>
        </p:spPr>
      </p:sp>
      <p:sp>
        <p:nvSpPr>
          <p:cNvPr id="28" name="Text 26"/>
          <p:cNvSpPr/>
          <p:nvPr/>
        </p:nvSpPr>
        <p:spPr>
          <a:xfrm>
            <a:off x="4800600" y="2450592"/>
            <a:ext cx="384048" cy="38404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RA</a:t>
            </a:r>
            <a:endParaRPr lang="en-US" sz="1200" dirty="0"/>
          </a:p>
        </p:txBody>
      </p:sp>
      <p:sp>
        <p:nvSpPr>
          <p:cNvPr id="29" name="Text 27"/>
          <p:cNvSpPr/>
          <p:nvPr/>
        </p:nvSpPr>
        <p:spPr>
          <a:xfrm>
            <a:off x="5294376" y="2450592"/>
            <a:ext cx="3291840" cy="38404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Rate frequency</a:t>
            </a:r>
            <a:endParaRPr lang="en-US" sz="1300" dirty="0"/>
          </a:p>
        </p:txBody>
      </p:sp>
      <p:sp>
        <p:nvSpPr>
          <p:cNvPr id="30" name="Text 28"/>
          <p:cNvSpPr/>
          <p:nvPr/>
        </p:nvSpPr>
        <p:spPr>
          <a:xfrm>
            <a:off x="4818888" y="2907792"/>
            <a:ext cx="3749040" cy="457200"/>
          </a:xfrm>
          <a:prstGeom prst="rect">
            <a:avLst/>
          </a:prstGeom>
          <a:noFill/>
          <a:ln/>
        </p:spPr>
        <p:txBody>
          <a:bodyPr wrap="square" rtlCol="0" anchor="ctr"/>
          <a:lstStyle/>
          <a:p>
            <a:pPr indent="0" marL="0">
              <a:buNone/>
            </a:pPr>
            <a:r>
              <a:rPr lang="en-US" sz="1050" dirty="0">
                <a:solidFill>
                  <a:srgbClr val="A8C4E5"/>
                </a:solidFill>
                <a:latin typeface="Open Sans" pitchFamily="34" charset="0"/>
                <a:ea typeface="Open Sans" pitchFamily="34" charset="-122"/>
                <a:cs typeface="Open Sans" pitchFamily="34" charset="-120"/>
              </a:rPr>
              <a:t>Score how often — not how much you like it.</a:t>
            </a:r>
            <a:endParaRPr lang="en-US" sz="1050" dirty="0"/>
          </a:p>
        </p:txBody>
      </p:sp>
      <p:sp>
        <p:nvSpPr>
          <p:cNvPr id="31" name="Shape 29"/>
          <p:cNvSpPr/>
          <p:nvPr/>
        </p:nvSpPr>
        <p:spPr>
          <a:xfrm>
            <a:off x="320040" y="3602736"/>
            <a:ext cx="4114800" cy="1207008"/>
          </a:xfrm>
          <a:prstGeom prst="roundRect">
            <a:avLst>
              <a:gd name="adj" fmla="val 7576"/>
            </a:avLst>
          </a:prstGeom>
          <a:solidFill>
            <a:srgbClr val="010131"/>
          </a:solidFill>
          <a:ln w="12700">
            <a:solidFill>
              <a:srgbClr val="010131"/>
            </a:solidFill>
            <a:prstDash val="solid"/>
          </a:ln>
          <a:effectLst>
            <a:outerShdw sx="100000" sy="100000" kx="0" ky="0" algn="bl" rotWithShape="0" blurRad="50800" dist="12700" dir="8100000">
              <a:srgbClr val="000000">
                <a:alpha val="8000"/>
              </a:srgbClr>
            </a:outerShdw>
          </a:effectLst>
        </p:spPr>
      </p:sp>
      <p:sp>
        <p:nvSpPr>
          <p:cNvPr id="32" name="Shape 30"/>
          <p:cNvSpPr/>
          <p:nvPr/>
        </p:nvSpPr>
        <p:spPr>
          <a:xfrm>
            <a:off x="320040" y="3602736"/>
            <a:ext cx="4114800" cy="64008"/>
          </a:xfrm>
          <a:prstGeom prst="rect">
            <a:avLst/>
          </a:prstGeom>
          <a:solidFill>
            <a:srgbClr val="5391D5"/>
          </a:solidFill>
          <a:ln w="12700">
            <a:solidFill>
              <a:srgbClr val="5391D5"/>
            </a:solidFill>
            <a:prstDash val="solid"/>
          </a:ln>
        </p:spPr>
      </p:sp>
      <p:sp>
        <p:nvSpPr>
          <p:cNvPr id="33" name="Shape 31"/>
          <p:cNvSpPr/>
          <p:nvPr/>
        </p:nvSpPr>
        <p:spPr>
          <a:xfrm>
            <a:off x="484632" y="3803904"/>
            <a:ext cx="384048" cy="384048"/>
          </a:xfrm>
          <a:prstGeom prst="ellipse">
            <a:avLst/>
          </a:prstGeom>
          <a:solidFill>
            <a:srgbClr val="5391D5"/>
          </a:solidFill>
          <a:ln w="12700">
            <a:solidFill>
              <a:srgbClr val="5391D5"/>
            </a:solidFill>
            <a:prstDash val="solid"/>
          </a:ln>
        </p:spPr>
      </p:sp>
      <p:sp>
        <p:nvSpPr>
          <p:cNvPr id="34" name="Text 32"/>
          <p:cNvSpPr/>
          <p:nvPr/>
        </p:nvSpPr>
        <p:spPr>
          <a:xfrm>
            <a:off x="484632" y="3803904"/>
            <a:ext cx="384048" cy="38404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RA</a:t>
            </a:r>
            <a:endParaRPr lang="en-US" sz="1200" dirty="0"/>
          </a:p>
        </p:txBody>
      </p:sp>
      <p:sp>
        <p:nvSpPr>
          <p:cNvPr id="35" name="Text 33"/>
          <p:cNvSpPr/>
          <p:nvPr/>
        </p:nvSpPr>
        <p:spPr>
          <a:xfrm>
            <a:off x="978408" y="3803904"/>
            <a:ext cx="3291840" cy="38404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Be specific</a:t>
            </a:r>
            <a:endParaRPr lang="en-US" sz="1300" dirty="0"/>
          </a:p>
        </p:txBody>
      </p:sp>
      <p:sp>
        <p:nvSpPr>
          <p:cNvPr id="36" name="Text 34"/>
          <p:cNvSpPr/>
          <p:nvPr/>
        </p:nvSpPr>
        <p:spPr>
          <a:xfrm>
            <a:off x="502920" y="4261104"/>
            <a:ext cx="3749040" cy="457200"/>
          </a:xfrm>
          <a:prstGeom prst="rect">
            <a:avLst/>
          </a:prstGeom>
          <a:noFill/>
          <a:ln/>
        </p:spPr>
        <p:txBody>
          <a:bodyPr wrap="square" rtlCol="0" anchor="ctr"/>
          <a:lstStyle/>
          <a:p>
            <a:pPr indent="0" marL="0">
              <a:buNone/>
            </a:pPr>
            <a:r>
              <a:rPr lang="en-US" sz="1050" dirty="0">
                <a:solidFill>
                  <a:srgbClr val="A8C4E5"/>
                </a:solidFill>
                <a:latin typeface="Open Sans" pitchFamily="34" charset="0"/>
                <a:ea typeface="Open Sans" pitchFamily="34" charset="-122"/>
                <a:cs typeface="Open Sans" pitchFamily="34" charset="-120"/>
              </a:rPr>
              <a:t>Concrete Start/Stop/Continue notes help most.</a:t>
            </a:r>
            <a:endParaRPr lang="en-US" sz="1050" dirty="0"/>
          </a:p>
        </p:txBody>
      </p:sp>
      <p:sp>
        <p:nvSpPr>
          <p:cNvPr id="37" name="Shape 35"/>
          <p:cNvSpPr/>
          <p:nvPr/>
        </p:nvSpPr>
        <p:spPr>
          <a:xfrm>
            <a:off x="4636008" y="3602736"/>
            <a:ext cx="4114800" cy="1207008"/>
          </a:xfrm>
          <a:prstGeom prst="roundRect">
            <a:avLst>
              <a:gd name="adj" fmla="val 7576"/>
            </a:avLst>
          </a:prstGeom>
          <a:solidFill>
            <a:srgbClr val="1A3A6B"/>
          </a:solidFill>
          <a:ln w="12700">
            <a:solidFill>
              <a:srgbClr val="1A3A6B"/>
            </a:solidFill>
            <a:prstDash val="solid"/>
          </a:ln>
          <a:effectLst>
            <a:outerShdw sx="100000" sy="100000" kx="0" ky="0" algn="bl" rotWithShape="0" blurRad="50800" dist="12700" dir="8100000">
              <a:srgbClr val="000000">
                <a:alpha val="8000"/>
              </a:srgbClr>
            </a:outerShdw>
          </a:effectLst>
        </p:spPr>
      </p:sp>
      <p:sp>
        <p:nvSpPr>
          <p:cNvPr id="38" name="Shape 36"/>
          <p:cNvSpPr/>
          <p:nvPr/>
        </p:nvSpPr>
        <p:spPr>
          <a:xfrm>
            <a:off x="4636008" y="3602736"/>
            <a:ext cx="4114800" cy="64008"/>
          </a:xfrm>
          <a:prstGeom prst="rect">
            <a:avLst/>
          </a:prstGeom>
          <a:solidFill>
            <a:srgbClr val="5391D5"/>
          </a:solidFill>
          <a:ln w="12700">
            <a:solidFill>
              <a:srgbClr val="5391D5"/>
            </a:solidFill>
            <a:prstDash val="solid"/>
          </a:ln>
        </p:spPr>
      </p:sp>
      <p:sp>
        <p:nvSpPr>
          <p:cNvPr id="39" name="Shape 37"/>
          <p:cNvSpPr/>
          <p:nvPr/>
        </p:nvSpPr>
        <p:spPr>
          <a:xfrm>
            <a:off x="4800600" y="3803904"/>
            <a:ext cx="384048" cy="384048"/>
          </a:xfrm>
          <a:prstGeom prst="ellipse">
            <a:avLst/>
          </a:prstGeom>
          <a:solidFill>
            <a:srgbClr val="5391D5"/>
          </a:solidFill>
          <a:ln w="12700">
            <a:solidFill>
              <a:srgbClr val="5391D5"/>
            </a:solidFill>
            <a:prstDash val="solid"/>
          </a:ln>
        </p:spPr>
      </p:sp>
      <p:sp>
        <p:nvSpPr>
          <p:cNvPr id="40" name="Text 38"/>
          <p:cNvSpPr/>
          <p:nvPr/>
        </p:nvSpPr>
        <p:spPr>
          <a:xfrm>
            <a:off x="4800600" y="3803904"/>
            <a:ext cx="384048" cy="384048"/>
          </a:xfrm>
          <a:prstGeom prst="rect">
            <a:avLst/>
          </a:prstGeom>
          <a:noFill/>
          <a:ln/>
        </p:spPr>
        <p:txBody>
          <a:bodyPr wrap="square"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AD</a:t>
            </a:r>
            <a:endParaRPr lang="en-US" sz="1200" dirty="0"/>
          </a:p>
        </p:txBody>
      </p:sp>
      <p:sp>
        <p:nvSpPr>
          <p:cNvPr id="41" name="Text 39"/>
          <p:cNvSpPr/>
          <p:nvPr/>
        </p:nvSpPr>
        <p:spPr>
          <a:xfrm>
            <a:off x="5294376" y="3803904"/>
            <a:ext cx="3291840" cy="384048"/>
          </a:xfrm>
          <a:prstGeom prst="rect">
            <a:avLst/>
          </a:prstGeom>
          <a:noFill/>
          <a:ln/>
        </p:spPr>
        <p:txBody>
          <a:bodyPr wrap="square"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Curate templates</a:t>
            </a:r>
            <a:endParaRPr lang="en-US" sz="1300" dirty="0"/>
          </a:p>
        </p:txBody>
      </p:sp>
      <p:sp>
        <p:nvSpPr>
          <p:cNvPr id="42" name="Text 40"/>
          <p:cNvSpPr/>
          <p:nvPr/>
        </p:nvSpPr>
        <p:spPr>
          <a:xfrm>
            <a:off x="4818888" y="4261104"/>
            <a:ext cx="3749040" cy="457200"/>
          </a:xfrm>
          <a:prstGeom prst="rect">
            <a:avLst/>
          </a:prstGeom>
          <a:noFill/>
          <a:ln/>
        </p:spPr>
        <p:txBody>
          <a:bodyPr wrap="square" rtlCol="0" anchor="ctr"/>
          <a:lstStyle/>
          <a:p>
            <a:pPr indent="0" marL="0">
              <a:buNone/>
            </a:pPr>
            <a:r>
              <a:rPr lang="en-US" sz="1050" dirty="0">
                <a:solidFill>
                  <a:srgbClr val="A8C4E5"/>
                </a:solidFill>
                <a:latin typeface="Open Sans" pitchFamily="34" charset="0"/>
                <a:ea typeface="Open Sans" pitchFamily="34" charset="-122"/>
                <a:cs typeface="Open Sans" pitchFamily="34" charset="-120"/>
              </a:rPr>
              <a:t>Keep the library aligned to the AC names.</a:t>
            </a:r>
            <a:endParaRPr lang="en-US" sz="1050" dirty="0"/>
          </a:p>
        </p:txBody>
      </p:sp>
      <p:sp>
        <p:nvSpPr>
          <p:cNvPr id="43" name="Text 41"/>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64748B"/>
                </a:solidFill>
                <a:latin typeface="Open Sans" pitchFamily="34" charset="0"/>
                <a:ea typeface="Open Sans" pitchFamily="34" charset="-122"/>
                <a:cs typeface="Open Sans" pitchFamily="34" charset="-120"/>
              </a:rPr>
              <a:t>Reflect 360  ·  User Manual</a:t>
            </a:r>
            <a:endParaRPr lang="en-US" sz="800" dirty="0"/>
          </a:p>
        </p:txBody>
      </p:sp>
      <p:sp>
        <p:nvSpPr>
          <p:cNvPr id="44" name="Text 42"/>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64748B"/>
                </a:solidFill>
                <a:latin typeface="Open Sans" pitchFamily="34" charset="0"/>
                <a:ea typeface="Open Sans" pitchFamily="34" charset="-122"/>
                <a:cs typeface="Open Sans"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10131"/>
          </a:solidFill>
          <a:ln w="12700">
            <a:solidFill>
              <a:srgbClr val="010131"/>
            </a:solidFill>
            <a:prstDash val="solid"/>
          </a:ln>
        </p:spPr>
      </p:sp>
      <p:sp>
        <p:nvSpPr>
          <p:cNvPr id="3" name="Shape 1"/>
          <p:cNvSpPr/>
          <p:nvPr/>
        </p:nvSpPr>
        <p:spPr>
          <a:xfrm>
            <a:off x="6766560" y="0"/>
            <a:ext cx="2377440" cy="5143500"/>
          </a:xfrm>
          <a:prstGeom prst="rect">
            <a:avLst/>
          </a:prstGeom>
          <a:solidFill>
            <a:srgbClr val="1A3A6B"/>
          </a:solidFill>
          <a:ln w="12700">
            <a:solidFill>
              <a:srgbClr val="1A3A6B"/>
            </a:solidFill>
            <a:prstDash val="solid"/>
          </a:ln>
        </p:spPr>
      </p:sp>
      <p:sp>
        <p:nvSpPr>
          <p:cNvPr id="4" name="Shape 2"/>
          <p:cNvSpPr/>
          <p:nvPr/>
        </p:nvSpPr>
        <p:spPr>
          <a:xfrm flipH="1">
            <a:off x="6126480" y="0"/>
            <a:ext cx="914400" cy="5143500"/>
          </a:xfrm>
          <a:prstGeom prst="rtTriangle">
            <a:avLst/>
          </a:prstGeom>
          <a:solidFill>
            <a:srgbClr val="5391D5"/>
          </a:solidFill>
          <a:ln w="12700">
            <a:solidFill>
              <a:srgbClr val="5391D5"/>
            </a:solidFill>
            <a:prstDash val="solid"/>
          </a:ln>
        </p:spPr>
      </p:sp>
      <p:sp>
        <p:nvSpPr>
          <p:cNvPr id="5" name="Shape 3"/>
          <p:cNvSpPr/>
          <p:nvPr/>
        </p:nvSpPr>
        <p:spPr>
          <a:xfrm>
            <a:off x="0" y="0"/>
            <a:ext cx="164592" cy="5143500"/>
          </a:xfrm>
          <a:prstGeom prst="rect">
            <a:avLst/>
          </a:prstGeom>
          <a:solidFill>
            <a:srgbClr val="5391D5"/>
          </a:solidFill>
          <a:ln w="12700">
            <a:solidFill>
              <a:srgbClr val="5391D5"/>
            </a:solidFill>
            <a:prstDash val="solid"/>
          </a:ln>
        </p:spPr>
      </p:sp>
      <p:sp>
        <p:nvSpPr>
          <p:cNvPr id="6" name="Text 4"/>
          <p:cNvSpPr/>
          <p:nvPr/>
        </p:nvSpPr>
        <p:spPr>
          <a:xfrm>
            <a:off x="320040" y="457200"/>
            <a:ext cx="4572000" cy="256032"/>
          </a:xfrm>
          <a:prstGeom prst="rect">
            <a:avLst/>
          </a:prstGeom>
          <a:noFill/>
          <a:ln/>
        </p:spPr>
        <p:txBody>
          <a:bodyPr wrap="square" rtlCol="0" anchor="ctr"/>
          <a:lstStyle/>
          <a:p>
            <a:pPr indent="0" marL="0">
              <a:buNone/>
            </a:pPr>
            <a:r>
              <a:rPr lang="en-US" sz="900" spc="300" kern="0" dirty="0">
                <a:solidFill>
                  <a:srgbClr val="5391D5"/>
                </a:solidFill>
                <a:latin typeface="Open Sans" pitchFamily="34" charset="0"/>
                <a:ea typeface="Open Sans" pitchFamily="34" charset="-122"/>
                <a:cs typeface="Open Sans" pitchFamily="34" charset="-120"/>
              </a:rPr>
              <a:t>[ Getting started ]</a:t>
            </a:r>
            <a:endParaRPr lang="en-US" sz="900" dirty="0"/>
          </a:p>
        </p:txBody>
      </p:sp>
      <p:sp>
        <p:nvSpPr>
          <p:cNvPr id="7" name="Text 5"/>
          <p:cNvSpPr/>
          <p:nvPr/>
        </p:nvSpPr>
        <p:spPr>
          <a:xfrm>
            <a:off x="320040" y="914400"/>
            <a:ext cx="5669280" cy="1280160"/>
          </a:xfrm>
          <a:prstGeom prst="rect">
            <a:avLst/>
          </a:prstGeom>
          <a:noFill/>
          <a:ln/>
        </p:spPr>
        <p:txBody>
          <a:bodyPr wrap="square" rtlCol="0" anchor="ctr"/>
          <a:lstStyle/>
          <a:p>
            <a:pPr indent="0" marL="0">
              <a:buNone/>
            </a:pPr>
            <a:r>
              <a:rPr lang="en-US" sz="3200" b="1" dirty="0">
                <a:solidFill>
                  <a:srgbClr val="FFFFFF"/>
                </a:solidFill>
                <a:latin typeface="Open Sans" pitchFamily="34" charset="0"/>
                <a:ea typeface="Open Sans" pitchFamily="34" charset="-122"/>
                <a:cs typeface="Open Sans" pitchFamily="34" charset="-120"/>
              </a:rPr>
              <a:t>Launch your first 360</a:t>
            </a:r>
            <a:endParaRPr lang="en-US" sz="3200" dirty="0"/>
          </a:p>
        </p:txBody>
      </p:sp>
      <p:sp>
        <p:nvSpPr>
          <p:cNvPr id="8" name="Text 6"/>
          <p:cNvSpPr/>
          <p:nvPr/>
        </p:nvSpPr>
        <p:spPr>
          <a:xfrm>
            <a:off x="320040" y="2194560"/>
            <a:ext cx="5486400" cy="731520"/>
          </a:xfrm>
          <a:prstGeom prst="rect">
            <a:avLst/>
          </a:prstGeom>
          <a:noFill/>
          <a:ln/>
        </p:spPr>
        <p:txBody>
          <a:bodyPr wrap="square" rtlCol="0" anchor="ctr"/>
          <a:lstStyle/>
          <a:p>
            <a:pPr indent="0" marL="0">
              <a:buNone/>
            </a:pPr>
            <a:r>
              <a:rPr lang="en-US" sz="1300" i="1" dirty="0">
                <a:solidFill>
                  <a:srgbClr val="A8C4E5"/>
                </a:solidFill>
                <a:latin typeface="Open Sans" pitchFamily="34" charset="0"/>
                <a:ea typeface="Open Sans" pitchFamily="34" charset="-122"/>
                <a:cs typeface="Open Sans" pitchFamily="34" charset="-120"/>
              </a:rPr>
              <a:t>Everything starts from the Consultant workspace.</a:t>
            </a:r>
            <a:endParaRPr lang="en-US" sz="1300" dirty="0"/>
          </a:p>
        </p:txBody>
      </p:sp>
      <p:sp>
        <p:nvSpPr>
          <p:cNvPr id="9" name="Shape 7"/>
          <p:cNvSpPr/>
          <p:nvPr/>
        </p:nvSpPr>
        <p:spPr>
          <a:xfrm>
            <a:off x="320040" y="3063240"/>
            <a:ext cx="5486400" cy="457200"/>
          </a:xfrm>
          <a:prstGeom prst="roundRect">
            <a:avLst>
              <a:gd name="adj" fmla="val 12000"/>
            </a:avLst>
          </a:prstGeom>
          <a:solidFill>
            <a:srgbClr val="1A3A6B"/>
          </a:solidFill>
          <a:ln w="12700">
            <a:solidFill>
              <a:srgbClr val="5391D5"/>
            </a:solidFill>
            <a:prstDash val="solid"/>
          </a:ln>
        </p:spPr>
      </p:sp>
      <p:sp>
        <p:nvSpPr>
          <p:cNvPr id="10" name="Shape 8"/>
          <p:cNvSpPr/>
          <p:nvPr/>
        </p:nvSpPr>
        <p:spPr>
          <a:xfrm>
            <a:off x="320040" y="3063240"/>
            <a:ext cx="64008" cy="457200"/>
          </a:xfrm>
          <a:prstGeom prst="rect">
            <a:avLst/>
          </a:prstGeom>
          <a:solidFill>
            <a:srgbClr val="5391D5"/>
          </a:solidFill>
          <a:ln w="12700">
            <a:solidFill>
              <a:srgbClr val="5391D5"/>
            </a:solidFill>
            <a:prstDash val="solid"/>
          </a:ln>
        </p:spPr>
      </p:sp>
      <p:sp>
        <p:nvSpPr>
          <p:cNvPr id="11" name="Text 9"/>
          <p:cNvSpPr/>
          <p:nvPr/>
        </p:nvSpPr>
        <p:spPr>
          <a:xfrm>
            <a:off x="548640" y="3063240"/>
            <a:ext cx="5120640" cy="457200"/>
          </a:xfrm>
          <a:prstGeom prst="rect">
            <a:avLst/>
          </a:prstGeom>
          <a:noFill/>
          <a:ln/>
        </p:spPr>
        <p:txBody>
          <a:bodyPr wrap="square" rtlCol="0" anchor="ctr"/>
          <a:lstStyle/>
          <a:p>
            <a:pPr indent="0" marL="0">
              <a:buNone/>
            </a:pPr>
            <a:r>
              <a:rPr lang="en-US" sz="1150" dirty="0">
                <a:solidFill>
                  <a:srgbClr val="FFFFFF"/>
                </a:solidFill>
                <a:latin typeface="Open Sans" pitchFamily="34" charset="0"/>
                <a:ea typeface="Open Sans" pitchFamily="34" charset="-122"/>
                <a:cs typeface="Open Sans" pitchFamily="34" charset="-120"/>
              </a:rPr>
              <a:t>Reflect → Consultant → New  —  build an engagement</a:t>
            </a:r>
            <a:endParaRPr lang="en-US" sz="1150" dirty="0"/>
          </a:p>
        </p:txBody>
      </p:sp>
      <p:sp>
        <p:nvSpPr>
          <p:cNvPr id="12" name="Shape 10"/>
          <p:cNvSpPr/>
          <p:nvPr/>
        </p:nvSpPr>
        <p:spPr>
          <a:xfrm>
            <a:off x="320040" y="3630168"/>
            <a:ext cx="5486400" cy="457200"/>
          </a:xfrm>
          <a:prstGeom prst="roundRect">
            <a:avLst>
              <a:gd name="adj" fmla="val 12000"/>
            </a:avLst>
          </a:prstGeom>
          <a:solidFill>
            <a:srgbClr val="1A3A6B"/>
          </a:solidFill>
          <a:ln w="12700">
            <a:solidFill>
              <a:srgbClr val="5391D5"/>
            </a:solidFill>
            <a:prstDash val="solid"/>
          </a:ln>
        </p:spPr>
      </p:sp>
      <p:sp>
        <p:nvSpPr>
          <p:cNvPr id="13" name="Shape 11"/>
          <p:cNvSpPr/>
          <p:nvPr/>
        </p:nvSpPr>
        <p:spPr>
          <a:xfrm>
            <a:off x="320040" y="3630168"/>
            <a:ext cx="64008" cy="457200"/>
          </a:xfrm>
          <a:prstGeom prst="rect">
            <a:avLst/>
          </a:prstGeom>
          <a:solidFill>
            <a:srgbClr val="5391D5"/>
          </a:solidFill>
          <a:ln w="12700">
            <a:solidFill>
              <a:srgbClr val="5391D5"/>
            </a:solidFill>
            <a:prstDash val="solid"/>
          </a:ln>
        </p:spPr>
      </p:sp>
      <p:sp>
        <p:nvSpPr>
          <p:cNvPr id="14" name="Text 12"/>
          <p:cNvSpPr/>
          <p:nvPr/>
        </p:nvSpPr>
        <p:spPr>
          <a:xfrm>
            <a:off x="548640" y="3630168"/>
            <a:ext cx="5120640" cy="457200"/>
          </a:xfrm>
          <a:prstGeom prst="rect">
            <a:avLst/>
          </a:prstGeom>
          <a:noFill/>
          <a:ln/>
        </p:spPr>
        <p:txBody>
          <a:bodyPr wrap="square" rtlCol="0" anchor="ctr"/>
          <a:lstStyle/>
          <a:p>
            <a:pPr indent="0" marL="0">
              <a:buNone/>
            </a:pPr>
            <a:r>
              <a:rPr lang="en-US" sz="1150" dirty="0">
                <a:solidFill>
                  <a:srgbClr val="FFFFFF"/>
                </a:solidFill>
                <a:latin typeface="Open Sans" pitchFamily="34" charset="0"/>
                <a:ea typeface="Open Sans" pitchFamily="34" charset="-122"/>
                <a:cs typeface="Open Sans" pitchFamily="34" charset="-120"/>
              </a:rPr>
              <a:t>Participants → [name] → Report  —  debrief &amp; IDP</a:t>
            </a:r>
            <a:endParaRPr lang="en-US" sz="1150" dirty="0"/>
          </a:p>
        </p:txBody>
      </p:sp>
      <p:sp>
        <p:nvSpPr>
          <p:cNvPr id="15" name="Shape 13"/>
          <p:cNvSpPr/>
          <p:nvPr/>
        </p:nvSpPr>
        <p:spPr>
          <a:xfrm>
            <a:off x="320040" y="4197096"/>
            <a:ext cx="5486400" cy="457200"/>
          </a:xfrm>
          <a:prstGeom prst="roundRect">
            <a:avLst>
              <a:gd name="adj" fmla="val 12000"/>
            </a:avLst>
          </a:prstGeom>
          <a:solidFill>
            <a:srgbClr val="1A3A6B"/>
          </a:solidFill>
          <a:ln w="12700">
            <a:solidFill>
              <a:srgbClr val="5391D5"/>
            </a:solidFill>
            <a:prstDash val="solid"/>
          </a:ln>
        </p:spPr>
      </p:sp>
      <p:sp>
        <p:nvSpPr>
          <p:cNvPr id="16" name="Shape 14"/>
          <p:cNvSpPr/>
          <p:nvPr/>
        </p:nvSpPr>
        <p:spPr>
          <a:xfrm>
            <a:off x="320040" y="4197096"/>
            <a:ext cx="64008" cy="457200"/>
          </a:xfrm>
          <a:prstGeom prst="rect">
            <a:avLst/>
          </a:prstGeom>
          <a:solidFill>
            <a:srgbClr val="5391D5"/>
          </a:solidFill>
          <a:ln w="12700">
            <a:solidFill>
              <a:srgbClr val="5391D5"/>
            </a:solidFill>
            <a:prstDash val="solid"/>
          </a:ln>
        </p:spPr>
      </p:sp>
      <p:sp>
        <p:nvSpPr>
          <p:cNvPr id="17" name="Text 15"/>
          <p:cNvSpPr/>
          <p:nvPr/>
        </p:nvSpPr>
        <p:spPr>
          <a:xfrm>
            <a:off x="548640" y="4197096"/>
            <a:ext cx="5120640" cy="457200"/>
          </a:xfrm>
          <a:prstGeom prst="rect">
            <a:avLst/>
          </a:prstGeom>
          <a:noFill/>
          <a:ln/>
        </p:spPr>
        <p:txBody>
          <a:bodyPr wrap="square" rtlCol="0" anchor="ctr"/>
          <a:lstStyle/>
          <a:p>
            <a:pPr indent="0" marL="0">
              <a:buNone/>
            </a:pPr>
            <a:r>
              <a:rPr lang="en-US" sz="1150" dirty="0">
                <a:solidFill>
                  <a:srgbClr val="FFFFFF"/>
                </a:solidFill>
                <a:latin typeface="Open Sans" pitchFamily="34" charset="0"/>
                <a:ea typeface="Open Sans" pitchFamily="34" charset="-122"/>
                <a:cs typeface="Open Sans" pitchFamily="34" charset="-120"/>
              </a:rPr>
              <a:t>Engagement → Cohort report  —  the organisation view</a:t>
            </a:r>
            <a:endParaRPr lang="en-US" sz="1150" dirty="0"/>
          </a:p>
        </p:txBody>
      </p:sp>
      <p:sp>
        <p:nvSpPr>
          <p:cNvPr id="18" name="Text 16"/>
          <p:cNvSpPr/>
          <p:nvPr/>
        </p:nvSpPr>
        <p:spPr>
          <a:xfrm>
            <a:off x="320040" y="4809744"/>
            <a:ext cx="7315200" cy="228600"/>
          </a:xfrm>
          <a:prstGeom prst="rect">
            <a:avLst/>
          </a:prstGeom>
          <a:noFill/>
          <a:ln/>
        </p:spPr>
        <p:txBody>
          <a:bodyPr wrap="square" rtlCol="0" anchor="ctr"/>
          <a:lstStyle/>
          <a:p>
            <a:pPr indent="0" marL="0">
              <a:buNone/>
            </a:pPr>
            <a:r>
              <a:rPr lang="en-US" sz="800" dirty="0">
                <a:solidFill>
                  <a:srgbClr val="A8C4E5"/>
                </a:solidFill>
                <a:latin typeface="Open Sans" pitchFamily="34" charset="0"/>
                <a:ea typeface="Open Sans" pitchFamily="34" charset="-122"/>
                <a:cs typeface="Open Sans" pitchFamily="34" charset="-120"/>
              </a:rPr>
              <a:t>Reflect 360  ·  User Manual</a:t>
            </a:r>
            <a:endParaRPr lang="en-US" sz="800" dirty="0"/>
          </a:p>
        </p:txBody>
      </p:sp>
      <p:sp>
        <p:nvSpPr>
          <p:cNvPr id="19" name="Text 17"/>
          <p:cNvSpPr/>
          <p:nvPr/>
        </p:nvSpPr>
        <p:spPr>
          <a:xfrm>
            <a:off x="8229600" y="4809744"/>
            <a:ext cx="594360" cy="228600"/>
          </a:xfrm>
          <a:prstGeom prst="rect">
            <a:avLst/>
          </a:prstGeom>
          <a:noFill/>
          <a:ln/>
        </p:spPr>
        <p:txBody>
          <a:bodyPr wrap="square" rtlCol="0" anchor="ctr"/>
          <a:lstStyle/>
          <a:p>
            <a:pPr algn="r" indent="0" marL="0">
              <a:buNone/>
            </a:pPr>
            <a:r>
              <a:rPr lang="en-US" sz="900" dirty="0">
                <a:solidFill>
                  <a:srgbClr val="A8C4E5"/>
                </a:solidFill>
                <a:latin typeface="Open Sans" pitchFamily="34" charset="0"/>
                <a:ea typeface="Open Sans" pitchFamily="34" charset="-122"/>
                <a:cs typeface="Open Sans"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VIFM Reflect 360 — User Manual</dc:title>
  <dc:subject>PptxGenJS Presentation</dc:subject>
  <dc:creator>Virginia Institute of Finance and Management</dc:creator>
  <cp:lastModifiedBy>Virginia Institute of Finance and Management</cp:lastModifiedBy>
  <cp:revision>1</cp:revision>
  <dcterms:created xsi:type="dcterms:W3CDTF">2026-05-30T19:14:02Z</dcterms:created>
  <dcterms:modified xsi:type="dcterms:W3CDTF">2026-05-30T19:14:02Z</dcterms:modified>
</cp:coreProperties>
</file>