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0"/>
            <a:ext cx="2103120" cy="1828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320040"/>
            <a:ext cx="502920" cy="502920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83880" y="731520"/>
            <a:ext cx="292608" cy="292608"/>
          </a:xfrm>
          <a:prstGeom prst="ellipse">
            <a:avLst/>
          </a:prstGeom>
          <a:solidFill>
            <a:srgbClr val="A8C4E5"/>
          </a:solidFill>
          <a:ln w="12700">
            <a:solidFill>
              <a:srgbClr val="A8C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208" y="868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Talent Intelligence Platform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MANUAL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DFF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Screen and shortlist applicants before you hire — fairly and defensibly.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320040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Virginia Institute of Finance and Management  ·  Talent Intelligence Platform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IT 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commercial pre-employment screening service. It orchestrates the platform's existing instruments — a competency quiz, the Fluent English placement and an AI behavioural interview — into one configurable funnel that ranks applicants for a role. It produces a weighted screening signal with adverse-impact monitoring and a full audit trail. Crucially, it is a signal to inform a shortlist — never an automatic reject.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screening signal  ·  a human always makes the hiring decision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Who uses it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roles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VIFM staff. Create requisitions, invite applicants, record the human decision, export to the ATS.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hiring organisation. Read-only view of their own requisitions and shortlist.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697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Applicant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82549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69748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account. Completes the screening stages through a private invitation link.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The screening funnel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requisition to shortlist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90600" y="2075688"/>
            <a:ext cx="7162800" cy="5486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970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285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70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Requisition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the role &amp; stage plan.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1226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8541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7088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7088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applicants a private link.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4482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797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482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0344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344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Quiz, Fluent &amp; interview.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7738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5053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7738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63600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Composite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3600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Weighted 0–100 score.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994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8309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6856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6856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recruiter decides.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842504" y="1792224"/>
            <a:ext cx="621792" cy="621792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15656" y="1865376"/>
            <a:ext cx="475488" cy="475488"/>
          </a:xfrm>
          <a:prstGeom prst="ellips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42504" y="1792224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501128" y="2560320"/>
            <a:ext cx="13045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01128" y="2926080"/>
            <a:ext cx="13045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 off to the ATS.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Key concepts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vocabulary you will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995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95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Requisition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role being screened, with its ordered stage plan and weights.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5697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5697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6047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6047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5697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Stage plan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6977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5697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instruments in this funnel, each with a weight, cut-score and required flag.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1793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793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2143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2143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1793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Composite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3073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1793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weighted 0–100 score across all completed stages.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6032" y="27889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27889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28239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8239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87552" y="27889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Cut-score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03320" y="29169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27889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pass mark per stage; a failed required stage caps the advisory band.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56032" y="33985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FFFFFF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3985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34335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4335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87552" y="33985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703320" y="35265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58768" y="33985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advisory band — advance / review / hold — never 'reject'.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56032" y="4008120"/>
            <a:ext cx="8595360" cy="490728"/>
          </a:xfrm>
          <a:prstGeom prst="roundRect">
            <a:avLst>
              <a:gd name="adj" fmla="val 14907"/>
            </a:avLst>
          </a:prstGeom>
          <a:solidFill>
            <a:srgbClr val="D0DFF4"/>
          </a:solidFill>
          <a:ln w="12700">
            <a:solidFill>
              <a:srgbClr val="EDF1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56032" y="4008120"/>
            <a:ext cx="73152" cy="49072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8912" y="40431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" y="40431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87552" y="4008120"/>
            <a:ext cx="265176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Adverse impact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703320" y="4136136"/>
            <a:ext cx="36576" cy="23469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58768" y="4008120"/>
            <a:ext cx="4892040" cy="490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four-fifths-rule check that flags selection-rate disparities for review.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1 ]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requisitions and work the shortlist.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Recruiter · create a requisition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a screening funnel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080135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80135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987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· Client &amp; role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Pre-Hire → New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1280160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the hiring organisation and the job title being screened.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744218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849374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849374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33397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3339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1940814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· Role profile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940814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Optional but recommended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2233422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Bind a role profile so the quiz targets the right competencies.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697480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802636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802636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86659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986659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89407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· Stage plan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894076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Default: quiz · Fluent · interview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3186684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the instruments and set each weight, cut-score and required flag.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63040" y="3650742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755898"/>
            <a:ext cx="8595360" cy="843534"/>
          </a:xfrm>
          <a:prstGeom prst="roundRect">
            <a:avLst>
              <a:gd name="adj" fmla="val 8672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755898"/>
            <a:ext cx="73152" cy="84353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939921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39921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384733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· Add &amp; invite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847338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Resend a link any time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7280" y="4139946"/>
            <a:ext cx="7589520" cy="3863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applicants; each is auto-emailed a private invitation link.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D0DFF4"/>
          </a:solidFill>
          <a:ln w="12700">
            <a:solidFill>
              <a:srgbClr val="D0DF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20116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Recruiter · the shortlist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Rank &amp; decide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320040" y="2514600"/>
            <a:ext cx="2011680" cy="365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651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Pre-Hire → [requisition]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539496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13632" y="502920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Ranked shortlist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per-stage scores + the weighted composite + the AI signal.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1399032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13632" y="1362456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Human decision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 / reject / hold / withdraw, with a job-related reason.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2258568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221992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ATS export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self-describing JSON or Excel-ready CSV — no demographics.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49040" y="3118104"/>
            <a:ext cx="54864" cy="694944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3081528"/>
            <a:ext cx="4937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013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Fairness hub  </a:t>
            </a:r>
            <a:pPr indent="0" marL="0">
              <a:buNone/>
            </a:pPr>
            <a:r>
              <a:rPr lang="en-US" sz="1200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adverse-impact tables and the immutable audit trail.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914400"/>
            <a:ext cx="128016" cy="30175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914400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3803904"/>
            <a:ext cx="731520" cy="12801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CORE GUARDRAIL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" y="640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signal, never an auto-reject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1143000" y="1554480"/>
            <a:ext cx="7498080" cy="4572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173736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composite score informs a shortlist; it does not decide. The scoring code has no 'reject' path — a failed required stage only caps the advisory band at 'review' or 'hold'. A recruiter always records the real decision, with a job-related reason, separately from the AI signal. This human-in-the-loop design is the linchpin of the module's defensibility.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43000" y="3703320"/>
            <a:ext cx="7498080" cy="5029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67328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automatic rejection  ·  a person always decides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2 ]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Applicant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a candidate experiences — no account needed.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Applicant · the flow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Completing the screening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896112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984809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84809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9875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 · Consent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Private link — no account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97280" y="1280160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and give consent before any data is collected.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463040" y="1553566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1658722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1658722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74741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74741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175016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· Competency quiz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1750162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 key stays server-side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7280" y="2042770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short, role-targeted multiple-choice quiz.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63040" y="2316175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2421331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6032" y="2421331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51002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100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2512771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· Fluent placement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2512771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Reading · Listening · Writing · Speaking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97280" y="2805379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full four-skill English placement (if in the plan).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463040" y="3078785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3183941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56032" y="3183941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3272638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27263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3275381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 · AI interview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15000" y="3275381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STAR-style, one question at a time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7280" y="3567989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short behavioural interview scored against a competency.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463040" y="3841394"/>
            <a:ext cx="365760" cy="100584"/>
          </a:xfrm>
          <a:prstGeom prst="downArrow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56032" y="3946550"/>
            <a:ext cx="8595360" cy="652882"/>
          </a:xfrm>
          <a:prstGeom prst="roundRect">
            <a:avLst>
              <a:gd name="adj" fmla="val 11204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3946550"/>
            <a:ext cx="73152" cy="652882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4035247"/>
            <a:ext cx="475488" cy="47548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035247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" y="403799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· Optional self-ID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15000" y="403799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‘Prefer not to say’ is first-class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4330598"/>
            <a:ext cx="7589520" cy="1956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Voluntary diversity questions — shown after scoring, fully decoupled.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3200400" y="0"/>
            <a:ext cx="612648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3383280" y="0"/>
            <a:ext cx="5943600" cy="5143500"/>
          </a:xfrm>
          <a:prstGeom prst="rtTriangle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Part 3 ]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4630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Fairness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Defensibility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0040" y="32004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to be auditable and fair.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66560" y="246888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1A3A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Defensibility ]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38404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safeguards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6012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12471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1247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96012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Adverse impact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03320" y="108813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96012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Four-fifths-rule selection rates per dimension; flags a group below 0.8× the reference for review.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6032" y="182880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182880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8912" y="199339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19933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82880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Immutable audit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195681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8768" y="182880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append-only log of every event — created, invited, completed, decided, exported.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2697480"/>
            <a:ext cx="8595360" cy="749808"/>
          </a:xfrm>
          <a:prstGeom prst="roundRect">
            <a:avLst>
              <a:gd name="adj" fmla="val 975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697480"/>
            <a:ext cx="73152" cy="7498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2862072"/>
            <a:ext cx="420624" cy="420624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8620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87552" y="2697480"/>
            <a:ext cx="26517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Voluntary self-ID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03320" y="2825496"/>
            <a:ext cx="36576" cy="493776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697480"/>
            <a:ext cx="4892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Demographics are optional, decoupled from scoring, and never appear in exports or client views.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31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Best practice ]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292608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Tips for a defensible screen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 with intent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weights that reflect the role.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36008" y="896112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36008" y="896112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97280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4376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Mark required wisely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18888" y="1554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gate on truly essential stages.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8408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 the why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 log a job-related reason.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36008" y="2249424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2249424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450592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94376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Watch the 4/5ths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18888" y="29077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flags — they are a signal, not a verdict.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20040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8408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Keep demographics aside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never touch scoring or exports.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36008" y="3602736"/>
            <a:ext cx="4114800" cy="1207008"/>
          </a:xfrm>
          <a:prstGeom prst="roundRect">
            <a:avLst>
              <a:gd name="adj" fmla="val 7576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36008" y="3602736"/>
            <a:ext cx="4114800" cy="64008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803904"/>
            <a:ext cx="384048" cy="384048"/>
          </a:xfrm>
          <a:prstGeom prst="ellips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803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94376" y="380390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the composite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18888" y="42611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ranks; your team decides.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131"/>
          </a:solidFill>
          <a:ln w="12700">
            <a:solidFill>
              <a:srgbClr val="0101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6126480" y="0"/>
            <a:ext cx="914400" cy="5143500"/>
          </a:xfrm>
          <a:prstGeom prst="rtTriangle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45720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391D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 Getting started ]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5669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a requisition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21945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 starts from the Pre-Hire workspace.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3063240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3063240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Admin → Pre-Hire → New  —  create a requisition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3630168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630168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63016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[requisition] → Add candidate  —  invite applicants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4197096"/>
            <a:ext cx="5486400" cy="457200"/>
          </a:xfrm>
          <a:prstGeom prst="roundRect">
            <a:avLst>
              <a:gd name="adj" fmla="val 12000"/>
            </a:avLst>
          </a:prstGeom>
          <a:solidFill>
            <a:srgbClr val="1A3A6B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4197096"/>
            <a:ext cx="64008" cy="457200"/>
          </a:xfrm>
          <a:prstGeom prst="rect">
            <a:avLst/>
          </a:prstGeom>
          <a:solidFill>
            <a:srgbClr val="5391D5"/>
          </a:solidFill>
          <a:ln w="12700">
            <a:solidFill>
              <a:srgbClr val="5391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9709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[requisition] → Fairness  —  adverse-impact &amp; audit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480974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Pre-Hire  ·  User Manual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4809744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C4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VIFM Pre-Hire — User Manual</dc:title>
  <dc:subject>PptxGenJS Presentation</dc:subject>
  <dc:creator>Virginia Institute of Finance and Management</dc:creator>
  <cp:lastModifiedBy>Virginia Institute of Finance and Management</cp:lastModifiedBy>
  <cp:revision>1</cp:revision>
  <dcterms:created xsi:type="dcterms:W3CDTF">2026-05-30T19:14:02Z</dcterms:created>
  <dcterms:modified xsi:type="dcterms:W3CDTF">2026-05-30T19:14:02Z</dcterms:modified>
</cp:coreProperties>
</file>