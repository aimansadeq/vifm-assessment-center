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image" Target="../media/image-18-6.png"/><Relationship Id="rId7" Type="http://schemas.openxmlformats.org/officeDocument/2006/relationships/image" Target="../media/image-18-7.svg"/><Relationship Id="rId8" Type="http://schemas.openxmlformats.org/officeDocument/2006/relationships/image" Target="../media/image-18-8.png"/><Relationship Id="rId9" Type="http://schemas.openxmlformats.org/officeDocument/2006/relationships/image" Target="../media/image-18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vif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173736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ASSESSMENT SERVICES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7373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Competency-Based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(CBI)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11480" y="3337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structured, two-hour behavioural interview built on the VIFM Competency Framework, with an interview guide and a report for every candidate.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4160520"/>
            <a:ext cx="2926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approach, the interview guide, and a sample report  |  October 2026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D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CBI 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 behaviour,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asked the same way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every candidate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series of questions that asks the candidate for specific examples of what they actually did, probed systematically and rated against defined behavioural indicators.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320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structure matters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822960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932688"/>
            <a:ext cx="54864" cy="5852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896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job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1521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interviews predict performance roughly twice as well as unstructured ones (operational validity about .51 against .38, Schmidt and Hunter, 1998).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1755648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865376"/>
            <a:ext cx="54864" cy="5852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828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 by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candidate for the role is asked the same questions. Only the probes vary with the answers.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2688336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2798064"/>
            <a:ext cx="54864" cy="5852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7614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Evidence, not impressions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interviewer records what the candidate did, then classifies the evidence against positive and negative indicators.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621024"/>
            <a:ext cx="50292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3730752"/>
            <a:ext cx="54864" cy="5852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defined 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950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competency is rated 1 to 5 against anchors written for that competency, with a 'no evidence' option so a thin answer is never a 1.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4904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on the VIFM Competency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43000"/>
            <a:ext cx="181965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141732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8" name="Image 0" descr="/tmp/claude-0/-home-user-vifm-assessment-center/c4f4371d-5898-5324-99e7-d8f1e036524b/scratchpad/cbi/assets/icons/layers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5121" y="15380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057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 · Results · People · Self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87168" y="11430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010131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143000"/>
            <a:ext cx="181965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95828" y="141732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5" name="Image 1" descr="/tmp/claude-0/-home-user-vifm-assessment-center/c4f4371d-5898-5324-99e7-d8f1e036524b/scratchpad/cbi/assets/icons/grid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6529" y="153802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87168" y="2057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2487168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24328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related competencies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08576" y="11430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81728" y="1143000"/>
            <a:ext cx="181965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17236" y="141732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2" name="Image 2" descr="/tmp/claude-0/-home-user-vifm-assessment-center/c4f4371d-5898-5324-99e7-d8f1e036524b/scratchpad/cbi/assets/icons/target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7937" y="153802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08576" y="2057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4608576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Competencies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45736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with a definition and positive and negative indicators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29984" y="114300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010131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03136" y="1143000"/>
            <a:ext cx="181965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38644" y="1417320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9" name="Image 3" descr="/tmp/claude-0/-home-user-vifm-assessment-center/c4f4371d-5898-5324-99e7-d8f1e036524b/scratchpad/cbi/assets/icons/scale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9345" y="1538021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9984" y="2057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to 5</a:t>
            </a:r>
            <a:endParaRPr lang="en-US" sz="4000" dirty="0"/>
          </a:p>
        </p:txBody>
      </p:sp>
      <p:sp>
        <p:nvSpPr>
          <p:cNvPr id="31" name="Text 25"/>
          <p:cNvSpPr/>
          <p:nvPr/>
        </p:nvSpPr>
        <p:spPr>
          <a:xfrm>
            <a:off x="6729984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Anchored scale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867144" y="3154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Behaviourally anchored ratings for every competency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same framework drives Persona (self-report), Reflect 360, Pre-Hire and the VIFM Assessment Centre, so interview ratings can be read next to every other VIFM signal.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65760" y="4919472"/>
            <a:ext cx="1179576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5" name="Text 29"/>
          <p:cNvSpPr/>
          <p:nvPr/>
        </p:nvSpPr>
        <p:spPr>
          <a:xfrm>
            <a:off x="365760" y="491947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1682496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21 COMPETENCIES  |  1 OF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 domain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83880" y="384048"/>
            <a:ext cx="502920" cy="50292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icons/brain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4522" y="4946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person analyses, decides and sets direction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71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&amp; COMMERCIAL REASONING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Analysis &amp; Judgement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3840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Breaks ambiguous, data-heavy problems into their parts, tests assumptions, and turns the reasoning into timely, balanced decisions.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371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&amp; COMMERCIAL REASONING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&amp; Commercial Insight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46320" y="1847088"/>
            <a:ext cx="3840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the competitive, economic and regulatory landscape and converts that insight into a clear, prioritised direction framed around long-term value.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01752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 &amp; COMPLEXITY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4864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Creative Problem-Solving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3584448"/>
            <a:ext cx="3840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and tests original approaches that improve products, processes or outcomes instead of defaulting to precedent.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301752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INNOVATION &amp; COMPLEXITY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4632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Navigating Complexity &amp; Ambiguity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846320" y="3584448"/>
            <a:ext cx="3840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sense of high-volume, interdependent and conflicting information, and stays decisive when direction, data or conditions are unclear.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21 COMPETENCIES  |  2 OF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domain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83880" y="384048"/>
            <a:ext cx="502920" cy="50292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icons/flag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4522" y="4946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person gets things done and serves those who depend on the work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EXECUTION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Initiative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Moves on opportunities and tough challenges early and with energy, rather than waiting to be directed.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3088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088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376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EXECUTION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41376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Accountability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376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Takes personal responsibility for measurable results and follows through from commitment to completion, owning mistakes openly.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9600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9600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888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EXECUTION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7888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Planning &amp; Resourcing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7888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Sequences work so the most important commitments are met, and secures and deploys the people, budget and tools the work needs.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EXECUTION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64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Optimisation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Designs and improves workflows for efficiency and control, removing waste without sacrificing compliance or quality.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3088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3088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376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&amp; STAKEHOLDER FOCUS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41376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&amp; Stakeholder Focus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1376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Understands and anticipates the needs of customers and stakeholders, internal and external, and delivers reliably against them.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4" name="Text 31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21 COMPETENCIES  |  3 OF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domain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83880" y="384048"/>
            <a:ext cx="502920" cy="50292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icons/users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4522" y="4946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person communicates, influences and grows others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INFLUENCE &amp; COMMUNICATION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&amp; Adaptive Communication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Conveys complex content clearly, tailoring message, tone and medium to the audience, and listens to check understanding.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3088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088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376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INFLUENCE &amp; COMMUNICATION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41376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Influence &amp; Agreement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376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well-reasoned, audience-aware cases that win genuine commitment, and resolves disagreement directly and calmly.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9600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9600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888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INFLUENCE &amp; COMMUNICATION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7888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Networks &amp; Collaboration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7888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and sustains useful relationships inside and outside the organisation, investing in them before they are needed.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 &amp; DEVELOPING OTHERS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64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Coaching &amp; Talent Growth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Actively develops others toward both their own potential and the organisation's future needs.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3088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3088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376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 &amp; DEVELOPING OTHERS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41376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Cohesive Teams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1376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Forms teams with a shared identity and purpose that combine diverse strengths to deliver together.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09600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09600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888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 &amp; DEVELOPING OTHERS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27888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Mobilising Around Purpose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7888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Articulates a compelling sense of direction that connects people's work to a larger goal and motivates action.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21 COMPETENCIES  |  4 OF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 domain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83880" y="384048"/>
            <a:ext cx="502920" cy="50292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icons/heart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4522" y="4946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person manages themselves, their standards and their growth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&amp; PERSONAL EFFECTIVENESS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Resilience &amp; Composure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Stays calm, clear and constructive under pressure, scrutiny and setbacks, and recovers quickly from disappointment.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3088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088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376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&amp; PERSONAL EFFECTIVENESS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41376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Agility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1376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Learns rapidly from new and first-time situations and applies the lessons in unfamiliar conditions.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96000" y="128016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96000" y="141732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8880" y="137160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&amp; CHARACTER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78880" y="155448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&amp; Principled Courage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78880" y="184708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Acts honestly and fairly, within the spirit as well as the letter of professional standards, and challenges poor decisions.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&amp; CHARACTER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64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Self-Insight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feedback and honest reflection to understand own strengths, limits, and impact on others.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3088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3088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376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&amp; CHARACTER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41376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Emotional Regulation &amp; Empathy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1376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Recognises and manages own emotions and reads others' accurately, responding in ways that fit the situation.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096000" y="3017520"/>
            <a:ext cx="2682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096000" y="3154680"/>
            <a:ext cx="54864" cy="132588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8880" y="3108960"/>
            <a:ext cx="240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INTEGRITY &amp; CHARACTER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278880" y="3291840"/>
            <a:ext cx="240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Cultural &amp; Inclusive Sensitivity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278880" y="3584448"/>
            <a:ext cx="2407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Understands and respects diverse norms and perspectives, and works inclusively across them.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0D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017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role to interview guide in four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16152" y="1892808"/>
            <a:ext cx="630936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572768"/>
            <a:ext cx="694944" cy="69494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459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72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560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2" name="Image 0" descr="/tmp/claude-0/-home-user-vifm-assessment-center/c4f4371d-5898-5324-99e7-d8f1e036524b/scratchpad/cbi/assets/icons/doc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36" y="266090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1148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profile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148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client's role profile, or one we build with them from the job description, sets the competencies and the target level for each.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71800" y="1572768"/>
            <a:ext cx="694944" cy="69494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44952" y="16459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71800" y="1572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423160" y="2423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090672" y="2560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0" name="Image 1" descr="/tmp/claude-0/-home-user-vifm-assessment-center/c4f4371d-5898-5324-99e7-d8f1e036524b/scratchpad/cbi/assets/icons/target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1256" y="266090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146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to seven competencies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5146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Enough to cover the role's critical behaviours, few enough to probe each one properly in about fifteen minutes.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074920" y="1572768"/>
            <a:ext cx="694944" cy="69494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48072" y="16459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74920" y="1572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26280" y="2423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193792" y="2560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8" name="Image 2" descr="/tmp/claude-0/-home-user-vifm-assessment-center/c4f4371d-5898-5324-99e7-d8f1e036524b/scratchpad/cbi/assets/icons/pen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4376" y="2660904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177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guide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6177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for the role: definition, indicators, three questions with probes, note space and the anchored rating for each competency.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7178040" y="1572768"/>
            <a:ext cx="694944" cy="69494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51192" y="16459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178040" y="1572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629400" y="2423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296912" y="2560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36" name="Image 3" descr="/tmp/claude-0/-home-user-vifm-assessment-center/c4f4371d-5898-5324-99e7-d8f1e036524b/scratchpad/cbi/assets/icons/users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7496" y="266090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7208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Interviewer briefing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672084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Interviewers are trained on the guide, the STAR-L method, note-taking and the rating scale before the first candidate.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40" name="Text 34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SCOPING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two-hour interview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188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91640" y="14630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Welcome, purpose, the competencies to be covered, note-taking explained, consent confirmed.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73152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385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029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overview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91640" y="23042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 walk through recent roles to settle the candidate and surface examples to return to.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73152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7977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 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28712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competencies, about fifteen minutes each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91640" y="314553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questions for every candidate. Probes follow the answer. Evidence recorded, never evaluated in the room.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12464"/>
            <a:ext cx="73152" cy="54864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2102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37124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91640" y="398678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Anything to add, the candidate's questions, next steps and timing.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interviewers where the decision is a selection decision: one leads and probes, one records. For development interviews one trained interviewer is sufficient.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919472"/>
            <a:ext cx="1179576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1947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682496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STAR-L: how every question is asked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44168" y="1389888"/>
            <a:ext cx="2798064" cy="279806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536192"/>
            <a:ext cx="2505456" cy="2505456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2286000"/>
            <a:ext cx="1005840" cy="10058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STAR-L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1078992"/>
            <a:ext cx="768096" cy="768096"/>
          </a:xfrm>
          <a:prstGeom prst="ellipse">
            <a:avLst/>
          </a:prstGeom>
          <a:solidFill>
            <a:srgbClr val="1A3A6B"/>
          </a:solidFill>
          <a:ln w="254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078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0139" y="1995153"/>
            <a:ext cx="768096" cy="768096"/>
          </a:xfrm>
          <a:prstGeom prst="ellipse">
            <a:avLst/>
          </a:prstGeom>
          <a:solidFill>
            <a:srgbClr val="1A3A6B"/>
          </a:solidFill>
          <a:ln w="254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0139" y="1995153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38485" y="3477531"/>
            <a:ext cx="768096" cy="768096"/>
          </a:xfrm>
          <a:prstGeom prst="ellipse">
            <a:avLst/>
          </a:prstGeom>
          <a:solidFill>
            <a:srgbClr val="5391D5"/>
          </a:solidFill>
          <a:ln w="254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8485" y="3477531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79819" y="3477531"/>
            <a:ext cx="768096" cy="768096"/>
          </a:xfrm>
          <a:prstGeom prst="ellipse">
            <a:avLst/>
          </a:prstGeom>
          <a:solidFill>
            <a:srgbClr val="1A3A6B"/>
          </a:solidFill>
          <a:ln w="254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9819" y="3477531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8165" y="1995153"/>
            <a:ext cx="768096" cy="768096"/>
          </a:xfrm>
          <a:prstGeom prst="ellipse">
            <a:avLst/>
          </a:prstGeom>
          <a:solidFill>
            <a:srgbClr val="1A3A6B"/>
          </a:solidFill>
          <a:ln w="254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8165" y="1995153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143000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0607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298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was the context? When, where, who was involved?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801368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719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1956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were you responsible for? What had to be achieved?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322576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459736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2377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6151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did you, personally, do? The interviewer spends most of the time here.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980944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118104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035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273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happened? How do you know? What did it cost or deliver?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639312"/>
            <a:ext cx="4114800" cy="603504"/>
          </a:xfrm>
          <a:prstGeom prst="roundRect">
            <a:avLst>
              <a:gd name="adj" fmla="val 909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776472"/>
            <a:ext cx="329184" cy="32918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941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would you do differently? What did you carry forward?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Answers in the hypothetical or the plural ("we would", "the team usually") are redirected to a specific, personal example.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4937760" cy="420624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868680"/>
            <a:ext cx="4114800" cy="347472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234440"/>
            <a:ext cx="3291840" cy="2743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INTERVIEW GUIDE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page per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Printed or on screen, the same for every candidate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28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ON THE PAGE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68580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3" name="Image 0" descr="/tmp/claude-0/-home-user-vifm-assessment-center/c4f4371d-5898-5324-99e7-d8f1e036524b/scratchpad/cbi/assets/icons/doc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3554" y="774314"/>
            <a:ext cx="225308" cy="2253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37960" y="640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896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competency as the framework defines it, with why it matters for this role.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150876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1" descr="/tmp/claude-0/-home-user-vifm-assessment-center/c4f4371d-5898-5324-99e7-d8f1e036524b/scratchpad/cbi/assets/icons/eye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3554" y="1597274"/>
            <a:ext cx="225308" cy="2253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37960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Indicators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3796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positive and negative evidence looks like, so notes can be classified.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035040" y="233172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1" name="Image 2" descr="/tmp/claude-0/-home-user-vifm-assessment-center/c4f4371d-5898-5324-99e7-d8f1e036524b/scratchpad/cbi/assets/icons/chat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3554" y="2420234"/>
            <a:ext cx="225308" cy="2253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3796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questions, three probes each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37960" y="2542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Asked in order; probes follow the answer.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035040" y="315468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5" name="Image 3" descr="/tmp/claude-0/-home-user-vifm-assessment-center/c4f4371d-5898-5324-99e7-d8f1e036524b/scratchpad/cbi/assets/icons/pen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3554" y="3243194"/>
            <a:ext cx="225308" cy="2253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3796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537960" y="33649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Space to record what the candidate said and did, factually.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035040" y="397764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9" name="Image 4" descr="/tmp/claude-0/-home-user-vifm-assessment-center/c4f4371d-5898-5324-99e7-d8f1e036524b/scratchpad/cbi/assets/icons/scale-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3554" y="4066154"/>
            <a:ext cx="225308" cy="2253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3796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537960" y="4187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to 5 against the anchors for this competency, or NE for no evidence.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3" name="Text 2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 PREVIEW  |  SENIOR FINANCE MANAGER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Sample: Critical Analysis &amp; Judgement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Breaks ambiguous, data-heavy problems into their parts, tests assumptions, and weighs competing explanations before reaching a view. Turns that reasoning into timely, balanced decisions, even when information is incomplete, weighing risk, stakeholders and second-order consequences.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 INDICATORS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66928" y="2468880"/>
            <a:ext cx="109728" cy="1097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Judges the relevance and importance of different pieces of information accurately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109728" cy="1097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underlying relationships, causes and effects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109728" cy="10972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62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potential weaknesses in proposals or plans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INDICATORS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6928" y="3584448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Draws conclusions without sufficient evidence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3858768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Fails to identify inconsistencies in data or arguments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06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097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1 OF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54880" y="1298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 me about a time the numbers you were given did not add up, and you had to get to the bottom of it.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901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12080" y="19019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first made you doubt the figures?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12080" y="2176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did you separate the cause from the symptoms?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4505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12080" y="2450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did you decide, and what happened as a result?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2761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2999232"/>
            <a:ext cx="384048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754880" y="3145536"/>
            <a:ext cx="3840480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0" y="33832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456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RATING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55280" y="37033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3703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4133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Anchor for 4: Quickly distinguishes critical from peripheral information, uncovers hidden problems, and weighs multiple competing explanations before deciding.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SAMPLE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scale, anchored for every competency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24712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161288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051560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exceeds the role requirement; several strong, specific examples with clear personal ownership.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36776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70992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6367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Above requirement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1746504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636776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Above requirement in most situations; clear positive evidence with few gaps.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29514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221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Meets requirement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0" y="2331720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221992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Adequate; meets the role requirement, evidence may be uneven across the indicators.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807208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880360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28072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needed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926080" y="2916936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807208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Below requirement; limited or mixed evidence, some negative indicators present.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392424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3465576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3924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gap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926080" y="3502152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3392424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Little or no positive evidence; negative indicators dominate the examples given.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77640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4050792"/>
            <a:ext cx="365760" cy="365760"/>
          </a:xfrm>
          <a:prstGeom prst="ellipse">
            <a:avLst/>
          </a:prstGeom>
          <a:solidFill>
            <a:srgbClr val="A8C4E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39776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evidence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926080" y="4087368"/>
            <a:ext cx="36576" cy="2926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3977640"/>
            <a:ext cx="5623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interview produced no usable evidence for this competency. Never rated as a 1.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labels are not enough. Every competency carries its own written anchor for each point, so two interviewers read a 3 the same way.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the interview: from notes to a rating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7" name="Image 0" descr="/tmp/claude-0/-home-user-vifm-assessment-center/c4f4371d-5898-5324-99e7-d8f1e036524b/scratchpad/cbi/assets/icons/pen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22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984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 up the same 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Notes are completed while the evidence is fresh, before any rating.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8688" y="10972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1568" y="128016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2" name="Image 1" descr="/tmp/claude-0/-home-user-vifm-assessment-center/c4f4371d-5898-5324-99e7-d8f1e036524b/scratchpad/cbi/assets/icons/eye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2152" y="13807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2984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 the evidence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01568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piece of evidence is matched to a positive or negative indicator of one competency.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71616" y="10972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7" name="Image 2" descr="/tmp/claude-0/-home-user-vifm-assessment-center/c4f4371d-5898-5324-99e7-d8f1e036524b/scratchpad/cbi/assets/icons/scale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13807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48856" y="12984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against the anchors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4496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rating is the anchor the evidence best fits, not an average of impressions.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5760" y="285292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2" name="Image 3" descr="/tmp/claude-0/-home-user-vifm-assessment-center/c4f4371d-5898-5324-99e7-d8f1e036524b/scratchpad/cbi/assets/icons/users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224" y="313639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05409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630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there are two interviewers, ratings are agreed in a short discussion with the evidence on the table.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18688" y="285292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01568" y="303580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27" name="Image 4" descr="/tmp/claude-0/-home-user-vifm-assessment-center/c4f4371d-5898-5324-99e7-d8f1e036524b/scratchpad/cbi/assets/icons/doc-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2152" y="313639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95928" y="305409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401568" y="3630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per-competency report with the evidence, the rating against the role target, strengths and development areas.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071616" y="2852928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54496" y="3035808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32" name="Image 5" descr="/tmp/claude-0/-home-user-vifm-assessment-center/c4f4371d-5898-5324-99e7-d8f1e036524b/scratchpad/cbi/assets/icons/chat-FFFFFF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5080" y="313639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48856" y="305409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 back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54496" y="3630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candidate receives a summary of strengths and development areas, whatever the decision.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365760" y="4919472"/>
            <a:ext cx="128016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6" name="Text 28"/>
          <p:cNvSpPr/>
          <p:nvPr/>
        </p:nvSpPr>
        <p:spPr>
          <a:xfrm>
            <a:off x="365760" y="49194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178308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CBI report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97280"/>
            <a:ext cx="2551176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1892" y="137160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189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542032"/>
            <a:ext cx="16002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six competencies with their rating against the role's target level on one page, with an indicative overall read and the headline strengths and development areas.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97280"/>
            <a:ext cx="2551176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4820" y="137160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4820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55848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per competency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67328" y="2542032"/>
            <a:ext cx="16002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6974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each competency: the rating and its anchor, a summary of what the candidate described, the indicators observed and the gaps, and the interviewers' confidence in the evidence.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10972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097280"/>
            <a:ext cx="2551176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27748" y="1371600"/>
            <a:ext cx="585216" cy="58521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27748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08776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and decision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0256" y="2542032"/>
            <a:ext cx="160020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6974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Suggested development actions drawn from the framework, a decision-integration box the panel completes, and a plain statement of what the interview can and cannot tell you.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VIFM report states on its face what it is: interview evidence about past behaviour, to be read alongside other evidence. It is never a hiring decision on its own.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 to candidates, defensible to the organisation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43000"/>
            <a:ext cx="186537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4173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8" name="Image 0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7981" y="15380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Standardised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251460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competencies, same questions, same scale for every candidate for the role. Deviations are recorded.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96312" y="1143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9464" y="1143000"/>
            <a:ext cx="186537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27832" y="14173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14" name="Image 1" descr="/tmp/claude-0/-home-user-vifm-assessment-center/c4f4371d-5898-5324-99e7-d8f1e036524b/scratchpad/cbi/assets/icons/eye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533" y="1538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3472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Evidence-based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60904" y="251460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Ratings cite the behaviour described. No rating without notes; no evidence means NE, not a low score.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26864" y="1143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0016" y="1143000"/>
            <a:ext cx="186537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58384" y="14173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20" name="Image 2" descr="/tmp/claude-0/-home-user-vifm-assessment-center/c4f4371d-5898-5324-99e7-d8f1e036524b/scratchpad/cbi/assets/icons/users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9085" y="153802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64024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Trained interviewers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91456" y="251460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Interviewers are briefed on the guide, the method, note-taking and common rating errors before they interview.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57416" y="1143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30568" y="1143000"/>
            <a:ext cx="1865376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88936" y="1417320"/>
            <a:ext cx="548640" cy="54864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pic>
        <p:nvPicPr>
          <p:cNvPr id="26" name="Image 3" descr="/tmp/claude-0/-home-user-vifm-assessment-center/c4f4371d-5898-5324-99e7-d8f1e036524b/scratchpad/cbi/assets/icons/shield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9637" y="153802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94576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22008" y="251460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Outcomes can be monitored by group for adverse impact, and the interview record supports any later review or appeal.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365760" y="43708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interview validity: Schmidt and Hunter (1998), Psychological Bulletin 124(2); McDaniel, Whetzel, Schmidt and Maurer (1994), Journal of Applied Psychology 79(4).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FAIRNESS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its own, or as part of a fuller picture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CBI on the role's competencies, with the guide and the report. Right for shortlists where the organisation wants structure and evidence quickly.</a:t>
            </a:r>
            <a:endParaRPr lang="en-US" sz="950" dirty="0"/>
          </a:p>
        </p:txBody>
      </p:sp>
      <p:pic>
        <p:nvPicPr>
          <p:cNvPr id="8" name="Image 0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0998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guide per role</a:t>
            </a:r>
            <a:endParaRPr lang="en-US" sz="900" dirty="0"/>
          </a:p>
        </p:txBody>
      </p:sp>
      <p:pic>
        <p:nvPicPr>
          <p:cNvPr id="10" name="Image 1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34838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Trained interviewers</a:t>
            </a:r>
            <a:endParaRPr lang="en-US" sz="900" dirty="0"/>
          </a:p>
        </p:txBody>
      </p:sp>
      <p:pic>
        <p:nvPicPr>
          <p:cNvPr id="12" name="Image 2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928" y="38679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38313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per candidate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18688" y="10972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40156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Interview plus VIFM instruments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01568" y="1691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Persona (behavioural self-report on the same framework) and Logica (reasoning) before the interview, so the guide can target what the self-report flags.</a:t>
            </a:r>
            <a:endParaRPr lang="en-US" sz="950" dirty="0"/>
          </a:p>
        </p:txBody>
      </p:sp>
      <p:pic>
        <p:nvPicPr>
          <p:cNvPr id="17" name="Image 3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9856" y="309981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94176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Self-report read next to interview evidence</a:t>
            </a:r>
            <a:endParaRPr lang="en-US" sz="900" dirty="0"/>
          </a:p>
        </p:txBody>
      </p:sp>
      <p:pic>
        <p:nvPicPr>
          <p:cNvPr id="19" name="Image 4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9856" y="348386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94176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Reasoning as a separate signal</a:t>
            </a:r>
            <a:endParaRPr lang="en-US" sz="900" dirty="0"/>
          </a:p>
        </p:txBody>
      </p:sp>
      <p:pic>
        <p:nvPicPr>
          <p:cNvPr id="21" name="Image 5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19856" y="3867912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94176" y="38313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report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6071616" y="10972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254496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centre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254496" y="1691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CBI becomes one exercise in a VIFM Assessment Centre with simulations and trained assessors, integrated in a wash-up to one rating per competency.</a:t>
            </a:r>
            <a:endParaRPr lang="en-US" sz="950" dirty="0"/>
          </a:p>
        </p:txBody>
      </p:sp>
      <p:pic>
        <p:nvPicPr>
          <p:cNvPr id="26" name="Image 6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72784" y="3099816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47104" y="3063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exercises per competency</a:t>
            </a:r>
            <a:endParaRPr lang="en-US" sz="900" dirty="0"/>
          </a:p>
        </p:txBody>
      </p:sp>
      <p:pic>
        <p:nvPicPr>
          <p:cNvPr id="28" name="Image 7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2784" y="3483864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547104" y="34472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 consensus</a:t>
            </a:r>
            <a:endParaRPr lang="en-US" sz="900" dirty="0"/>
          </a:p>
        </p:txBody>
      </p:sp>
      <p:pic>
        <p:nvPicPr>
          <p:cNvPr id="30" name="Image 8" descr="/tmp/claude-0/-home-user-vifm-assessment-center/c4f4371d-5898-5324-99e7-d8f1e036524b/scratchpad/cbi/assets/icons/check-FFFFFF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72784" y="3867912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547104" y="38313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centre report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33" name="Text 22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OPTIONS</a:t>
            </a:r>
            <a:endParaRPr lang="en-US" sz="700" dirty="0"/>
          </a:p>
        </p:txBody>
      </p:sp>
      <p:sp>
        <p:nvSpPr>
          <p:cNvPr id="34" name="Text 23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35" name="Text 24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10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621792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309360" y="0"/>
            <a:ext cx="822960" cy="5143500"/>
          </a:xfrm>
          <a:prstGeom prst="rtTriangl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6" name="Image 0" descr="/tmp/claude-0/-home-user-vifm-assessment-center/c4f4371d-5898-5324-99e7-d8f1e036524b/scratchpad/cbi/assets/vif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1463040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run for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first role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50292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pic>
        <p:nvPicPr>
          <p:cNvPr id="10" name="Image 1" descr="/tmp/claude-0/-home-user-vifm-assessment-center/c4f4371d-5898-5324-99e7-d8f1e036524b/scratchpad/cbi/assets/icons/check-5391D5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29718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29443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Agree the role profile and the five to seven competencies</a:t>
            </a:r>
            <a:endParaRPr lang="en-US" sz="1100" dirty="0"/>
          </a:p>
        </p:txBody>
      </p:sp>
      <p:pic>
        <p:nvPicPr>
          <p:cNvPr id="12" name="Image 2" descr="/tmp/claude-0/-home-user-vifm-assessment-center/c4f4371d-5898-5324-99e7-d8f1e036524b/scratchpad/cbi/assets/icons/check-5391D5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" y="33741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33467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generates the interview guide and briefs the interviewers</a:t>
            </a:r>
            <a:endParaRPr lang="en-US" sz="1100" dirty="0"/>
          </a:p>
        </p:txBody>
      </p:sp>
      <p:pic>
        <p:nvPicPr>
          <p:cNvPr id="14" name="Image 3" descr="/tmp/claude-0/-home-user-vifm-assessment-center/c4f4371d-5898-5324-99e7-d8f1e036524b/scratchpad/cbi/assets/icons/check-5391D5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" y="377647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3232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interviews; VIFM scores and calibrates</a:t>
            </a:r>
            <a:endParaRPr lang="en-US" sz="1100" dirty="0"/>
          </a:p>
        </p:txBody>
      </p:sp>
      <p:pic>
        <p:nvPicPr>
          <p:cNvPr id="16" name="Image 4" descr="/tmp/claude-0/-home-user-vifm-assessment-center/c4f4371d-5898-5324-99e7-d8f1e036524b/scratchpad/cbi/assets/icons/check-5391D5.sv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" y="41788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232" y="41513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delivered within five working days of the last interview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6576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365760" y="491947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5391D5"/>
          </a:solidFill>
          <a:ln/>
        </p:spPr>
      </p:sp>
      <p:sp>
        <p:nvSpPr>
          <p:cNvPr id="20" name="Text 13"/>
          <p:cNvSpPr/>
          <p:nvPr/>
        </p:nvSpPr>
        <p:spPr>
          <a:xfrm>
            <a:off x="36576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1600200" y="49194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 |  Competency-Based Interview  |  Confidential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804672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Competency-Based Interview (CBI)</dc:title>
  <dc:subject>PptxGenJS Presentation</dc:subject>
  <dc:creator>VIFM</dc:creator>
  <cp:lastModifiedBy>VIFM</cp:lastModifiedBy>
  <cp:revision>1</cp:revision>
  <dcterms:created xsi:type="dcterms:W3CDTF">2026-10-04T19:10:48Z</dcterms:created>
  <dcterms:modified xsi:type="dcterms:W3CDTF">2026-10-04T19:10:48Z</dcterms:modified>
</cp:coreProperties>
</file>