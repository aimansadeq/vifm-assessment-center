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040880" y="0"/>
            <a:ext cx="2103120" cy="173736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52360" y="292608"/>
            <a:ext cx="502920" cy="502920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83880" y="713232"/>
            <a:ext cx="292608" cy="292608"/>
          </a:xfrm>
          <a:prstGeom prst="ellipse">
            <a:avLst/>
          </a:prstGeom>
          <a:solidFill>
            <a:srgbClr val="A8C4E5"/>
          </a:solidFill>
          <a:ln w="12700">
            <a:solidFill>
              <a:srgbClr val="A8C4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292608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5391D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  CLIENT ONBOARDING   |   KING ABDULLAH FINANCIAL DISTRICT  ]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20040" y="1143000"/>
            <a:ext cx="82296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AI Readiness</a:t>
            </a:r>
            <a:endParaRPr lang="en-US" sz="46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Compass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338328" y="3383280"/>
            <a:ext cx="6949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Your access, and how it works - a step-by-step guide for KAFD delegates.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" y="4069080"/>
            <a:ext cx="2293315" cy="365760"/>
          </a:xfrm>
          <a:prstGeom prst="roundRect">
            <a:avLst>
              <a:gd name="adj" fmla="val 50000"/>
            </a:avLst>
          </a:prstGeom>
          <a:solidFill>
            <a:srgbClr val="1A3A6B"/>
          </a:solidFill>
          <a:ln w="9525">
            <a:solidFill>
              <a:srgbClr val="5391D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8328" y="4069080"/>
            <a:ext cx="22933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20 personal access codes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96235" y="4069080"/>
            <a:ext cx="1199693" cy="365760"/>
          </a:xfrm>
          <a:prstGeom prst="roundRect">
            <a:avLst>
              <a:gd name="adj" fmla="val 50000"/>
            </a:avLst>
          </a:prstGeom>
          <a:solidFill>
            <a:srgbClr val="1A3A6B"/>
          </a:solidFill>
          <a:ln w="9525">
            <a:solidFill>
              <a:srgbClr val="5391D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96235" y="4069080"/>
            <a:ext cx="1199693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~10 minutes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60520" y="4069080"/>
            <a:ext cx="1704442" cy="365760"/>
          </a:xfrm>
          <a:prstGeom prst="roundRect">
            <a:avLst>
              <a:gd name="adj" fmla="val 50000"/>
            </a:avLst>
          </a:prstGeom>
          <a:solidFill>
            <a:srgbClr val="1A3A6B"/>
          </a:solidFill>
          <a:ln w="9525">
            <a:solidFill>
              <a:srgbClr val="5391D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60520" y="4069080"/>
            <a:ext cx="170444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Bilingual EN / AR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029554" y="4069080"/>
            <a:ext cx="1452067" cy="365760"/>
          </a:xfrm>
          <a:prstGeom prst="roundRect">
            <a:avLst>
              <a:gd name="adj" fmla="val 50000"/>
            </a:avLst>
          </a:prstGeom>
          <a:solidFill>
            <a:srgbClr val="1A3A6B"/>
          </a:solidFill>
          <a:ln w="9525">
            <a:solidFill>
              <a:srgbClr val="5391D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29554" y="4069080"/>
            <a:ext cx="1452067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Private to you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38328" y="46177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391D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caliber.viftraining.com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566160" cy="5143500"/>
          </a:xfrm>
          <a:prstGeom prst="rect">
            <a:avLst/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566160" y="0"/>
            <a:ext cx="5577840" cy="514350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74320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5391D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  THE INSTRUMENT  ]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20040" y="914400"/>
            <a:ext cx="30175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What is the</a:t>
            </a:r>
            <a:endParaRPr lang="en-US" sz="2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AI Readiness</a:t>
            </a:r>
            <a:endParaRPr lang="en-US" sz="2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Compass?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320040" y="2971800"/>
            <a:ext cx="3017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short, confidential self-check that shows each person where they stand on working effectively with AI.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840480" y="594360"/>
            <a:ext cx="402336" cy="402336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0" y="59436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389120" y="576072"/>
            <a:ext cx="4480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10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Quick and self-served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389120" y="905256"/>
            <a:ext cx="4480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About 10 minutes, online, no account and nothing to install.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840480" y="1627632"/>
            <a:ext cx="402336" cy="402336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0" y="162763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389120" y="1609344"/>
            <a:ext cx="4480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10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Bilingual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4389120" y="1938528"/>
            <a:ext cx="4480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Take it in English or Arabic - switch at any time.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840480" y="2660904"/>
            <a:ext cx="402336" cy="402336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0" y="2660904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389120" y="2642616"/>
            <a:ext cx="4480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10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Private to you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4389120" y="2971800"/>
            <a:ext cx="4480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Your results are yours. This is for development, not a pass / fail test.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840480" y="3694176"/>
            <a:ext cx="402336" cy="402336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0480" y="369417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389120" y="3675888"/>
            <a:ext cx="4480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10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Practical, not theoretical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4389120" y="4005072"/>
            <a:ext cx="4480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It looks at how you actually work with AI day to day.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20040" y="479145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VIFM AI Readiness Compass   |   KAFD Onboarding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8412480" y="4791456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6459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5391D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  YOUR ACCESS  ]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20040" y="402336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What KAFD has been given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20040" y="1188720"/>
            <a:ext cx="3108960" cy="3200400"/>
          </a:xfrm>
          <a:prstGeom prst="roundRect">
            <a:avLst>
              <a:gd name="adj" fmla="val 3529"/>
            </a:avLst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0040" y="1417320"/>
            <a:ext cx="3108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5391D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20</a:t>
            </a:r>
            <a:endParaRPr lang="en-US" sz="9600" dirty="0"/>
          </a:p>
        </p:txBody>
      </p:sp>
      <p:sp>
        <p:nvSpPr>
          <p:cNvPr id="9" name="Text 7"/>
          <p:cNvSpPr/>
          <p:nvPr/>
        </p:nvSpPr>
        <p:spPr>
          <a:xfrm>
            <a:off x="320040" y="27889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personal access codes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20040" y="329184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One per delegate.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Each single-use.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703320" y="1234440"/>
            <a:ext cx="51206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0DFF4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931920" y="1362456"/>
            <a:ext cx="4754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10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one-click invitation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3931920" y="1673352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Each delegate receives a personal email from VIFM with their code and a direct link - no code to type, no sign-up.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703320" y="2313432"/>
            <a:ext cx="51206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0DFF4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931920" y="2441448"/>
            <a:ext cx="4754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10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VIFM handles delivery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3931920" y="2752344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We send the invitations and resend on request. KAFD does not need to manage codes.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703320" y="3392424"/>
            <a:ext cx="51206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0DFF4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931920" y="3520440"/>
            <a:ext cx="4754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10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Works on any device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3931920" y="3831336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Phone, tablet, or laptop. Nothing to install.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320040" y="479145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VIFM AI Readiness Compass   |   KAFD Onboarding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8412480" y="4791456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6459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5391D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  THE PROCESS  ]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20040" y="402336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journey at a glance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10896" y="1463040"/>
            <a:ext cx="1591056" cy="2468880"/>
          </a:xfrm>
          <a:prstGeom prst="roundRect">
            <a:avLst>
              <a:gd name="adj" fmla="val 5747"/>
            </a:avLst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04672" y="1719072"/>
            <a:ext cx="603504" cy="603504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1719072"/>
            <a:ext cx="6035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02336" y="2450592"/>
            <a:ext cx="14081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Get your invite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20624" y="2980944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personal email from VIFM with your link.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883664" y="2331720"/>
            <a:ext cx="1554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391D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&gt;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020824" y="1463040"/>
            <a:ext cx="1591056" cy="2468880"/>
          </a:xfrm>
          <a:prstGeom prst="roundRect">
            <a:avLst>
              <a:gd name="adj" fmla="val 5747"/>
            </a:avLst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514600" y="1719072"/>
            <a:ext cx="603504" cy="603504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14600" y="1719072"/>
            <a:ext cx="6035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2112264" y="2450592"/>
            <a:ext cx="14081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One click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2130552" y="2980944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Open the link - your details are pre-filled.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593592" y="2331720"/>
            <a:ext cx="1554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391D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&gt;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730752" y="1463040"/>
            <a:ext cx="1591056" cy="2468880"/>
          </a:xfrm>
          <a:prstGeom prst="roundRect">
            <a:avLst>
              <a:gd name="adj" fmla="val 5747"/>
            </a:avLst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224528" y="1719072"/>
            <a:ext cx="603504" cy="603504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24528" y="1719072"/>
            <a:ext cx="6035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3822192" y="2450592"/>
            <a:ext cx="14081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Confirm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3840480" y="2980944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Check your name and press Start.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303520" y="2331720"/>
            <a:ext cx="1554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391D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&gt;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440680" y="1463040"/>
            <a:ext cx="1591056" cy="2468880"/>
          </a:xfrm>
          <a:prstGeom prst="roundRect">
            <a:avLst>
              <a:gd name="adj" fmla="val 5747"/>
            </a:avLst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934456" y="1719072"/>
            <a:ext cx="603504" cy="603504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34456" y="1719072"/>
            <a:ext cx="6035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5532120" y="2450592"/>
            <a:ext cx="14081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Take it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5550408" y="2980944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~24 short questions, about 10 minutes.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7013448" y="2331720"/>
            <a:ext cx="1554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391D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&gt;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7150608" y="1463040"/>
            <a:ext cx="1591056" cy="2468880"/>
          </a:xfrm>
          <a:prstGeom prst="roundRect">
            <a:avLst>
              <a:gd name="adj" fmla="val 5747"/>
            </a:avLst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7644384" y="1719072"/>
            <a:ext cx="603504" cy="603504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644384" y="1719072"/>
            <a:ext cx="6035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7242048" y="2450592"/>
            <a:ext cx="14081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Your results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7260336" y="2980944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On screen instantly + emailed PDF.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310896" y="4297680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A3A6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Every step is self-served and takes one sitting. No training required.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320040" y="479145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VIFM AI Readiness Compass   |   KAFD Onboarding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8412480" y="4791456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6459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5391D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  STEP 1  ]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20040" y="402336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Your invitation arrives by email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65760" y="1280160"/>
            <a:ext cx="365760" cy="365760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24358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68680" y="1261872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10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From VIFM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868680" y="1572768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email comes from the VIFM AI Readiness Compass.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65760" y="2121408"/>
            <a:ext cx="365760" cy="365760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08483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68680" y="2103120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10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Your personal link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868680" y="2414016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one-click button takes you straight in.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65760" y="2962656"/>
            <a:ext cx="365760" cy="365760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9260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68680" y="2944368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10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Your access code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68680" y="3255264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Included as a backup - you rarely need to type it.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65760" y="3803904"/>
            <a:ext cx="365760" cy="365760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7673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68680" y="3785616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10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Check spam once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868680" y="4096512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If it is not in your inbox, look in junk / spam.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800600" y="1234440"/>
            <a:ext cx="4023360" cy="315468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 w="12700">
            <a:solidFill>
              <a:srgbClr val="D0DFF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00600" y="1234440"/>
            <a:ext cx="4023360" cy="566928"/>
          </a:xfrm>
          <a:prstGeom prst="rect">
            <a:avLst/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83480" y="1289304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VIFM AI Readiness Compass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983480" y="1508760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Your AI Readiness Compass access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029200" y="1947672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Dear delegate,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You have been invited to take the AI Readiness Compass - a short, confidential assessment.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029200" y="3063240"/>
            <a:ext cx="2286000" cy="502920"/>
          </a:xfrm>
          <a:prstGeom prst="roundRect">
            <a:avLst>
              <a:gd name="adj" fmla="val 18182"/>
            </a:avLst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0" y="306324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Start your assessment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029200" y="37490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Access code:  VIFM-ARC-XXXX-XXXX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20040" y="479145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VIFM AI Readiness Compass   |   KAFD Onboarding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8412480" y="4791456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6459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5391D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  STEP 2  ]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20040" y="402336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One click - we pre-fill the rest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65760" y="1280160"/>
            <a:ext cx="365760" cy="365760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24358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68680" y="1261872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10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link opens the start page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1572768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caliber.viftraining.com/ara/redeem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65760" y="2121408"/>
            <a:ext cx="365760" cy="365760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08483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68680" y="2103120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10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Code, email and company pre-filled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68680" y="2414016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Carried in from your invitation - nothing to look up.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65760" y="2962656"/>
            <a:ext cx="365760" cy="365760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9260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68680" y="2944368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10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Just confirm your name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68680" y="3255264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Then press Start. That is the whole sign-in.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65760" y="3803904"/>
            <a:ext cx="365760" cy="365760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7673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68680" y="3785616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10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 password, no account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68680" y="4096512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You go straight into the assessment.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800600" y="1234440"/>
            <a:ext cx="402336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0DFF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074920" y="143560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10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AI Readiness Compass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074920" y="1828800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Voucher code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074920" y="2048256"/>
            <a:ext cx="3474720" cy="365760"/>
          </a:xfrm>
          <a:prstGeom prst="roundRect">
            <a:avLst>
              <a:gd name="adj" fmla="val 12500"/>
            </a:avLst>
          </a:prstGeom>
          <a:solidFill>
            <a:srgbClr val="F5F7FA"/>
          </a:solidFill>
          <a:ln w="12700">
            <a:solidFill>
              <a:srgbClr val="D0DFF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84648" y="2048256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VIFM-ARC-7K3M-9QX2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589520" y="1828800"/>
            <a:ext cx="960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391D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pre-filled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074920" y="2468880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Email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074920" y="2688336"/>
            <a:ext cx="3474720" cy="365760"/>
          </a:xfrm>
          <a:prstGeom prst="roundRect">
            <a:avLst>
              <a:gd name="adj" fmla="val 12500"/>
            </a:avLst>
          </a:prstGeom>
          <a:solidFill>
            <a:srgbClr val="F5F7FA"/>
          </a:solidFill>
          <a:ln w="12700">
            <a:solidFill>
              <a:srgbClr val="D0DFF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184648" y="2688336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delegate@kafd.sa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589520" y="2468880"/>
            <a:ext cx="960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391D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pre-filled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074920" y="3108960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Company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074920" y="3328416"/>
            <a:ext cx="3474720" cy="365760"/>
          </a:xfrm>
          <a:prstGeom prst="roundRect">
            <a:avLst>
              <a:gd name="adj" fmla="val 12500"/>
            </a:avLst>
          </a:prstGeom>
          <a:solidFill>
            <a:srgbClr val="F5F7FA"/>
          </a:solidFill>
          <a:ln w="12700">
            <a:solidFill>
              <a:srgbClr val="D0DFF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184648" y="3328416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KAFD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589520" y="3108960"/>
            <a:ext cx="960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391D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pre-filled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074920" y="3749040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Full name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074920" y="3968496"/>
            <a:ext cx="347472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184648" y="3968496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type your name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320040" y="479145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VIFM AI Readiness Compass   |   KAFD Onboarding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8412480" y="4791456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6459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5391D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  STEP 3  ]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20040" y="402336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Take the assessment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10896" y="1234440"/>
            <a:ext cx="2075688" cy="1691640"/>
          </a:xfrm>
          <a:prstGeom prst="roundRect">
            <a:avLst>
              <a:gd name="adj" fmla="val 5405"/>
            </a:avLst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10896" y="1399032"/>
            <a:ext cx="20756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5391D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~10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310896" y="2148840"/>
            <a:ext cx="20756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minutes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02336" y="2459736"/>
            <a:ext cx="18928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 one sitting.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496312" y="1234440"/>
            <a:ext cx="2075688" cy="1691640"/>
          </a:xfrm>
          <a:prstGeom prst="roundRect">
            <a:avLst>
              <a:gd name="adj" fmla="val 5405"/>
            </a:avLst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496312" y="1399032"/>
            <a:ext cx="20756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5391D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~24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2496312" y="2148840"/>
            <a:ext cx="20756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short questions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587752" y="2459736"/>
            <a:ext cx="18928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Quick to answer.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81728" y="1234440"/>
            <a:ext cx="2075688" cy="1691640"/>
          </a:xfrm>
          <a:prstGeom prst="roundRect">
            <a:avLst>
              <a:gd name="adj" fmla="val 5405"/>
            </a:avLst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681728" y="1399032"/>
            <a:ext cx="20756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5391D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4681728" y="2148840"/>
            <a:ext cx="20756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languages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773168" y="2459736"/>
            <a:ext cx="18928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English or Arabic.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867144" y="1234440"/>
            <a:ext cx="2075688" cy="1691640"/>
          </a:xfrm>
          <a:prstGeom prst="roundRect">
            <a:avLst>
              <a:gd name="adj" fmla="val 5405"/>
            </a:avLst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867144" y="1399032"/>
            <a:ext cx="20756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5391D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</a:t>
            </a:r>
            <a:endParaRPr lang="en-US" sz="4400" dirty="0"/>
          </a:p>
        </p:txBody>
      </p:sp>
      <p:sp>
        <p:nvSpPr>
          <p:cNvPr id="21" name="Text 19"/>
          <p:cNvSpPr/>
          <p:nvPr/>
        </p:nvSpPr>
        <p:spPr>
          <a:xfrm>
            <a:off x="6867144" y="2148840"/>
            <a:ext cx="20756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factors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958584" y="2459736"/>
            <a:ext cx="18928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See the next slide.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10896" y="3200400"/>
            <a:ext cx="8522208" cy="1143000"/>
          </a:xfrm>
          <a:prstGeom prst="roundRect">
            <a:avLst>
              <a:gd name="adj" fmla="val 8000"/>
            </a:avLst>
          </a:prstGeom>
          <a:solidFill>
            <a:srgbClr val="D0DFF4"/>
          </a:solidFill>
          <a:ln w="12700">
            <a:solidFill>
              <a:srgbClr val="D0DFF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331012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10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It is a self-reflection, not a test.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48640" y="3675888"/>
            <a:ext cx="82296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There are no trick questions and no pass / fail. Answer honestly about how you work with AI today - that is what makes your results useful. Your answers are private to you.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20040" y="479145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VIFM AI Readiness Compass   |   KAFD Onboarding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412480" y="4791456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01168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5391D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  WHAT IT MEASURES  ]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457200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four factors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" y="1051560"/>
            <a:ext cx="4169664" cy="1600200"/>
          </a:xfrm>
          <a:prstGeom prst="roundRect">
            <a:avLst>
              <a:gd name="adj" fmla="val 5714"/>
            </a:avLst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325880"/>
            <a:ext cx="457200" cy="457200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88720" y="1234440"/>
            <a:ext cx="3163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5391D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THINKING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88720" y="1472184"/>
            <a:ext cx="31638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AI Sense-Check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" y="1920240"/>
            <a:ext cx="371246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You treat AI output as a draft to verify, not a finished answer - testing claims and catching confidently-wrong facts.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64024" y="1051560"/>
            <a:ext cx="4169664" cy="1600200"/>
          </a:xfrm>
          <a:prstGeom prst="roundRect">
            <a:avLst>
              <a:gd name="adj" fmla="val 5714"/>
            </a:avLst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992624" y="1325880"/>
            <a:ext cx="457200" cy="457200"/>
          </a:xfrm>
          <a:prstGeom prst="ellipse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32704" y="1234440"/>
            <a:ext cx="3163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4785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RESULTS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632704" y="1472184"/>
            <a:ext cx="31638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AI Working Practice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992624" y="1920240"/>
            <a:ext cx="371246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You build AI into how you already work - clear prompts, iterating, folding it into recurring tasks.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2834640"/>
            <a:ext cx="4169664" cy="1600200"/>
          </a:xfrm>
          <a:prstGeom prst="roundRect">
            <a:avLst>
              <a:gd name="adj" fmla="val 5714"/>
            </a:avLst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3108960"/>
            <a:ext cx="457200" cy="457200"/>
          </a:xfrm>
          <a:prstGeom prst="ellipse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88720" y="3017520"/>
            <a:ext cx="3163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2410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PEOPLE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88720" y="3255264"/>
            <a:ext cx="31638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AI Collaboration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48640" y="3703320"/>
            <a:ext cx="371246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You help the team move with AI - explaining what it can and can't do, and pushing back on blind trust.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64024" y="2834640"/>
            <a:ext cx="4169664" cy="1600200"/>
          </a:xfrm>
          <a:prstGeom prst="roundRect">
            <a:avLst>
              <a:gd name="adj" fmla="val 5714"/>
            </a:avLst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992624" y="3108960"/>
            <a:ext cx="457200" cy="457200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32704" y="3017520"/>
            <a:ext cx="31638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D28D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SELF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632704" y="3255264"/>
            <a:ext cx="31638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AI Adaptive Mindset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992624" y="3703320"/>
            <a:ext cx="371246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You stay open as AI changes the work - relearning, asking where models fail, keeping policy in view.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20040" y="452628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Mapped to VIFM's behavioural framework: Thinking, Results, People, Self.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20040" y="479145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3A6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VIFM AI Readiness Compass   |   KAFD Onboarding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8412480" y="4791456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1A3A6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6459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5391D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  STEP 4  ]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20040" y="402336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Your results, instantly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10896" y="1234440"/>
            <a:ext cx="2779776" cy="24688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0DFF4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39496" y="1490472"/>
            <a:ext cx="548640" cy="548640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9496" y="149047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39496" y="2148840"/>
            <a:ext cx="23225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10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On screen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39496" y="2560320"/>
            <a:ext cx="232257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moment you finish, your results appear - your profile across the four factors, with what each means for you.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182112" y="1234440"/>
            <a:ext cx="2779776" cy="24688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0DFF4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410712" y="1490472"/>
            <a:ext cx="548640" cy="548640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10712" y="149047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410712" y="2148840"/>
            <a:ext cx="23225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10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By email, with PDF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410712" y="2560320"/>
            <a:ext cx="232257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We email you a copy with the results PDF attached, so you can keep it and share it if you choose.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053328" y="1234440"/>
            <a:ext cx="2779776" cy="24688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0DFF4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81928" y="1490472"/>
            <a:ext cx="548640" cy="548640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81928" y="149047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281928" y="2148840"/>
            <a:ext cx="23225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10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page you can return to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281928" y="2560320"/>
            <a:ext cx="232257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Your results page is bookmarkable - come back to it any time from the link in your email.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310896" y="4297680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A3A6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 waiting, no follow-up needed - the delegate has their result before they close the tab.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20040" y="479145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VIFM AI Readiness Compass   |   KAFD Onboarding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8412480" y="4791456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6459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5391D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  YOUR REPORT  ]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20040" y="402336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What your results tell you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20040" y="1234440"/>
            <a:ext cx="8503920" cy="749808"/>
          </a:xfrm>
          <a:prstGeom prst="roundRect">
            <a:avLst>
              <a:gd name="adj" fmla="val 9756"/>
            </a:avLst>
          </a:prstGeom>
          <a:solidFill>
            <a:srgbClr val="D0DFF4"/>
          </a:solidFill>
          <a:ln w="12700">
            <a:solidFill>
              <a:srgbClr val="D0DFF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426464"/>
            <a:ext cx="365760" cy="365760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42646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51560" y="1325880"/>
            <a:ext cx="3108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10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profile across the four factors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251960" y="1325880"/>
            <a:ext cx="4434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Where you are strong with AI today, and where there is room to grow - factor by factor.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20040" y="2057400"/>
            <a:ext cx="850392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D0DFF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" y="2249424"/>
            <a:ext cx="365760" cy="365760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24942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51560" y="2148840"/>
            <a:ext cx="3108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10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Plain-language guidance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251960" y="2148840"/>
            <a:ext cx="4434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Each factor comes with a short read on what it means and practical pointers to develop it.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20040" y="2880360"/>
            <a:ext cx="8503920" cy="749808"/>
          </a:xfrm>
          <a:prstGeom prst="roundRect">
            <a:avLst>
              <a:gd name="adj" fmla="val 9756"/>
            </a:avLst>
          </a:prstGeom>
          <a:solidFill>
            <a:srgbClr val="D0DFF4"/>
          </a:solidFill>
          <a:ln w="12700">
            <a:solidFill>
              <a:srgbClr val="D0DFF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" y="3072384"/>
            <a:ext cx="365760" cy="365760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07238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51560" y="2971800"/>
            <a:ext cx="3108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10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Development, not judgement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4251960" y="2971800"/>
            <a:ext cx="4434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There is no score to pass. It is a personal baseline to build from.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20040" y="3703320"/>
            <a:ext cx="850392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D0DFF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02920" y="3895344"/>
            <a:ext cx="365760" cy="365760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389534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51560" y="3794760"/>
            <a:ext cx="3108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10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Private to you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4251960" y="3794760"/>
            <a:ext cx="4434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Your individual report is yours. KAFD and VIFM see completion and an anonymised group picture - not your answers.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320040" y="479145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VIFM AI Readiness Compass   |   KAFD Onboarding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8412480" y="4791456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6459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5391D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  FOR THE KAFD COORDINATOR  ]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20040" y="402336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Running this for your team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20040" y="1188720"/>
            <a:ext cx="4169664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0DFF4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21208" y="1389888"/>
            <a:ext cx="457200" cy="457200"/>
          </a:xfrm>
          <a:prstGeom prst="ellipse">
            <a:avLst/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1208" y="13898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391D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97280" y="1371600"/>
            <a:ext cx="32095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10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We send the invitations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97280" y="1700784"/>
            <a:ext cx="320954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Share your delegates' names and emails with VIFM, and we email each a personal one-click link. No code-handling for you.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64024" y="1188720"/>
            <a:ext cx="4169664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0DFF4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965192" y="1389888"/>
            <a:ext cx="457200" cy="457200"/>
          </a:xfrm>
          <a:prstGeom prst="ellipse">
            <a:avLst/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65192" y="13898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391D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541264" y="1371600"/>
            <a:ext cx="32095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10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Track completion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541264" y="1700784"/>
            <a:ext cx="320954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You receive a simple view of who has started and who has finished, by company - no spreadsheets.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2788920"/>
            <a:ext cx="4169664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0DFF4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21208" y="2990088"/>
            <a:ext cx="457200" cy="457200"/>
          </a:xfrm>
          <a:prstGeom prst="ellipse">
            <a:avLst/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1208" y="29900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391D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97280" y="2971800"/>
            <a:ext cx="32095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10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 aggregated readout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97280" y="3300984"/>
            <a:ext cx="320954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When the group is done, VIFM can share an anonymised picture of where the team stands - plus optional next steps.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64024" y="2788920"/>
            <a:ext cx="4169664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0DFF4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965192" y="2990088"/>
            <a:ext cx="457200" cy="457200"/>
          </a:xfrm>
          <a:prstGeom prst="ellipse">
            <a:avLst/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65192" y="29900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391D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541264" y="2971800"/>
            <a:ext cx="32095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10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Zero admin overhead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541264" y="3300984"/>
            <a:ext cx="320954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 software, no licences to manage, no accounts to create for delegates.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20040" y="479145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VIFM AI Readiness Compass   |   KAFD Onboarding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8412480" y="4791456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365760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  PRIVACY &amp; CONFIDENTIALITY  ]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685800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Your answers stay yours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457200" cy="457200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600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97280" y="1581912"/>
            <a:ext cx="7589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Individual results are private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97280" y="1929384"/>
            <a:ext cx="7589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Your personal report is visible to you. It is not shared with managers as an individual scorecard.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" y="2560320"/>
            <a:ext cx="457200" cy="457200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560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✓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97280" y="2542032"/>
            <a:ext cx="7589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For development, not selection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97280" y="2889504"/>
            <a:ext cx="7589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This is a readiness baseline - not a hiring, promotion, or performance decision.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57200" y="3520440"/>
            <a:ext cx="457200" cy="457200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520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✓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97280" y="3502152"/>
            <a:ext cx="7589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GCC-tuned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97280" y="3849624"/>
            <a:ext cx="7589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Built for the region and aligned to UAE and Saudi expectations, bilingual throughout.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320040" y="479145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3A6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VIFM AI Readiness Compass   |   KAFD Onboarding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412480" y="4791456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1A3A6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6459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5391D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  WHAT HAPPENS NEXT  ]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20040" y="402336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From here to results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65760" y="1417320"/>
            <a:ext cx="2011680" cy="2377440"/>
          </a:xfrm>
          <a:prstGeom prst="roundRect">
            <a:avLst>
              <a:gd name="adj" fmla="val 4545"/>
            </a:avLst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6459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10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NOW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1984248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Codes issued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48640" y="274320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10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KAFD's 20 access codes are ready to send.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340864" y="2331720"/>
            <a:ext cx="2377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3A6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&gt;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2542032" y="1417320"/>
            <a:ext cx="2011680" cy="2377440"/>
          </a:xfrm>
          <a:prstGeom prst="roundRect">
            <a:avLst>
              <a:gd name="adj" fmla="val 4545"/>
            </a:avLst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24912" y="16459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391D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THIS WEEK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724912" y="1984248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Invitations sent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724912" y="274320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VIFM emails each delegate their one-click link.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17136" y="2331720"/>
            <a:ext cx="2377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3A6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&gt;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4718304" y="1417320"/>
            <a:ext cx="2011680" cy="2377440"/>
          </a:xfrm>
          <a:prstGeom prst="roundRect">
            <a:avLst>
              <a:gd name="adj" fmla="val 4545"/>
            </a:avLst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901184" y="16459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391D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~2 WEEKS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901184" y="1984248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Delegates complete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901184" y="274320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Each person takes ~10 minutes, whenever suits them.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693408" y="2331720"/>
            <a:ext cx="2377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3A6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&gt;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6894576" y="1417320"/>
            <a:ext cx="2011680" cy="2377440"/>
          </a:xfrm>
          <a:prstGeom prst="roundRect">
            <a:avLst>
              <a:gd name="adj" fmla="val 4545"/>
            </a:avLst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077456" y="16459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391D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AFTER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077456" y="1984248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Group readout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077456" y="274320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VIFM shares an anonymised picture + next steps.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65760" y="42062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1A3A6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Timeline is indicative and flexes to KAFD's schedule.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320040" y="479145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VIFM AI Readiness Compass   |   KAFD Onboarding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8412480" y="4791456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040880" y="3383280"/>
            <a:ext cx="2103120" cy="176022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83880" y="4343400"/>
            <a:ext cx="502920" cy="502920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685800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5391D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  WE ARE HERE TO HELP  ]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20040" y="105156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Welcome to your</a:t>
            </a:r>
            <a:endParaRPr lang="en-US" sz="3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AI Readiness Compass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338328" y="2697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Any questions before you begin? Reach the VIFM team: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" y="3291840"/>
            <a:ext cx="1188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391D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EMAIL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554480" y="3291840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courses@viftraining.com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65760" y="3749040"/>
            <a:ext cx="1188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391D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PHONE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554480" y="3749040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+9714 436 5820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65760" y="4206240"/>
            <a:ext cx="1188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391D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WEB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554480" y="4206240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caliber.viftraining.com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38328" y="47548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Virginia Institute of Finance and Management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Virginia Institute of Finance and Management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Readiness Compass - KAFD Onboarding</dc:title>
  <dc:subject>PptxGenJS Presentation</dc:subject>
  <dc:creator>VIFM</dc:creator>
  <cp:lastModifiedBy>VIFM</cp:lastModifiedBy>
  <cp:revision>1</cp:revision>
  <dcterms:created xsi:type="dcterms:W3CDTF">2026-06-13T18:40:14Z</dcterms:created>
  <dcterms:modified xsi:type="dcterms:W3CDTF">2026-06-13T18:40:14Z</dcterms:modified>
</cp:coreProperties>
</file>