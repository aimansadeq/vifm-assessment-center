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210312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92608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658368"/>
            <a:ext cx="274320" cy="274320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·  CALIBER  ·  SOVEREIGN EDITION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sovereign talent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platform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Hosted in your country.  Run under your brand.  Powered by VIFM.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310896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Licensing proposal  ·  Prepared for your organisation  ·  Confidential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national capability,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a vendor subscription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 the full talent value chain - hiring, assessment, AI readiness, development and certification - localised, Arabic-first, and under your control. A sovereign platform you operate, not a tool you rent.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0" y="411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0" y="822960"/>
            <a:ext cx="23317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822960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822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- English + Gulf Arabic, native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23317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783080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PDPL-ready data protection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2743200"/>
            <a:ext cx="23317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743200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 10667 + AC-guideline aligned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3703320"/>
            <a:ext cx="23317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703320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703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AI-native, human-in-the-loop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48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platform.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whole talent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lifecycle.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Caliber by VIFM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594360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5943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integrated 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94183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Behavioural, cognitive, technical, language, 360 and AI-readiness - in one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618488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6184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Diagnose to develop to certify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19659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Gaps become training plans; outcomes become verifiable credentials.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2642616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6426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AI-native, defensible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29900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assists; a human always decides. Adverse-impact and audit built 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3666744"/>
            <a:ext cx="64008" cy="82296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6667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Bilingual, GCC-built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1920" y="401421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 + Gulf Arabic, RTL, region-aware compliance throughout.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SUITE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92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Twelve services, one sovereign platform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12471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9966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28930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Competency assessment centre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9464" y="86868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15768" y="112471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36392" y="9966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Compass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36392" y="128930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 AI maturity, 8 pillars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86868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9472" y="112471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0096" y="9966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Reflect 360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0096" y="128930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Multi-rater leadership feedback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76872" y="86868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23176" y="112471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9966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128930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 / CEFR placement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182880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" y="208483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084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195681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Logica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224942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Cognitive ability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9464" y="182880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15768" y="208483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15768" y="2084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36392" y="195681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36392" y="224942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Behavioural self-report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182880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19472" y="208483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084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0096" y="195681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0096" y="224942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certification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76872" y="182880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23176" y="208483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23176" y="2084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43800" y="195681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43800" y="224942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Pre-employment screening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278892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12064" y="304495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2688" y="291693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32688" y="320954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delivery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569464" y="278892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715768" y="304495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15768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136392" y="291693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136392" y="320954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Verifiable, public verify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73168" y="278892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919472" y="304495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9472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40096" y="291693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Psychometrics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340096" y="320954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Cognitive + personality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76872" y="2788920"/>
            <a:ext cx="2084832" cy="841248"/>
          </a:xfrm>
          <a:prstGeom prst="roundRect">
            <a:avLst>
              <a:gd name="adj" fmla="val 8696"/>
            </a:avLst>
          </a:prstGeom>
          <a:solidFill>
            <a:srgbClr val="1A3A6B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123176" y="304495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23176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543800" y="291693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 Readiness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543800" y="320954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Bespoke ready / not-ready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 TO END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92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Acquire  ·  Assess  ·  Develop  ·  Certify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243584" y="1847088"/>
            <a:ext cx="617220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545336"/>
            <a:ext cx="658368" cy="65836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618488"/>
            <a:ext cx="512064" cy="512064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453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Acquire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screening + Fluent, defensible shortlists - the client always decides.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1545336"/>
            <a:ext cx="658368" cy="65836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1618488"/>
            <a:ext cx="512064" cy="512064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5453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233172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715768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Center, AI Readiness, Reflect 360, Logica, Persona, Techno.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545336"/>
            <a:ext cx="658368" cy="65836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2352" y="1618488"/>
            <a:ext cx="512064" cy="512064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453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233172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2715768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 learning plans + VIFM Academy turn gaps into targeted growth.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0" y="1545336"/>
            <a:ext cx="658368" cy="65836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9752" y="1618488"/>
            <a:ext cx="512064" cy="512064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5453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233172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2715768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Verifiable, publicly-checkable credentials for every certified outcome.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Sovereign by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859536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73152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508760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In-country hosting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1472184"/>
            <a:ext cx="36576" cy="43891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4173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dedicated instance in your jurisdiction - your data never leaves the Kingdom.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8595360" cy="731520"/>
          </a:xfrm>
          <a:prstGeom prst="rect">
            <a:avLst/>
          </a:prstGeom>
          <a:solidFill>
            <a:srgbClr val="16315C"/>
          </a:solidFill>
          <a:ln w="12700">
            <a:solidFill>
              <a:srgbClr val="1631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67128"/>
            <a:ext cx="73152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35000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2585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PDPL + NDMO aligned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2313432"/>
            <a:ext cx="36576" cy="43891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225856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KSA / UAE data-protection and national data-management rules.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008376"/>
            <a:ext cx="859536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08376"/>
            <a:ext cx="73152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191256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191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09981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keys, your access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03320" y="3154680"/>
            <a:ext cx="36576" cy="43891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30998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Tenant-controlled encryption, access policy and retention - VIFM cannot over-reach.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3849624"/>
            <a:ext cx="8595360" cy="731520"/>
          </a:xfrm>
          <a:prstGeom prst="rect">
            <a:avLst/>
          </a:prstGeom>
          <a:solidFill>
            <a:srgbClr val="16315C"/>
          </a:solidFill>
          <a:ln w="12700">
            <a:solidFill>
              <a:srgbClr val="1631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849624"/>
            <a:ext cx="73152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403250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9410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data ownership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703320" y="3995928"/>
            <a:ext cx="36576" cy="43891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94106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own all candidate data; VIFM owns only the platform and assessment IP.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0"/>
            <a:ext cx="5303520" cy="420624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960120"/>
            <a:ext cx="4297680" cy="320040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417320"/>
            <a:ext cx="3383280" cy="2286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WHITE-LABEL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brand,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 and centre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RUNS AS YOURS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08192" y="868680"/>
            <a:ext cx="54864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850392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logo, palette and product names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08192" y="1618488"/>
            <a:ext cx="54864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600200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own domain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08192" y="2368296"/>
            <a:ext cx="54864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350008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Arabic-first, fully bilingual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08192" y="3118104"/>
            <a:ext cx="54864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3099816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Branded reports and certificates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08192" y="3867912"/>
            <a:ext cx="54864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3849624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entity as the credential issuer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CLIENT-FACING ADMIN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You're in control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97480" cy="3291840"/>
          </a:xfrm>
          <a:prstGeom prst="roundRect">
            <a:avLst>
              <a:gd name="adj" fmla="val 2034"/>
            </a:avLst>
          </a:prstGeom>
          <a:solidFill>
            <a:srgbClr val="010131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2697480" cy="914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7612" y="1554480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7612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people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2862072"/>
            <a:ext cx="1600200" cy="274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301752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and remove your own admins and users, set roles, and reset access - no waiting on VIFM.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697480" cy="3291840"/>
          </a:xfrm>
          <a:prstGeom prst="roundRect">
            <a:avLst>
              <a:gd name="adj" fmla="val 2034"/>
            </a:avLst>
          </a:prstGeom>
          <a:solidFill>
            <a:srgbClr val="010131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34440"/>
            <a:ext cx="2697480" cy="914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7972" y="1554480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7972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services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0" y="2862072"/>
            <a:ext cx="1600200" cy="274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301752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 services on, allocate seats across teams, set expiry and configure each programme.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234440"/>
            <a:ext cx="2697480" cy="3291840"/>
          </a:xfrm>
          <a:prstGeom prst="roundRect">
            <a:avLst>
              <a:gd name="adj" fmla="val 2034"/>
            </a:avLst>
          </a:prstGeom>
          <a:solidFill>
            <a:srgbClr val="010131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234440"/>
            <a:ext cx="2697480" cy="914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8332" y="1554480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8332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 + audit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20840" y="2862072"/>
            <a:ext cx="1600200" cy="274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301752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full activity audit, retention controls and data exports - visibility over everything in your tenant.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RIGOUR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92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Defensible by design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25296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25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3990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assists and recommends; a person always makes the decision.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225296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25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Adverse-impact monitoring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13990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Four-fifths checks and fairness flags on screening.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85416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2368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Immutable audit trails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27157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Tamper-evident logs of every significant action.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185416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542032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2368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Standards-aligned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7157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 10667 and International AC Guidelines.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502152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858768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36850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+ fair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0325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Native Arabic, culturally appropriate, RTL throughout.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502152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3858768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0" y="36850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Verifiable credentials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40325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Publicly checkable, revocable, tamper-evident.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23467F"/>
          </a:solidFill>
          <a:ln w="12700">
            <a:solidFill>
              <a:srgbClr val="2346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09160" y="0"/>
            <a:ext cx="443484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25112" y="0"/>
            <a:ext cx="493776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2212848"/>
            <a:ext cx="731520" cy="731520"/>
          </a:xfrm>
          <a:prstGeom prst="ellipse">
            <a:avLst/>
          </a:prstGeom>
          <a:solidFill>
            <a:srgbClr val="010131"/>
          </a:solidFill>
          <a:ln w="1905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22128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443484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Shared cloud (standard)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0"/>
            <a:ext cx="4434840" cy="731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45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Sovereign (recommended for you)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219456" cy="219456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024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region hosting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219456" cy="219456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8653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Shared multi-tenant platform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219456" cy="219456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7066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Brand-light (logo + accent)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621024"/>
            <a:ext cx="219456" cy="219456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5478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support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219456" cy="21945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7899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6944" y="103327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instance in your country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0" y="1938528"/>
            <a:ext cx="219456" cy="21945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9202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6944" y="187452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data isolated and resident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37760" y="2779776"/>
            <a:ext cx="219456" cy="21945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6148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66944" y="2715768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white-label + your domain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37760" y="3621024"/>
            <a:ext cx="219456" cy="21945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60273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66944" y="3557016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Managed service + sovereign SLA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92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licence that scales with you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042416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42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9418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 licence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1024128"/>
            <a:ext cx="36576" cy="40233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941832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subscription for your dedicated sovereign instance and updates.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" y="1810512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17099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access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11880" y="1792224"/>
            <a:ext cx="36576" cy="40233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1709928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All-access, or only the services you need - switched on per programme.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432304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257860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4780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Metered usage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11880" y="2560320"/>
            <a:ext cx="36576" cy="40233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2478024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Per-seat or pre-paid credit packs; usage already metered in-platform.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334670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246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services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11880" y="3328416"/>
            <a:ext cx="36576" cy="40233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324612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Onboarding, content + framework setup, localisation and admin training.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3968496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0352" y="4114800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01421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+ SLA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11880" y="4096512"/>
            <a:ext cx="36576" cy="40233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4014216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Sovereign support tier with response and availability commitments.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92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pilot to national rollout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412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73152" cy="8412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97280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1024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12984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Managed pilot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34840" y="1078992"/>
            <a:ext cx="36576" cy="5120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00584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 up your programmes on the platform now and validate - weeks, not months.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47088"/>
            <a:ext cx="8412480" cy="841248"/>
          </a:xfrm>
          <a:prstGeom prst="rect">
            <a:avLst/>
          </a:prstGeom>
          <a:solidFill>
            <a:srgbClr val="16315C"/>
          </a:solidFill>
          <a:ln w="12700">
            <a:solidFill>
              <a:srgbClr val="1631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47088"/>
            <a:ext cx="73152" cy="8412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02996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1956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22311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Sovereign instance + your admin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2011680"/>
            <a:ext cx="36576" cy="5120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193852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in-country deployment, your tenant admin, branding and entitlements.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8412480" cy="8412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79776"/>
            <a:ext cx="73152" cy="8412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962656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62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0432" y="28895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70432" y="31638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white-label + SSO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434840" y="2944368"/>
            <a:ext cx="36576" cy="5120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287121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rebrand, single sign-on, and self-service user management.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712464"/>
            <a:ext cx="8412480" cy="841248"/>
          </a:xfrm>
          <a:prstGeom prst="rect">
            <a:avLst/>
          </a:prstGeom>
          <a:solidFill>
            <a:srgbClr val="16315C"/>
          </a:solidFill>
          <a:ln w="12700">
            <a:solidFill>
              <a:srgbClr val="1631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12464"/>
            <a:ext cx="73152" cy="8412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895344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953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70432" y="38221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70432" y="40965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+ integrate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434840" y="3877056"/>
            <a:ext cx="36576" cy="5120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0288" y="380390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HRIS integration, additional services, and national rollout.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PARTNER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108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VIFM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201168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21792" y="246888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services on one platform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51560"/>
            <a:ext cx="201168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770632" y="246888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competencies, 249 behavioural indicators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51560"/>
            <a:ext cx="201168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+ AR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19472" y="246888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native English and Gulf Arabic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201168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GCC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068312" y="246888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UAE / KSA, PDPL-aligned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AI-native  ·  ISO 10667 aligned  ·  human-in-the-loop  ·  verifiable credentials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21792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309360" y="0"/>
            <a:ext cx="822960" cy="5143500"/>
          </a:xfrm>
          <a:prstGeom prst="rtTriangl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Let's stand up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pilot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50292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971800"/>
            <a:ext cx="274320" cy="274320"/>
          </a:xfrm>
          <a:prstGeom prst="right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53512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 scope, services and data-residency requirements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274320" cy="274320"/>
          </a:xfrm>
          <a:prstGeom prst="right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10712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 up a managed pilot to validate fit - within weeks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274320" cy="274320"/>
          </a:xfrm>
          <a:prstGeom prst="right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867912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Finalise the sovereign licence and deployment plan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8828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CALIBER  ·  SOVEREIGN LICENSING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321040" y="48828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Caliber - Sovereign Licensing</dc:title>
  <dc:subject>PptxGenJS Presentation</dc:subject>
  <dc:creator>VIFM</dc:creator>
  <cp:lastModifiedBy>VIFM</cp:lastModifiedBy>
  <cp:revision>1</cp:revision>
  <dcterms:created xsi:type="dcterms:W3CDTF">2026-06-25T15:29:39Z</dcterms:created>
  <dcterms:modified xsi:type="dcterms:W3CDTF">2026-06-25T15:29:39Z</dcterms:modified>
</cp:coreProperties>
</file>