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0"/>
            <a:ext cx="2103120" cy="173736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52360" y="292608"/>
            <a:ext cx="502920" cy="50292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713232"/>
            <a:ext cx="292608" cy="292608"/>
          </a:xfrm>
          <a:prstGeom prst="ellipse">
            <a:avLst/>
          </a:prstGeom>
          <a:solidFill>
            <a:srgbClr val="A8C4E5"/>
          </a:solidFill>
          <a:ln w="12700">
            <a:solidFill>
              <a:srgbClr val="A8C4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9260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CLIENT ONBOARDING   |   AI READINESS COMPASS  ]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" y="1143000"/>
            <a:ext cx="82296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Readiness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Compass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38328" y="33832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access, and how it works - a step-by-step guide for your team.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" y="4069080"/>
            <a:ext cx="2125066" cy="365760"/>
          </a:xfrm>
          <a:prstGeom prst="roundRect">
            <a:avLst>
              <a:gd name="adj" fmla="val 50000"/>
            </a:avLst>
          </a:prstGeom>
          <a:solidFill>
            <a:srgbClr val="1A3A6B"/>
          </a:solidFill>
          <a:ln w="9525">
            <a:solidFill>
              <a:srgbClr val="5391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4069080"/>
            <a:ext cx="2125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code for each person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27986" y="4069080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A3A6B"/>
          </a:solidFill>
          <a:ln w="9525">
            <a:solidFill>
              <a:srgbClr val="5391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7986" y="4069080"/>
            <a:ext cx="119969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~10 minutes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92270" y="4069080"/>
            <a:ext cx="1704442" cy="365760"/>
          </a:xfrm>
          <a:prstGeom prst="roundRect">
            <a:avLst>
              <a:gd name="adj" fmla="val 50000"/>
            </a:avLst>
          </a:prstGeom>
          <a:solidFill>
            <a:srgbClr val="1A3A6B"/>
          </a:solidFill>
          <a:ln w="9525">
            <a:solidFill>
              <a:srgbClr val="5391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92270" y="4069080"/>
            <a:ext cx="170444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Bilingual EN / 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61304" y="4069080"/>
            <a:ext cx="1452067" cy="365760"/>
          </a:xfrm>
          <a:prstGeom prst="roundRect">
            <a:avLst>
              <a:gd name="adj" fmla="val 50000"/>
            </a:avLst>
          </a:prstGeom>
          <a:solidFill>
            <a:srgbClr val="1A3A6B"/>
          </a:solidFill>
          <a:ln w="9525">
            <a:solidFill>
              <a:srgbClr val="5391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1304" y="4069080"/>
            <a:ext cx="145206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Private to you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caliber.viftraining.com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66160" y="0"/>
            <a:ext cx="557784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7432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THE INSTRUMENT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the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Readiness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Compass?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20040" y="29718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short, confidential self-check that shows each person where they stand on working effectively with AI.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840480" y="594360"/>
            <a:ext cx="402336" cy="402336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5943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0" y="576072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Quick and self-served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389120" y="905256"/>
            <a:ext cx="4480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10 minutes, online, no account and nothing to install.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0480" y="1627632"/>
            <a:ext cx="402336" cy="402336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1627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1609344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Bilingual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389120" y="1938528"/>
            <a:ext cx="4480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it in English or Arabic - switch at any time.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0" y="2660904"/>
            <a:ext cx="402336" cy="402336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660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2642616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Private to you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389120" y="2971800"/>
            <a:ext cx="4480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results are yours. This is for development, not a pass / fail test.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3694176"/>
            <a:ext cx="402336" cy="402336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36941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89120" y="3675888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Practical, not theoretical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389120" y="4005072"/>
            <a:ext cx="4480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looks at how you actually work with AI day to day.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YOUR ACCESS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 receive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3108960" cy="3200400"/>
          </a:xfrm>
          <a:prstGeom prst="roundRect">
            <a:avLst>
              <a:gd name="adj" fmla="val 3529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4173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320040" y="2788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 per person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32918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 to you.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single-use.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703320" y="1234440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31920" y="136245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one-click invitation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931920" y="16733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delegate receives a personal email from VIFM with their code and a direct link - no code to type, no sign-up.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703320" y="2313432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244144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handles delivery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931920" y="275234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send the invitations and resend on request. your team does not need to manage codes.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03320" y="3392424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31920" y="352044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 on any device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3931920" y="383133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Phone, tablet, or laptop. Nothing to install.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THE PROCESS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journey at a glance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10896" y="1463040"/>
            <a:ext cx="1591056" cy="2468880"/>
          </a:xfrm>
          <a:prstGeom prst="roundRect">
            <a:avLst>
              <a:gd name="adj" fmla="val 5747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719072"/>
            <a:ext cx="603504" cy="603504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1907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" y="2450592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your invite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0624" y="2980944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personal email from VIFM with your link.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883664" y="2331720"/>
            <a:ext cx="15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20824" y="1463040"/>
            <a:ext cx="1591056" cy="2468880"/>
          </a:xfrm>
          <a:prstGeom prst="roundRect">
            <a:avLst>
              <a:gd name="adj" fmla="val 5747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1719072"/>
            <a:ext cx="603504" cy="603504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171907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112264" y="2450592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click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130552" y="2980944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link - your details are pre-filled.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93592" y="2331720"/>
            <a:ext cx="15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30752" y="1463040"/>
            <a:ext cx="1591056" cy="2468880"/>
          </a:xfrm>
          <a:prstGeom prst="roundRect">
            <a:avLst>
              <a:gd name="adj" fmla="val 5747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24528" y="1719072"/>
            <a:ext cx="603504" cy="603504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24528" y="171907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822192" y="2450592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Confirm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840480" y="2980944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your name and press Start.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03520" y="2331720"/>
            <a:ext cx="15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0680" y="1463040"/>
            <a:ext cx="1591056" cy="2468880"/>
          </a:xfrm>
          <a:prstGeom prst="roundRect">
            <a:avLst>
              <a:gd name="adj" fmla="val 5747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34456" y="1719072"/>
            <a:ext cx="603504" cy="603504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34456" y="171907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532120" y="2450592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it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550408" y="2980944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~24 short questions, about 10 minutes.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013448" y="2331720"/>
            <a:ext cx="15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150608" y="1463040"/>
            <a:ext cx="1591056" cy="2468880"/>
          </a:xfrm>
          <a:prstGeom prst="roundRect">
            <a:avLst>
              <a:gd name="adj" fmla="val 5747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644384" y="1719072"/>
            <a:ext cx="603504" cy="603504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44384" y="171907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242048" y="2450592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results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260336" y="2980944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screen instantly + emailed PDF.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10896" y="4297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step is self-served and takes one sitting. No training required.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STEP 1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invitation arrives by email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435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126187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From VIFM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email comes from the VIFM AI Readiness Compass.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121408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848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personal link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68680" y="241401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one-click button takes you straight in.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" y="29443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access code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255264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Included as a backup - you rarely need to type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80390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378561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spam once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8680" y="409651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it is not in your inbox, look in junk / spam.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0060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1234440"/>
            <a:ext cx="4023360" cy="566928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128930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150876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AI Readiness Compass access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0" y="1947672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Dear delegate,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have been invited to take the AI Readiness Compass - a short, confidential assessment.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0" y="30632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3063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Start your assessment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3749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Access code:  VIFM-ARC-XXXX-XXXX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STEP 2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click - we pre-fill the rest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435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126187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link opens the start page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caliber.viftraining.com/ara/redeem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121408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848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Code, email and company pre-filled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2414016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Carried in from your invitation - nothing to look up.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" y="294436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Just confirm your name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255264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Then press Start. That is the whole sign-in.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380390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378561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password, no account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09651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go straight into the assessment.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00600" y="12344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74920" y="1435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Readiness Compass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182880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Voucher code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74920" y="2048256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F5F7FA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204825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VIFM-ARC-7K3M-9QX2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1828800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pre-filled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74920" y="24688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74920" y="2688336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F5F7FA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84648" y="268833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you@yourcompany.com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2468880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pre-filled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74920" y="310896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Company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74920" y="3328416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F5F7FA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84648" y="332841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company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589520" y="3108960"/>
            <a:ext cx="960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pre-filled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74920" y="37490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name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74920" y="3968496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84648" y="3968496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 your name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STEP 3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the assessment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10896" y="1234440"/>
            <a:ext cx="2075688" cy="1691640"/>
          </a:xfrm>
          <a:prstGeom prst="roundRect">
            <a:avLst>
              <a:gd name="adj" fmla="val 540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0896" y="1399032"/>
            <a:ext cx="2075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~10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10896" y="2148840"/>
            <a:ext cx="2075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minutes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2336" y="2459736"/>
            <a:ext cx="1892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one sitting.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96312" y="1234440"/>
            <a:ext cx="2075688" cy="1691640"/>
          </a:xfrm>
          <a:prstGeom prst="roundRect">
            <a:avLst>
              <a:gd name="adj" fmla="val 540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96312" y="1399032"/>
            <a:ext cx="2075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~24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2496312" y="2148840"/>
            <a:ext cx="2075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short questions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87752" y="2459736"/>
            <a:ext cx="1892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Quick to answer.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1234440"/>
            <a:ext cx="2075688" cy="1691640"/>
          </a:xfrm>
          <a:prstGeom prst="roundRect">
            <a:avLst>
              <a:gd name="adj" fmla="val 540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81728" y="1399032"/>
            <a:ext cx="2075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681728" y="2148840"/>
            <a:ext cx="2075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languages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2459736"/>
            <a:ext cx="1892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English or Arabic.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67144" y="1234440"/>
            <a:ext cx="2075688" cy="1691640"/>
          </a:xfrm>
          <a:prstGeom prst="roundRect">
            <a:avLst>
              <a:gd name="adj" fmla="val 540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67144" y="1399032"/>
            <a:ext cx="2075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867144" y="2148840"/>
            <a:ext cx="20756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factors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58584" y="2459736"/>
            <a:ext cx="1892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See the next slide.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0896" y="3200400"/>
            <a:ext cx="8522208" cy="1143000"/>
          </a:xfrm>
          <a:prstGeom prst="roundRect">
            <a:avLst>
              <a:gd name="adj" fmla="val 8000"/>
            </a:avLst>
          </a:prstGeom>
          <a:solidFill>
            <a:srgbClr val="D0DFF4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101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a self-reflection, not a test.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3675888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There are no trick questions and no pass / fail. Answer honestly about how you work with AI today - that is what makes your results useful. Your answers are private to you.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0116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WHAT IT MEASURES  ]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45720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four factors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169664" cy="1600200"/>
          </a:xfrm>
          <a:prstGeom prst="roundRect">
            <a:avLst>
              <a:gd name="adj" fmla="val 5714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234440"/>
            <a:ext cx="3163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THINKING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88720" y="1472184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Sense-Check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3712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treat AI output as a draft to verify, not a finished answer - testing claims and catching confidently-wrong facts.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64024" y="1051560"/>
            <a:ext cx="4169664" cy="1600200"/>
          </a:xfrm>
          <a:prstGeom prst="roundRect">
            <a:avLst>
              <a:gd name="adj" fmla="val 5714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92624" y="1325880"/>
            <a:ext cx="457200" cy="45720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1234440"/>
            <a:ext cx="3163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4785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32704" y="1472184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Working Practice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92624" y="1920240"/>
            <a:ext cx="3712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build AI into how you already work - clear prompts, iterating, folding it into recurring tasks.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34640"/>
            <a:ext cx="4169664" cy="1600200"/>
          </a:xfrm>
          <a:prstGeom prst="roundRect">
            <a:avLst>
              <a:gd name="adj" fmla="val 5714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017520"/>
            <a:ext cx="3163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2410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88720" y="3255264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Collaboration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3703320"/>
            <a:ext cx="3712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help the team move with AI - explaining what it can and can't do, and pushing back on blind trust.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64024" y="2834640"/>
            <a:ext cx="4169664" cy="1600200"/>
          </a:xfrm>
          <a:prstGeom prst="roundRect">
            <a:avLst>
              <a:gd name="adj" fmla="val 5714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3108960"/>
            <a:ext cx="457200" cy="457200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32704" y="3017520"/>
            <a:ext cx="3163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D28D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SELF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32704" y="3255264"/>
            <a:ext cx="31638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Adaptive Mindset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92624" y="3703320"/>
            <a:ext cx="3712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stay open as AI changes the work - relearning, asking where models fail, keeping policy in view.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0040" y="45262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Mapped to VIFM's behavioural framework: Thinking, Results, People, Self.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STEP 4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results, instantly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10896" y="1234440"/>
            <a:ext cx="2779776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9496" y="1490472"/>
            <a:ext cx="548640" cy="54864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39496" y="2148840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screen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9496" y="2560320"/>
            <a:ext cx="23225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moment you finish, your results appear - your profile across the four factors, with what each means for you.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82112" y="1234440"/>
            <a:ext cx="2779776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10712" y="1490472"/>
            <a:ext cx="548640" cy="54864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10712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10712" y="2148840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By email, with PDF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10712" y="2560320"/>
            <a:ext cx="23225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email you a copy with the results PDF attached, so you can keep it and share it if you choose.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53328" y="1234440"/>
            <a:ext cx="2779776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81928" y="1490472"/>
            <a:ext cx="548640" cy="54864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4904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81928" y="2148840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page you can return 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81928" y="2560320"/>
            <a:ext cx="23225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results page is bookmarkable - come back to it any time from the link in your email.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10896" y="4297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waiting, no follow-up needed - the delegate has their result before they close the tab.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YOUR REPORT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your results tell you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D0DFF4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2646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4264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132588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profile across the four factors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51960" y="1325880"/>
            <a:ext cx="4434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you are strong with AI today, and where there is room to grow - factor by factor.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494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14884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Plain-language guidance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51960" y="2148840"/>
            <a:ext cx="4434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factor comes with a short read on what it means and practical pointers to develop 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880360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D0DFF4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07238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Development, not judgement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251960" y="2971800"/>
            <a:ext cx="4434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There is no score to pass. It is a personal baseline to build from.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703320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3895344"/>
            <a:ext cx="365760" cy="36576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895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379476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Private to you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251960" y="3794760"/>
            <a:ext cx="4434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individual report is yours. Your organisation and VIFM see completion and an anonymised group picture - not your answers.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FOR THE COORDINATOR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Running this for your team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416966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389888"/>
            <a:ext cx="457200" cy="457200"/>
          </a:xfrm>
          <a:prstGeom prst="ellipse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389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371600"/>
            <a:ext cx="3209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send the invitations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700784"/>
            <a:ext cx="32095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 your delegates' names and emails with VIFM, and we email each a personal one-click link. No code-handling for you.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64024" y="1188720"/>
            <a:ext cx="416966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65192" y="1389888"/>
            <a:ext cx="457200" cy="457200"/>
          </a:xfrm>
          <a:prstGeom prst="ellipse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389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41264" y="1371600"/>
            <a:ext cx="3209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Track completion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41264" y="1700784"/>
            <a:ext cx="32095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receive a simple view of who has started and who has finished, by company - no spreadsheets.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788920"/>
            <a:ext cx="416966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2990088"/>
            <a:ext cx="457200" cy="457200"/>
          </a:xfrm>
          <a:prstGeom prst="ellipse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2971800"/>
            <a:ext cx="3209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aggregated readout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300984"/>
            <a:ext cx="32095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When the group is done, VIFM can share an anonymised picture of where the team stands - plus optional next steps.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64024" y="2788920"/>
            <a:ext cx="4169664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0DFF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65192" y="2990088"/>
            <a:ext cx="457200" cy="457200"/>
          </a:xfrm>
          <a:prstGeom prst="ellipse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41264" y="2971800"/>
            <a:ext cx="3209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Zero admin overhead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41264" y="3300984"/>
            <a:ext cx="32095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software, no licences to manage, no accounts to create for delegates.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3657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PRIVACY &amp; CONFIDENTIALITY  ]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answers stay yours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57200" cy="45720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581912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Individual results are private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929384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personal report is visible to you. It is not shared with managers as an individual scorecard.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development, not selection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889504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is a readiness baseline - not a hiring, promotion, or performance decision.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457200" cy="45720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GCC-tuned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3849624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for the region and aligned to UAE and Saudi expectations, bilingual throughout.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WHAT HAPPENS NEXT  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402336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From here to results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645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Codes issued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101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access codes are ready to send.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40864" y="23317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42032" y="14173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24912" y="1645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24912" y="198424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Invitations sent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24912" y="274320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emails each delegate their one-click link.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17136" y="23317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718304" y="14173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01184" y="1645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~2 WEEKS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01184" y="198424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Delegates complete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01184" y="274320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person takes ~10 minutes, whenever suits them.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93408" y="2331720"/>
            <a:ext cx="2377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894576" y="14173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77456" y="1645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77456" y="198424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 readout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77456" y="274320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shares an anonymised picture + next steps.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3A6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Timeline is indicative and flexes to your schedule.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0040" y="479145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VIFM AI Readiness Compass   |   Client Onboarding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12480" y="47914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0131"/>
          </a:solidFill>
          <a:ln w="12700">
            <a:solidFill>
              <a:srgbClr val="0101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3383280"/>
            <a:ext cx="2103120" cy="1760220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4343400"/>
            <a:ext cx="502920" cy="502920"/>
          </a:xfrm>
          <a:prstGeom prst="ellipse">
            <a:avLst/>
          </a:prstGeom>
          <a:solidFill>
            <a:srgbClr val="5391D5"/>
          </a:solidFill>
          <a:ln w="12700">
            <a:solidFill>
              <a:srgbClr val="5391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8580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 WE ARE HERE TO HELP  ]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0040" y="1051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Welcome to your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Readiness Compass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8328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Any questions before you begin? Reach the VIFM team: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54480" y="32918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courses@viftraining.com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374904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54480" y="37490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+9714 436 5820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391D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54480" y="42062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caliber.viftraining.com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8328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C4E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Virginia Institute of Finance and Management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Virginia Institute of Finance and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Readiness Compass - Client Onboarding</dc:title>
  <dc:subject>PptxGenJS Presentation</dc:subject>
  <dc:creator>VIFM</dc:creator>
  <cp:lastModifiedBy>VIFM</cp:lastModifiedBy>
  <cp:revision>1</cp:revision>
  <dcterms:created xsi:type="dcterms:W3CDTF">2026-06-13T18:57:01Z</dcterms:created>
  <dcterms:modified xsi:type="dcterms:W3CDTF">2026-06-13T18:57:01Z</dcterms:modified>
</cp:coreProperties>
</file>